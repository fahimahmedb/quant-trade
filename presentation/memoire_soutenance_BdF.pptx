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1E60"/>
                </a:solidFill>
                <a:latin typeface="Calibri"/>
              </a:defRPr>
            </a:pPr>
            <a:r>
              <a:rPr sz="1250" b="0" i="0" u="none" strike="noStrike">
                <a:solidFill>
                  <a:srgbClr val="001E60"/>
                </a:solidFill>
                <a:latin typeface="Calibri"/>
              </a:rPr>
              <a:t>Rendement moyen de l'Eurostoxx 50 autour des annonces BCE (%)</a:t>
            </a:r>
          </a:p>
        </c:rich>
      </c:tx>
      <c:layout/>
      <c:overlay val="0"/>
    </c:title>
    <c:autoTitleDeleted val="0"/>
    <c:plotArea>
      <c:layout/>
      <c:barChart>
        <c:barDir val="col"/>
        <c:grouping val="clustered"/>
        <c:varyColors val="0"/>
        <c:ser>
          <c:idx val="0"/>
          <c:order val="0"/>
          <c:tx>
            <c:strRef>
              <c:f>Sheet1!$B$1</c:f>
              <c:strCache>
                <c:ptCount val="1"/>
                <c:pt idx="0">
                  <c:v>Fenêtre [-1;+1]</c:v>
                </c:pt>
              </c:strCache>
            </c:strRef>
          </c:tx>
          <c:spPr>
            <a:solidFill>
              <a:srgbClr val="003DA5"/>
            </a:solidFill>
            <a:effectLst/>
          </c:spPr>
          <c:invertIfNegative val="0"/>
          <c:dLbls>
            <c:numFmt formatCode="0.00" sourceLinked="0"/>
            <c:txPr>
              <a:bodyPr/>
              <a:lstStyle/>
              <a:p>
                <a:pPr>
                  <a:defRPr b="0" i="0" strike="noStrike" sz="850" u="none">
                    <a:solidFill>
                      <a:srgbClr val="1C24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Régime 1
QE &amp; taux négatifs</c:v>
                  </c:pt>
                  <c:pt idx="1">
                    <c:v>Régime 2
Resserrement</c:v>
                  </c:pt>
                  <c:pt idx="2">
                    <c:v>Régime 3
Pivot</c:v>
                  </c:pt>
                </c:lvl>
              </c:multiLvlStrCache>
            </c:multiLvlStrRef>
          </c:cat>
          <c:val>
            <c:numRef>
              <c:f>Sheet1!$B$2:$B$4</c:f>
              <c:numCache>
                <c:formatCode>General</c:formatCode>
                <c:ptCount val="3"/>
                <c:pt idx="0">
                  <c:v>0.94</c:v>
                </c:pt>
                <c:pt idx="1">
                  <c:v>0.04</c:v>
                </c:pt>
                <c:pt idx="2">
                  <c:v>1.1</c:v>
                </c:pt>
              </c:numCache>
            </c:numRef>
          </c:val>
        </c:ser>
        <c:ser>
          <c:idx val="1"/>
          <c:order val="1"/>
          <c:tx>
            <c:strRef>
              <c:f>Sheet1!$C$1</c:f>
              <c:strCache>
                <c:ptCount val="1"/>
                <c:pt idx="0">
                  <c:v>Fenêtre [-1;+5]</c:v>
                </c:pt>
              </c:strCache>
            </c:strRef>
          </c:tx>
          <c:spPr>
            <a:solidFill>
              <a:srgbClr val="009FDF"/>
            </a:solidFill>
            <a:effectLst/>
          </c:spPr>
          <c:invertIfNegative val="0"/>
          <c:dLbls>
            <c:numFmt formatCode="0.00" sourceLinked="0"/>
            <c:txPr>
              <a:bodyPr/>
              <a:lstStyle/>
              <a:p>
                <a:pPr>
                  <a:defRPr b="0" i="0" strike="noStrike" sz="850" u="none">
                    <a:solidFill>
                      <a:srgbClr val="1C24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Régime 1
QE &amp; taux négatifs</c:v>
                  </c:pt>
                  <c:pt idx="1">
                    <c:v>Régime 2
Resserrement</c:v>
                  </c:pt>
                  <c:pt idx="2">
                    <c:v>Régime 3
Pivot</c:v>
                  </c:pt>
                </c:lvl>
              </c:multiLvlStrCache>
            </c:multiLvlStrRef>
          </c:cat>
          <c:val>
            <c:numRef>
              <c:f>Sheet1!$C$2:$C$4</c:f>
              <c:numCache>
                <c:formatCode>General</c:formatCode>
                <c:ptCount val="3"/>
                <c:pt idx="0">
                  <c:v>0.37</c:v>
                </c:pt>
                <c:pt idx="1">
                  <c:v>0.06</c:v>
                </c:pt>
                <c:pt idx="2">
                  <c:v>0.67</c:v>
                </c:pt>
              </c:numCache>
            </c:numRef>
          </c:val>
        </c:ser>
        <c:ser>
          <c:idx val="2"/>
          <c:order val="2"/>
          <c:tx>
            <c:strRef>
              <c:f>Sheet1!$D$1</c:f>
              <c:strCache>
                <c:ptCount val="1"/>
                <c:pt idx="0">
                  <c:v>Fenêtre [-1;+20]</c:v>
                </c:pt>
              </c:strCache>
            </c:strRef>
          </c:tx>
          <c:spPr>
            <a:solidFill>
              <a:srgbClr val="FF8200"/>
            </a:solidFill>
            <a:effectLst/>
          </c:spPr>
          <c:invertIfNegative val="0"/>
          <c:dLbls>
            <c:numFmt formatCode="0.00" sourceLinked="0"/>
            <c:txPr>
              <a:bodyPr/>
              <a:lstStyle/>
              <a:p>
                <a:pPr>
                  <a:defRPr b="0" i="0" strike="noStrike" sz="850" u="none">
                    <a:solidFill>
                      <a:srgbClr val="1C24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Régime 1
QE &amp; taux négatifs</c:v>
                  </c:pt>
                  <c:pt idx="1">
                    <c:v>Régime 2
Resserrement</c:v>
                  </c:pt>
                  <c:pt idx="2">
                    <c:v>Régime 3
Pivot</c:v>
                  </c:pt>
                </c:lvl>
              </c:multiLvlStrCache>
            </c:multiLvlStrRef>
          </c:cat>
          <c:val>
            <c:numRef>
              <c:f>Sheet1!$D$2:$D$4</c:f>
              <c:numCache>
                <c:formatCode>General</c:formatCode>
                <c:ptCount val="3"/>
                <c:pt idx="0">
                  <c:v>-0.59</c:v>
                </c:pt>
                <c:pt idx="1">
                  <c:v>1.16</c:v>
                </c:pt>
                <c:pt idx="2">
                  <c:v>-0.45</c:v>
                </c:pt>
              </c:numCache>
            </c:numRef>
          </c:val>
        </c:ser>
        <c:dLbls>
          <c:numFmt formatCode="0.00" sourceLinked="0"/>
          <c:txPr>
            <a:bodyPr/>
            <a:lstStyle/>
            <a:p>
              <a:pPr>
                <a:defRPr b="0" i="0" strike="noStrike" sz="850" u="none">
                  <a:solidFill>
                    <a:srgbClr val="1C2430"/>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C243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B768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C24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1E60"/>
                </a:solidFill>
                <a:latin typeface="Calibri"/>
              </a:defRPr>
            </a:pPr>
            <a:r>
              <a:rPr sz="1250" b="0" i="0" u="none" strike="noStrike">
                <a:solidFill>
                  <a:srgbClr val="001E60"/>
                </a:solidFill>
                <a:latin typeface="Calibri"/>
              </a:rPr>
              <a:t>Décomposition SHAP de l'importance des canaux par variable (%)</a:t>
            </a:r>
          </a:p>
        </c:rich>
      </c:tx>
      <c:layout/>
      <c:overlay val="0"/>
    </c:title>
    <c:autoTitleDeleted val="0"/>
    <c:plotArea>
      <c:layout/>
      <c:barChart>
        <c:barDir val="col"/>
        <c:grouping val="stacked"/>
        <c:varyColors val="0"/>
        <c:ser>
          <c:idx val="0"/>
          <c:order val="0"/>
          <c:tx>
            <c:strRef>
              <c:f>Sheet1!$B$1</c:f>
              <c:strCache>
                <c:ptCount val="1"/>
                <c:pt idx="0">
                  <c:v>Volatilité globale</c:v>
                </c:pt>
              </c:strCache>
            </c:strRef>
          </c:tx>
          <c:spPr>
            <a:solidFill>
              <a:srgbClr val="FF8200"/>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Sheet1!$B$2:$B$6</c:f>
              <c:numCache>
                <c:formatCode>General</c:formatCode>
                <c:ptCount val="5"/>
                <c:pt idx="0">
                  <c:v>31.8</c:v>
                </c:pt>
                <c:pt idx="1">
                  <c:v>23.4</c:v>
                </c:pt>
                <c:pt idx="2">
                  <c:v>23.9</c:v>
                </c:pt>
                <c:pt idx="3">
                  <c:v>30</c:v>
                </c:pt>
                <c:pt idx="4">
                  <c:v>45.5</c:v>
                </c:pt>
              </c:numCache>
            </c:numRef>
          </c:val>
        </c:ser>
        <c:ser>
          <c:idx val="1"/>
          <c:order val="1"/>
          <c:tx>
            <c:strRef>
              <c:f>Sheet1!$C$1</c:f>
              <c:strCache>
                <c:ptCount val="1"/>
                <c:pt idx="0">
                  <c:v>Fragmentation souveraine</c:v>
                </c:pt>
              </c:strCache>
            </c:strRef>
          </c:tx>
          <c:spPr>
            <a:solidFill>
              <a:srgbClr val="A6192E"/>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Sheet1!$C$2:$C$6</c:f>
              <c:numCache>
                <c:formatCode>General</c:formatCode>
                <c:ptCount val="5"/>
                <c:pt idx="0">
                  <c:v>23.1</c:v>
                </c:pt>
                <c:pt idx="1">
                  <c:v>24.7</c:v>
                </c:pt>
                <c:pt idx="2">
                  <c:v>27</c:v>
                </c:pt>
                <c:pt idx="3">
                  <c:v>19.9</c:v>
                </c:pt>
                <c:pt idx="4">
                  <c:v>22.5</c:v>
                </c:pt>
              </c:numCache>
            </c:numRef>
          </c:val>
        </c:ser>
        <c:ser>
          <c:idx val="2"/>
          <c:order val="2"/>
          <c:tx>
            <c:strRef>
              <c:f>Sheet1!$D$1</c:f>
              <c:strCache>
                <c:ptCount val="1"/>
                <c:pt idx="0">
                  <c:v>Mémoire rendements souverains</c:v>
                </c:pt>
              </c:strCache>
            </c:strRef>
          </c:tx>
          <c:spPr>
            <a:solidFill>
              <a:srgbClr val="003DA5"/>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Sheet1!$D$2:$D$6</c:f>
              <c:numCache>
                <c:formatCode>General</c:formatCode>
                <c:ptCount val="5"/>
                <c:pt idx="0">
                  <c:v>16.9</c:v>
                </c:pt>
                <c:pt idx="1">
                  <c:v>29.3</c:v>
                </c:pt>
                <c:pt idx="2">
                  <c:v>23</c:v>
                </c:pt>
                <c:pt idx="3">
                  <c:v>24.5</c:v>
                </c:pt>
                <c:pt idx="4">
                  <c:v>12.7</c:v>
                </c:pt>
              </c:numCache>
            </c:numRef>
          </c:val>
        </c:ser>
        <c:ser>
          <c:idx val="3"/>
          <c:order val="3"/>
          <c:tx>
            <c:strRef>
              <c:f>Sheet1!$E$1</c:f>
              <c:strCache>
                <c:ptCount val="1"/>
                <c:pt idx="0">
                  <c:v>Mémoire rendements actions</c:v>
                </c:pt>
              </c:strCache>
            </c:strRef>
          </c:tx>
          <c:spPr>
            <a:solidFill>
              <a:srgbClr val="009FDF"/>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Sheet1!$E$2:$E$6</c:f>
              <c:numCache>
                <c:formatCode>General</c:formatCode>
                <c:ptCount val="5"/>
                <c:pt idx="0">
                  <c:v>15.4</c:v>
                </c:pt>
                <c:pt idx="1">
                  <c:v>13.4</c:v>
                </c:pt>
                <c:pt idx="2">
                  <c:v>10.3</c:v>
                </c:pt>
                <c:pt idx="3">
                  <c:v>16.2</c:v>
                </c:pt>
                <c:pt idx="4">
                  <c:v>13.7</c:v>
                </c:pt>
              </c:numCache>
            </c:numRef>
          </c:val>
        </c:ser>
        <c:ser>
          <c:idx val="4"/>
          <c:order val="4"/>
          <c:tx>
            <c:strRef>
              <c:f>Sheet1!$F$1</c:f>
              <c:strCache>
                <c:ptCount val="1"/>
                <c:pt idx="0">
                  <c:v>Achats d'actifs (APP/PEPP)</c:v>
                </c:pt>
              </c:strCache>
            </c:strRef>
          </c:tx>
          <c:spPr>
            <a:solidFill>
              <a:srgbClr val="00B398"/>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Sheet1!$F$2:$F$6</c:f>
              <c:numCache>
                <c:formatCode>General</c:formatCode>
                <c:ptCount val="5"/>
                <c:pt idx="0">
                  <c:v>6.6</c:v>
                </c:pt>
                <c:pt idx="1">
                  <c:v>3.6</c:v>
                </c:pt>
                <c:pt idx="2">
                  <c:v>7.9</c:v>
                </c:pt>
                <c:pt idx="3">
                  <c:v>4</c:v>
                </c:pt>
                <c:pt idx="4">
                  <c:v>2.7</c:v>
                </c:pt>
              </c:numCache>
            </c:numRef>
          </c:val>
        </c:ser>
        <c:ser>
          <c:idx val="5"/>
          <c:order val="5"/>
          <c:tx>
            <c:strRef>
              <c:f>Sheet1!$G$1</c:f>
              <c:strCache>
                <c:ptCount val="1"/>
                <c:pt idx="0">
                  <c:v>Autres canaux</c:v>
                </c:pt>
              </c:strCache>
            </c:strRef>
          </c:tx>
          <c:spPr>
            <a:solidFill>
              <a:srgbClr val="C9CFDA"/>
            </a:solidFill>
            <a:effectLst/>
          </c:spPr>
          <c:invertIfNegative val="0"/>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Bund 10 ans</c:v>
                  </c:pt>
                  <c:pt idx="1">
                    <c:v>OAT 10 ans</c:v>
                  </c:pt>
                  <c:pt idx="2">
                    <c:v>Spread
BTP-Bund</c:v>
                  </c:pt>
                  <c:pt idx="3">
                    <c:v>Eurostoxx 50</c:v>
                  </c:pt>
                  <c:pt idx="4">
                    <c:v>VSTOXX</c:v>
                  </c:pt>
                </c:lvl>
              </c:multiLvlStrCache>
            </c:multiLvlStrRef>
          </c:cat>
          <c:val>
            <c:numRef>
              <c:f>Sheet1!$G$2:$G$6</c:f>
              <c:numCache>
                <c:formatCode>General</c:formatCode>
                <c:ptCount val="5"/>
                <c:pt idx="0">
                  <c:v>6.2</c:v>
                </c:pt>
                <c:pt idx="1">
                  <c:v>5.6</c:v>
                </c:pt>
                <c:pt idx="2">
                  <c:v>7.9</c:v>
                </c:pt>
                <c:pt idx="3">
                  <c:v>5.4</c:v>
                </c:pt>
                <c:pt idx="4">
                  <c:v>2.9</c:v>
                </c:pt>
              </c:numCache>
            </c:numRef>
          </c:val>
        </c:ser>
        <c:dLbls>
          <c:numFmt formatCode="#,##0" sourceLinked="0"/>
          <c:txPr>
            <a:bodyPr/>
            <a:lstStyle/>
            <a:p>
              <a:pPr>
                <a:defRPr b="0" i="0" strike="noStrike" sz="800" u="none">
                  <a:solidFill>
                    <a:srgbClr val="FFFFFF"/>
                  </a:solidFill>
                  <a:latin typeface="Calibri"/>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C243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50">
              <a:solidFill>
                <a:srgbClr val="1C24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mon mémoire de fin d'études consacré à la transmission de la politique monétaire de la BCE aux marchés obligataire et actions de la zone euro sur la période 2015-2024. [~20-30s]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en quatre temps : le contexte et les hypothèses, la méthodologie, les résultats, puis les contributions et limites.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moins de dix ans, la BCE a traversé trois régimes monétaires radicalement différents : sept ans d'assouplissement quantitatif et de taux négatifs, un resserrement de 450 points de base en seize mois — l'un des plus rapides de son histoire — puis un pivot progressif. Cette succession de régimes constitue un terrain empirique rare pour étudier la transmission de la politique monétaire. [~1min15]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porte sur l'ampleur et la variabilité de la transmission monétaire selon le régime en vigueur. L'originalité tient à trois choix : combiner étude d'événement et machine learning, traiter le régime comme variable de modération plutôt que comme chronologie imposée, et mobiliser les valeurs SHAP pour interpréter les contributions des instruments de la BCE. [~1min15]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hypothèses structurent le mémoire. H1 à H3 sont des hypothèses de fond sur la transmission monétaire elle-même. H4 et H5 sont des hypothèses méthodologiques sur l'apport du machine learning et sur la stabilité des canaux selon le régime.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cadre conceptuel repose sur quatre canaux : le taux d'intérêt, le prix des actifs, la prise de risque, et le crédit bancaire — ce dernier n'étant pas testé directement faute de données de bilan bancaire à fréquence quotidienne. Ces quatre canaux serviront de grille de lecture pour interpréter les résultats du chapitre 4. [~1min10]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démarche repose sur une triangulation méthodologique : l'étude d'événement mesure la réaction moyenne autour des dates de décision ; le gradient boosting capture la structure de dépendance sur l'ensemble de la période, y compris les jours sans annonce ; les modèles VAR et GARCH servent de repère économétrique classique. Ces méthodes répondent à des questions distinctes et se complètent plutôt qu'elles ne se valident mutuellement. [~1min10]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variables dépendantes ont été retenues plutôt qu'un indice composite, afin de ne pas masquer les différences de canaux entre marché obligataire et marché actions — ce choix est directement lié à l'hypothèse H3. Les variables explicatives couvrent l'ensemble des canaux théoriques présentés précédemment.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chacune des 16 réunions retenues, trois fenêtres sont mesurées afin de distinguer un effet d'annonce pur d'un effet de diffusion plus progressif, notamment pour les achats d'actifs. Les résultats sont ensuite agrégés par régime et par sens de la décision.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entrer dans le détail technique : le gradient boosting est un algorithme puissant pour capter des relations complexes, mais il fonctionne comme une boîte noire. Les valeurs SHAP permettent de l'ouvrir, en attribuant à chaque variable explicative sa part de contribution à chaque prédiction — c'est cet outil qui permet de hiérarchiser les canaux de transmission. [~1min10]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H1 est validée : sur les trois régimes et les trois fenêtres, les marchés réagissent de façon systématique aux annonces de la BCE. Le résultat le plus instructif est l'atténuation de la réaction en régime 2 : quand la décision est anticipée, l'annonce elle-même ne surprend plus les marchés.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H2 est validée : sur les trois variables présentées, l'écart entre décisions restrictives et accommodantes est net, et particulièrement marqué sur le VSTOXX, ce qui confirme que le canal de la prime de risque est le vecteur privilégié de cette asymétrie.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H3 est validée : les canaux dominants diffèrent nettement entre les deux marchés. L'obligataire est structuré par la fragmentation souveraine et la mémoire des taux ; les actions sont dominées par la volatilité globale, signature du canal de la prise de risque. Le taux directeur affiche une contribution directe très faible — mais il transite très largement par ces variables de fragmentation et de mémoire, il ne disparaît pas, il se déplace. [~1min45]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VSTOXX, le gradient boosting obtient un MSE de 2,37, nettement meilleur que la fourchette typique de 3,0 à 3,5 des modèles GARCH — un argument empirique solide en faveur de H4. Sur les rendements, la comparaison aux modèles VAR est indicative plutôt que strictement contrôlée. La conclusion est nuancée : oui, le gradient boosting apporte de la valeur, mais pas uniformément sur les cinq variables.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 est partiellement validée : le modèle joint suggère une stabilité de la hiérarchie des canaux, mais l'étude d'événement segmentée révèle des niveaux d'activation très différents selon le régime. La lecture la plus rigoureuse distingue la structure — stable — de l'intensité — variable. C'est l'un des apports analytiques les plus fins du mémoire.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total, les cinq hypothèses sont confirmées, mais avec des degrés de nuance différents — c'est cette gradation qui fait la richesse scientifique du travail plutôt qu'une validation binaire.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académique, le mémoire documente une hiérarchie précise et régime-sensible des canaux de transmission. Sur le plan opérationnel, il offre des repères concrets de calibration pour les gérants d'actifs et les acteurs du risque de marché.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limites sont assumées explicitement et ouvrent des perspectives de recherche claires, notamment sur l'endogénéisation des régimes et sur une mesure plus fine de la surprise monétaire. [~1min15]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mémoire montre que la transmission de la politique monétaire de la BCE aux marchés obligataire et actions de la zone euro est différenciée selon le marché, asymétrique selon le sens de la décision, et sensible au régime en vigueur dans son intensité plus que dans sa structure. Je vous remercie de votre attention. [~1min]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 [~15s]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7863840" y="-2194560"/>
            <a:ext cx="6400800" cy="6400800"/>
          </a:xfrm>
          <a:prstGeom prst="ellipse">
            <a:avLst/>
          </a:prstGeom>
          <a:solidFill>
            <a:srgbClr val="0A2B70"/>
          </a:solidFill>
          <a:ln/>
        </p:spPr>
      </p:sp>
      <p:sp>
        <p:nvSpPr>
          <p:cNvPr id="3" name="Shape 1"/>
          <p:cNvSpPr/>
          <p:nvPr/>
        </p:nvSpPr>
        <p:spPr>
          <a:xfrm>
            <a:off x="-2377440" y="4206240"/>
            <a:ext cx="5120640" cy="5120640"/>
          </a:xfrm>
          <a:prstGeom prst="ellipse">
            <a:avLst/>
          </a:prstGeom>
          <a:solidFill>
            <a:srgbClr val="0A2B70"/>
          </a:solidFill>
          <a:ln/>
        </p:spPr>
      </p:sp>
      <p:sp>
        <p:nvSpPr>
          <p:cNvPr id="4" name="Shape 2"/>
          <p:cNvSpPr/>
          <p:nvPr/>
        </p:nvSpPr>
        <p:spPr>
          <a:xfrm>
            <a:off x="502920" y="502920"/>
            <a:ext cx="566928" cy="566928"/>
          </a:xfrm>
          <a:prstGeom prst="ellipse">
            <a:avLst/>
          </a:prstGeom>
          <a:solidFill>
            <a:srgbClr val="FFFFFF"/>
          </a:solidFill>
          <a:ln/>
        </p:spPr>
      </p:sp>
      <p:pic>
        <p:nvPicPr>
          <p:cNvPr id="5" name="Image 0" descr="/tmp/claude-0/-home-user-Quant-Trade/38df2136-4dac-5b45-a6c7-4baf7be7dbaa/scratchpad/deck/icons/landmark_blue.png">    </p:cNvPr>
          <p:cNvPicPr>
            <a:picLocks noChangeAspect="1"/>
          </p:cNvPicPr>
          <p:nvPr/>
        </p:nvPicPr>
        <p:blipFill>
          <a:blip r:embed="rId1"/>
          <a:stretch>
            <a:fillRect/>
          </a:stretch>
        </p:blipFill>
        <p:spPr>
          <a:xfrm>
            <a:off x="576621" y="576621"/>
            <a:ext cx="419527" cy="419527"/>
          </a:xfrm>
          <a:prstGeom prst="rect">
            <a:avLst/>
          </a:prstGeom>
        </p:spPr>
      </p:pic>
      <p:sp>
        <p:nvSpPr>
          <p:cNvPr id="6" name="Text 3"/>
          <p:cNvSpPr/>
          <p:nvPr/>
        </p:nvSpPr>
        <p:spPr>
          <a:xfrm>
            <a:off x="1234440" y="502920"/>
            <a:ext cx="8686800" cy="566928"/>
          </a:xfrm>
          <a:prstGeom prst="rect">
            <a:avLst/>
          </a:prstGeom>
          <a:noFill/>
          <a:ln/>
        </p:spPr>
        <p:txBody>
          <a:bodyPr wrap="square" lIns="0" tIns="0" rIns="0" bIns="0" rtlCol="0" anchor="ctr"/>
          <a:lstStyle/>
          <a:p>
            <a:pPr indent="0" marL="0">
              <a:buNone/>
            </a:pPr>
            <a:r>
              <a:rPr lang="en-US" sz="1250" b="1" spc="100" kern="0" dirty="0">
                <a:solidFill>
                  <a:srgbClr val="009FDF"/>
                </a:solidFill>
                <a:latin typeface="Calibri" pitchFamily="34" charset="0"/>
                <a:ea typeface="Calibri" pitchFamily="34" charset="-122"/>
                <a:cs typeface="Calibri" pitchFamily="34" charset="-120"/>
              </a:rPr>
              <a:t>BANQUE CENTRALE EUROPÉENNE  •  MARCHÉS OBLIGATAIRE &amp; ACTIONS</a:t>
            </a:r>
            <a:endParaRPr lang="en-US" sz="1250" dirty="0"/>
          </a:p>
        </p:txBody>
      </p:sp>
      <p:sp>
        <p:nvSpPr>
          <p:cNvPr id="7" name="Text 4"/>
          <p:cNvSpPr/>
          <p:nvPr/>
        </p:nvSpPr>
        <p:spPr>
          <a:xfrm>
            <a:off x="502920" y="1600200"/>
            <a:ext cx="10607040" cy="214884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libri" pitchFamily="34" charset="0"/>
                <a:ea typeface="Calibri" pitchFamily="34" charset="-122"/>
                <a:cs typeface="Calibri" pitchFamily="34" charset="-120"/>
              </a:rPr>
              <a:t>La politique monétaire de la Banque centrale européenne et sa transmission aux marchés obligataire et actions de la zone euro (2015–2024)</a:t>
            </a:r>
            <a:endParaRPr lang="en-US" sz="3200" dirty="0"/>
          </a:p>
        </p:txBody>
      </p:sp>
      <p:sp>
        <p:nvSpPr>
          <p:cNvPr id="8" name="Text 5"/>
          <p:cNvSpPr/>
          <p:nvPr/>
        </p:nvSpPr>
        <p:spPr>
          <a:xfrm>
            <a:off x="502920" y="3794760"/>
            <a:ext cx="10241280" cy="640080"/>
          </a:xfrm>
          <a:prstGeom prst="rect">
            <a:avLst/>
          </a:prstGeom>
          <a:noFill/>
          <a:ln/>
        </p:spPr>
        <p:txBody>
          <a:bodyPr wrap="square" lIns="0" tIns="0" rIns="0" bIns="0" rtlCol="0" anchor="t"/>
          <a:lstStyle/>
          <a:p>
            <a:pPr indent="0" marL="0">
              <a:buNone/>
            </a:pPr>
            <a:r>
              <a:rPr lang="en-US" sz="1600" i="1" dirty="0">
                <a:solidFill>
                  <a:srgbClr val="C7D6F5"/>
                </a:solidFill>
                <a:latin typeface="Calibri" pitchFamily="34" charset="0"/>
                <a:ea typeface="Calibri" pitchFamily="34" charset="-122"/>
                <a:cs typeface="Calibri" pitchFamily="34" charset="-120"/>
              </a:rPr>
              <a:t>Une approche combinant étude d'événement, gradient boosting et modèles économétriques de référence</a:t>
            </a:r>
            <a:endParaRPr lang="en-US" sz="1600" dirty="0"/>
          </a:p>
        </p:txBody>
      </p:sp>
      <p:sp>
        <p:nvSpPr>
          <p:cNvPr id="9" name="Shape 6"/>
          <p:cNvSpPr/>
          <p:nvPr/>
        </p:nvSpPr>
        <p:spPr>
          <a:xfrm>
            <a:off x="502920" y="4892040"/>
            <a:ext cx="10241280" cy="1234440"/>
          </a:xfrm>
          <a:prstGeom prst="roundRect">
            <a:avLst>
              <a:gd name="adj" fmla="val 5926"/>
            </a:avLst>
          </a:prstGeom>
          <a:solidFill>
            <a:srgbClr val="0A2B70"/>
          </a:solidFill>
          <a:ln/>
        </p:spPr>
      </p:sp>
      <p:sp>
        <p:nvSpPr>
          <p:cNvPr id="10" name="Text 7"/>
          <p:cNvSpPr/>
          <p:nvPr/>
        </p:nvSpPr>
        <p:spPr>
          <a:xfrm>
            <a:off x="777240" y="4892040"/>
            <a:ext cx="9692640" cy="123444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Fahim BENTATA</a:t>
            </a:r>
            <a:endParaRPr lang="en-US" sz="1500" dirty="0"/>
          </a:p>
          <a:p>
            <a:pPr indent="0" marL="0">
              <a:lnSpc>
                <a:spcPct val="120000"/>
              </a:lnSpc>
              <a:buNone/>
            </a:pPr>
            <a:r>
              <a:rPr lang="en-US" sz="1200" dirty="0">
                <a:solidFill>
                  <a:srgbClr val="C7D6F5"/>
                </a:solidFill>
                <a:latin typeface="Calibri" pitchFamily="34" charset="0"/>
                <a:ea typeface="Calibri" pitchFamily="34" charset="-122"/>
                <a:cs typeface="Calibri" pitchFamily="34" charset="-120"/>
              </a:rPr>
              <a:t>Mémoire de fin d'études — DESS Quantitative Trading — ESLSCA Business School Paris</a:t>
            </a:r>
            <a:endParaRPr lang="en-US" sz="1500" dirty="0"/>
          </a:p>
          <a:p>
            <a:pPr indent="0" marL="0">
              <a:lnSpc>
                <a:spcPct val="120000"/>
              </a:lnSpc>
              <a:buNone/>
            </a:pPr>
            <a:r>
              <a:rPr lang="en-US" sz="1200" dirty="0">
                <a:solidFill>
                  <a:srgbClr val="C7D6F5"/>
                </a:solidFill>
                <a:latin typeface="Calibri" pitchFamily="34" charset="0"/>
                <a:ea typeface="Calibri" pitchFamily="34" charset="-122"/>
                <a:cs typeface="Calibri" pitchFamily="34" charset="-120"/>
              </a:rPr>
              <a:t>Sous la direction de Sarra GHADDAB  •  Année universitaire 2024–2026</a:t>
            </a:r>
            <a:endParaRPr lang="en-US" sz="1500" dirty="0"/>
          </a:p>
        </p:txBody>
      </p:sp>
      <p:sp>
        <p:nvSpPr>
          <p:cNvPr id="11" name="Text 8"/>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1 / 24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SOUTENANCE ORALE — 20 MINUTES</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Plan de la soutenance</a:t>
            </a:r>
            <a:endParaRPr lang="en-US" sz="2900" dirty="0"/>
          </a:p>
        </p:txBody>
      </p:sp>
      <p:sp>
        <p:nvSpPr>
          <p:cNvPr id="4" name="Shape 2"/>
          <p:cNvSpPr/>
          <p:nvPr/>
        </p:nvSpPr>
        <p:spPr>
          <a:xfrm>
            <a:off x="502920" y="1874520"/>
            <a:ext cx="11185855" cy="1078992"/>
          </a:xfrm>
          <a:prstGeom prst="roundRect">
            <a:avLst>
              <a:gd name="adj" fmla="val 6780"/>
            </a:avLst>
          </a:prstGeom>
          <a:solidFill>
            <a:srgbClr val="F4F6FB"/>
          </a:solidFill>
          <a:ln/>
          <a:effectLst>
            <a:outerShdw sx="100000" sy="100000" kx="0" ky="0" algn="bl" rotWithShape="0" blurRad="76200" dist="25400" dir="5400000">
              <a:srgbClr val="9AA5B8">
                <a:alpha val="22000"/>
              </a:srgbClr>
            </a:outerShdw>
          </a:effectLst>
        </p:spPr>
      </p:sp>
      <p:sp>
        <p:nvSpPr>
          <p:cNvPr id="5" name="Text 3"/>
          <p:cNvSpPr/>
          <p:nvPr/>
        </p:nvSpPr>
        <p:spPr>
          <a:xfrm>
            <a:off x="640080" y="1874520"/>
            <a:ext cx="731520" cy="1078992"/>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I</a:t>
            </a:r>
            <a:endParaRPr lang="en-US" sz="2600" dirty="0"/>
          </a:p>
        </p:txBody>
      </p:sp>
      <p:sp>
        <p:nvSpPr>
          <p:cNvPr id="6" name="Shape 4"/>
          <p:cNvSpPr/>
          <p:nvPr/>
        </p:nvSpPr>
        <p:spPr>
          <a:xfrm>
            <a:off x="1463040" y="2130552"/>
            <a:ext cx="566928" cy="566928"/>
          </a:xfrm>
          <a:prstGeom prst="ellipse">
            <a:avLst/>
          </a:prstGeom>
          <a:solidFill>
            <a:srgbClr val="001E60"/>
          </a:solidFill>
          <a:ln/>
        </p:spPr>
      </p:sp>
      <p:pic>
        <p:nvPicPr>
          <p:cNvPr id="7" name="Image 0" descr="/tmp/claude-0/-home-user-Quant-Trade/38df2136-4dac-5b45-a6c7-4baf7be7dbaa/scratchpad/deck/icons/target_white.png">    </p:cNvPr>
          <p:cNvPicPr>
            <a:picLocks noChangeAspect="1"/>
          </p:cNvPicPr>
          <p:nvPr/>
        </p:nvPicPr>
        <p:blipFill>
          <a:blip r:embed="rId1"/>
          <a:stretch>
            <a:fillRect/>
          </a:stretch>
        </p:blipFill>
        <p:spPr>
          <a:xfrm>
            <a:off x="1536741" y="2204253"/>
            <a:ext cx="419527" cy="419527"/>
          </a:xfrm>
          <a:prstGeom prst="rect">
            <a:avLst/>
          </a:prstGeom>
        </p:spPr>
      </p:pic>
      <p:sp>
        <p:nvSpPr>
          <p:cNvPr id="8" name="Text 5"/>
          <p:cNvSpPr/>
          <p:nvPr/>
        </p:nvSpPr>
        <p:spPr>
          <a:xfrm>
            <a:off x="2240280" y="2002536"/>
            <a:ext cx="8778240" cy="457200"/>
          </a:xfrm>
          <a:prstGeom prst="rect">
            <a:avLst/>
          </a:prstGeom>
          <a:noFill/>
          <a:ln/>
        </p:spPr>
        <p:txBody>
          <a:bodyPr wrap="square" lIns="0" tIns="0" rIns="0" bIns="0" rtlCol="0" anchor="b"/>
          <a:lstStyle/>
          <a:p>
            <a:pPr indent="0" marL="0">
              <a:buNone/>
            </a:pPr>
            <a:r>
              <a:rPr lang="en-US" sz="1550" b="1" dirty="0">
                <a:solidFill>
                  <a:srgbClr val="001E60"/>
                </a:solidFill>
                <a:latin typeface="Calibri" pitchFamily="34" charset="0"/>
                <a:ea typeface="Calibri" pitchFamily="34" charset="-122"/>
                <a:cs typeface="Calibri" pitchFamily="34" charset="-120"/>
              </a:rPr>
              <a:t>Contexte, problématique et hypothèses de recherche</a:t>
            </a:r>
            <a:endParaRPr lang="en-US" sz="1550" dirty="0"/>
          </a:p>
        </p:txBody>
      </p:sp>
      <p:sp>
        <p:nvSpPr>
          <p:cNvPr id="9" name="Text 6"/>
          <p:cNvSpPr/>
          <p:nvPr/>
        </p:nvSpPr>
        <p:spPr>
          <a:xfrm>
            <a:off x="2240280" y="2423160"/>
            <a:ext cx="8778240" cy="457200"/>
          </a:xfrm>
          <a:prstGeom prst="rect">
            <a:avLst/>
          </a:prstGeom>
          <a:noFill/>
          <a:ln/>
        </p:spPr>
        <p:txBody>
          <a:bodyPr wrap="square" lIns="0" tIns="0" rIns="0" bIns="0" rtlCol="0" anchor="t"/>
          <a:lstStyle/>
          <a:p>
            <a:pPr indent="0" marL="0">
              <a:buNone/>
            </a:pPr>
            <a:r>
              <a:rPr lang="en-US" sz="1150" dirty="0">
                <a:solidFill>
                  <a:srgbClr val="6B7686"/>
                </a:solidFill>
                <a:latin typeface="Calibri" pitchFamily="34" charset="0"/>
                <a:ea typeface="Calibri" pitchFamily="34" charset="-122"/>
                <a:cs typeface="Calibri" pitchFamily="34" charset="-120"/>
              </a:rPr>
              <a:t>Une décennie inédite de politique monétaire, la question de recherche, les hypothèses H1–H5</a:t>
            </a:r>
            <a:endParaRPr lang="en-US" sz="1150" dirty="0"/>
          </a:p>
        </p:txBody>
      </p:sp>
      <p:sp>
        <p:nvSpPr>
          <p:cNvPr id="10" name="Shape 7"/>
          <p:cNvSpPr/>
          <p:nvPr/>
        </p:nvSpPr>
        <p:spPr>
          <a:xfrm>
            <a:off x="502920" y="3118104"/>
            <a:ext cx="11185855" cy="1078992"/>
          </a:xfrm>
          <a:prstGeom prst="roundRect">
            <a:avLst>
              <a:gd name="adj" fmla="val 6780"/>
            </a:avLst>
          </a:prstGeom>
          <a:solidFill>
            <a:srgbClr val="F4F6FB"/>
          </a:solidFill>
          <a:ln/>
          <a:effectLst>
            <a:outerShdw sx="100000" sy="100000" kx="0" ky="0" algn="bl" rotWithShape="0" blurRad="76200" dist="25400" dir="5400000">
              <a:srgbClr val="9AA5B8">
                <a:alpha val="22000"/>
              </a:srgbClr>
            </a:outerShdw>
          </a:effectLst>
        </p:spPr>
      </p:sp>
      <p:sp>
        <p:nvSpPr>
          <p:cNvPr id="11" name="Text 8"/>
          <p:cNvSpPr/>
          <p:nvPr/>
        </p:nvSpPr>
        <p:spPr>
          <a:xfrm>
            <a:off x="640080" y="3118104"/>
            <a:ext cx="731520" cy="1078992"/>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II</a:t>
            </a:r>
            <a:endParaRPr lang="en-US" sz="2600" dirty="0"/>
          </a:p>
        </p:txBody>
      </p:sp>
      <p:sp>
        <p:nvSpPr>
          <p:cNvPr id="12" name="Shape 9"/>
          <p:cNvSpPr/>
          <p:nvPr/>
        </p:nvSpPr>
        <p:spPr>
          <a:xfrm>
            <a:off x="1463040" y="3374136"/>
            <a:ext cx="566928" cy="566928"/>
          </a:xfrm>
          <a:prstGeom prst="ellipse">
            <a:avLst/>
          </a:prstGeom>
          <a:solidFill>
            <a:srgbClr val="001E60"/>
          </a:solidFill>
          <a:ln/>
        </p:spPr>
      </p:sp>
      <p:pic>
        <p:nvPicPr>
          <p:cNvPr id="13" name="Image 1" descr="/tmp/claude-0/-home-user-Quant-Trade/38df2136-4dac-5b45-a6c7-4baf7be7dbaa/scratchpad/deck/icons/flask_white.png">    </p:cNvPr>
          <p:cNvPicPr>
            <a:picLocks noChangeAspect="1"/>
          </p:cNvPicPr>
          <p:nvPr/>
        </p:nvPicPr>
        <p:blipFill>
          <a:blip r:embed="rId2"/>
          <a:stretch>
            <a:fillRect/>
          </a:stretch>
        </p:blipFill>
        <p:spPr>
          <a:xfrm>
            <a:off x="1536741" y="3447837"/>
            <a:ext cx="419527" cy="419527"/>
          </a:xfrm>
          <a:prstGeom prst="rect">
            <a:avLst/>
          </a:prstGeom>
        </p:spPr>
      </p:pic>
      <p:sp>
        <p:nvSpPr>
          <p:cNvPr id="14" name="Text 10"/>
          <p:cNvSpPr/>
          <p:nvPr/>
        </p:nvSpPr>
        <p:spPr>
          <a:xfrm>
            <a:off x="2240280" y="3246120"/>
            <a:ext cx="8778240" cy="457200"/>
          </a:xfrm>
          <a:prstGeom prst="rect">
            <a:avLst/>
          </a:prstGeom>
          <a:noFill/>
          <a:ln/>
        </p:spPr>
        <p:txBody>
          <a:bodyPr wrap="square" lIns="0" tIns="0" rIns="0" bIns="0" rtlCol="0" anchor="b"/>
          <a:lstStyle/>
          <a:p>
            <a:pPr indent="0" marL="0">
              <a:buNone/>
            </a:pPr>
            <a:r>
              <a:rPr lang="en-US" sz="1550" b="1" dirty="0">
                <a:solidFill>
                  <a:srgbClr val="001E60"/>
                </a:solidFill>
                <a:latin typeface="Calibri" pitchFamily="34" charset="0"/>
                <a:ea typeface="Calibri" pitchFamily="34" charset="-122"/>
                <a:cs typeface="Calibri" pitchFamily="34" charset="-120"/>
              </a:rPr>
              <a:t>Démarche méthodologique : une triangulation empirique</a:t>
            </a:r>
            <a:endParaRPr lang="en-US" sz="1550" dirty="0"/>
          </a:p>
        </p:txBody>
      </p:sp>
      <p:sp>
        <p:nvSpPr>
          <p:cNvPr id="15" name="Text 11"/>
          <p:cNvSpPr/>
          <p:nvPr/>
        </p:nvSpPr>
        <p:spPr>
          <a:xfrm>
            <a:off x="2240280" y="3666744"/>
            <a:ext cx="8778240" cy="457200"/>
          </a:xfrm>
          <a:prstGeom prst="rect">
            <a:avLst/>
          </a:prstGeom>
          <a:noFill/>
          <a:ln/>
        </p:spPr>
        <p:txBody>
          <a:bodyPr wrap="square" lIns="0" tIns="0" rIns="0" bIns="0" rtlCol="0" anchor="t"/>
          <a:lstStyle/>
          <a:p>
            <a:pPr indent="0" marL="0">
              <a:buNone/>
            </a:pPr>
            <a:r>
              <a:rPr lang="en-US" sz="1150" dirty="0">
                <a:solidFill>
                  <a:srgbClr val="6B7686"/>
                </a:solidFill>
                <a:latin typeface="Calibri" pitchFamily="34" charset="0"/>
                <a:ea typeface="Calibri" pitchFamily="34" charset="-122"/>
                <a:cs typeface="Calibri" pitchFamily="34" charset="-120"/>
              </a:rPr>
              <a:t>Étude d'événement, gradient boosting interprété par valeurs SHAP, modèles de référence</a:t>
            </a:r>
            <a:endParaRPr lang="en-US" sz="1150" dirty="0"/>
          </a:p>
        </p:txBody>
      </p:sp>
      <p:sp>
        <p:nvSpPr>
          <p:cNvPr id="16" name="Shape 12"/>
          <p:cNvSpPr/>
          <p:nvPr/>
        </p:nvSpPr>
        <p:spPr>
          <a:xfrm>
            <a:off x="502920" y="4361688"/>
            <a:ext cx="11185855" cy="1078992"/>
          </a:xfrm>
          <a:prstGeom prst="roundRect">
            <a:avLst>
              <a:gd name="adj" fmla="val 6780"/>
            </a:avLst>
          </a:prstGeom>
          <a:solidFill>
            <a:srgbClr val="F4F6FB"/>
          </a:solidFill>
          <a:ln/>
          <a:effectLst>
            <a:outerShdw sx="100000" sy="100000" kx="0" ky="0" algn="bl" rotWithShape="0" blurRad="76200" dist="25400" dir="5400000">
              <a:srgbClr val="9AA5B8">
                <a:alpha val="22000"/>
              </a:srgbClr>
            </a:outerShdw>
          </a:effectLst>
        </p:spPr>
      </p:sp>
      <p:sp>
        <p:nvSpPr>
          <p:cNvPr id="17" name="Text 13"/>
          <p:cNvSpPr/>
          <p:nvPr/>
        </p:nvSpPr>
        <p:spPr>
          <a:xfrm>
            <a:off x="640080" y="4361688"/>
            <a:ext cx="731520" cy="1078992"/>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III</a:t>
            </a:r>
            <a:endParaRPr lang="en-US" sz="2600" dirty="0"/>
          </a:p>
        </p:txBody>
      </p:sp>
      <p:sp>
        <p:nvSpPr>
          <p:cNvPr id="18" name="Shape 14"/>
          <p:cNvSpPr/>
          <p:nvPr/>
        </p:nvSpPr>
        <p:spPr>
          <a:xfrm>
            <a:off x="1463040" y="4617720"/>
            <a:ext cx="566928" cy="566928"/>
          </a:xfrm>
          <a:prstGeom prst="ellipse">
            <a:avLst/>
          </a:prstGeom>
          <a:solidFill>
            <a:srgbClr val="001E60"/>
          </a:solidFill>
          <a:ln/>
        </p:spPr>
      </p:sp>
      <p:pic>
        <p:nvPicPr>
          <p:cNvPr id="19" name="Image 2" descr="/tmp/claude-0/-home-user-Quant-Trade/38df2136-4dac-5b45-a6c7-4baf7be7dbaa/scratchpad/deck/icons/barchart_white.png">    </p:cNvPr>
          <p:cNvPicPr>
            <a:picLocks noChangeAspect="1"/>
          </p:cNvPicPr>
          <p:nvPr/>
        </p:nvPicPr>
        <p:blipFill>
          <a:blip r:embed="rId3"/>
          <a:stretch>
            <a:fillRect/>
          </a:stretch>
        </p:blipFill>
        <p:spPr>
          <a:xfrm>
            <a:off x="1536741" y="4691421"/>
            <a:ext cx="419527" cy="419527"/>
          </a:xfrm>
          <a:prstGeom prst="rect">
            <a:avLst/>
          </a:prstGeom>
        </p:spPr>
      </p:pic>
      <p:sp>
        <p:nvSpPr>
          <p:cNvPr id="20" name="Text 15"/>
          <p:cNvSpPr/>
          <p:nvPr/>
        </p:nvSpPr>
        <p:spPr>
          <a:xfrm>
            <a:off x="2240280" y="4489704"/>
            <a:ext cx="8778240" cy="457200"/>
          </a:xfrm>
          <a:prstGeom prst="rect">
            <a:avLst/>
          </a:prstGeom>
          <a:noFill/>
          <a:ln/>
        </p:spPr>
        <p:txBody>
          <a:bodyPr wrap="square" lIns="0" tIns="0" rIns="0" bIns="0" rtlCol="0" anchor="b"/>
          <a:lstStyle/>
          <a:p>
            <a:pPr indent="0" marL="0">
              <a:buNone/>
            </a:pPr>
            <a:r>
              <a:rPr lang="en-US" sz="1550" b="1" dirty="0">
                <a:solidFill>
                  <a:srgbClr val="001E60"/>
                </a:solidFill>
                <a:latin typeface="Calibri" pitchFamily="34" charset="0"/>
                <a:ea typeface="Calibri" pitchFamily="34" charset="-122"/>
                <a:cs typeface="Calibri" pitchFamily="34" charset="-120"/>
              </a:rPr>
              <a:t>Résultats empiriques et discussion des hypothèses H1–H5</a:t>
            </a:r>
            <a:endParaRPr lang="en-US" sz="1550" dirty="0"/>
          </a:p>
        </p:txBody>
      </p:sp>
      <p:sp>
        <p:nvSpPr>
          <p:cNvPr id="21" name="Text 16"/>
          <p:cNvSpPr/>
          <p:nvPr/>
        </p:nvSpPr>
        <p:spPr>
          <a:xfrm>
            <a:off x="2240280" y="4910328"/>
            <a:ext cx="8778240" cy="457200"/>
          </a:xfrm>
          <a:prstGeom prst="rect">
            <a:avLst/>
          </a:prstGeom>
          <a:noFill/>
          <a:ln/>
        </p:spPr>
        <p:txBody>
          <a:bodyPr wrap="square" lIns="0" tIns="0" rIns="0" bIns="0" rtlCol="0" anchor="t"/>
          <a:lstStyle/>
          <a:p>
            <a:pPr indent="0" marL="0">
              <a:buNone/>
            </a:pPr>
            <a:r>
              <a:rPr lang="en-US" sz="1150" dirty="0">
                <a:solidFill>
                  <a:srgbClr val="6B7686"/>
                </a:solidFill>
                <a:latin typeface="Calibri" pitchFamily="34" charset="0"/>
                <a:ea typeface="Calibri" pitchFamily="34" charset="-122"/>
                <a:cs typeface="Calibri" pitchFamily="34" charset="-120"/>
              </a:rPr>
              <a:t>Ce que révèlent les données sur la transmission monétaire en zone euro</a:t>
            </a:r>
            <a:endParaRPr lang="en-US" sz="1150" dirty="0"/>
          </a:p>
        </p:txBody>
      </p:sp>
      <p:sp>
        <p:nvSpPr>
          <p:cNvPr id="22" name="Shape 17"/>
          <p:cNvSpPr/>
          <p:nvPr/>
        </p:nvSpPr>
        <p:spPr>
          <a:xfrm>
            <a:off x="502920" y="5605272"/>
            <a:ext cx="11185855" cy="1078992"/>
          </a:xfrm>
          <a:prstGeom prst="roundRect">
            <a:avLst>
              <a:gd name="adj" fmla="val 6780"/>
            </a:avLst>
          </a:prstGeom>
          <a:solidFill>
            <a:srgbClr val="F4F6FB"/>
          </a:solidFill>
          <a:ln/>
          <a:effectLst>
            <a:outerShdw sx="100000" sy="100000" kx="0" ky="0" algn="bl" rotWithShape="0" blurRad="76200" dist="25400" dir="5400000">
              <a:srgbClr val="9AA5B8">
                <a:alpha val="22000"/>
              </a:srgbClr>
            </a:outerShdw>
          </a:effectLst>
        </p:spPr>
      </p:sp>
      <p:sp>
        <p:nvSpPr>
          <p:cNvPr id="23" name="Text 18"/>
          <p:cNvSpPr/>
          <p:nvPr/>
        </p:nvSpPr>
        <p:spPr>
          <a:xfrm>
            <a:off x="640080" y="5605272"/>
            <a:ext cx="731520" cy="1078992"/>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IV</a:t>
            </a:r>
            <a:endParaRPr lang="en-US" sz="2600" dirty="0"/>
          </a:p>
        </p:txBody>
      </p:sp>
      <p:sp>
        <p:nvSpPr>
          <p:cNvPr id="24" name="Shape 19"/>
          <p:cNvSpPr/>
          <p:nvPr/>
        </p:nvSpPr>
        <p:spPr>
          <a:xfrm>
            <a:off x="1463040" y="5861304"/>
            <a:ext cx="566928" cy="566928"/>
          </a:xfrm>
          <a:prstGeom prst="ellipse">
            <a:avLst/>
          </a:prstGeom>
          <a:solidFill>
            <a:srgbClr val="001E60"/>
          </a:solidFill>
          <a:ln/>
        </p:spPr>
      </p:sp>
      <p:pic>
        <p:nvPicPr>
          <p:cNvPr id="25" name="Image 3" descr="/tmp/claude-0/-home-user-Quant-Trade/38df2136-4dac-5b45-a6c7-4baf7be7dbaa/scratchpad/deck/icons/compass_white.png">    </p:cNvPr>
          <p:cNvPicPr>
            <a:picLocks noChangeAspect="1"/>
          </p:cNvPicPr>
          <p:nvPr/>
        </p:nvPicPr>
        <p:blipFill>
          <a:blip r:embed="rId4"/>
          <a:stretch>
            <a:fillRect/>
          </a:stretch>
        </p:blipFill>
        <p:spPr>
          <a:xfrm>
            <a:off x="1536741" y="5935005"/>
            <a:ext cx="419527" cy="419527"/>
          </a:xfrm>
          <a:prstGeom prst="rect">
            <a:avLst/>
          </a:prstGeom>
        </p:spPr>
      </p:pic>
      <p:sp>
        <p:nvSpPr>
          <p:cNvPr id="26" name="Text 20"/>
          <p:cNvSpPr/>
          <p:nvPr/>
        </p:nvSpPr>
        <p:spPr>
          <a:xfrm>
            <a:off x="2240280" y="5733288"/>
            <a:ext cx="8778240" cy="457200"/>
          </a:xfrm>
          <a:prstGeom prst="rect">
            <a:avLst/>
          </a:prstGeom>
          <a:noFill/>
          <a:ln/>
        </p:spPr>
        <p:txBody>
          <a:bodyPr wrap="square" lIns="0" tIns="0" rIns="0" bIns="0" rtlCol="0" anchor="b"/>
          <a:lstStyle/>
          <a:p>
            <a:pPr indent="0" marL="0">
              <a:buNone/>
            </a:pPr>
            <a:r>
              <a:rPr lang="en-US" sz="1550" b="1" dirty="0">
                <a:solidFill>
                  <a:srgbClr val="001E60"/>
                </a:solidFill>
                <a:latin typeface="Calibri" pitchFamily="34" charset="0"/>
                <a:ea typeface="Calibri" pitchFamily="34" charset="-122"/>
                <a:cs typeface="Calibri" pitchFamily="34" charset="-120"/>
              </a:rPr>
              <a:t>Contributions, limites et perspectives</a:t>
            </a:r>
            <a:endParaRPr lang="en-US" sz="1550" dirty="0"/>
          </a:p>
        </p:txBody>
      </p:sp>
      <p:sp>
        <p:nvSpPr>
          <p:cNvPr id="27" name="Text 21"/>
          <p:cNvSpPr/>
          <p:nvPr/>
        </p:nvSpPr>
        <p:spPr>
          <a:xfrm>
            <a:off x="2240280" y="6153912"/>
            <a:ext cx="8778240" cy="457200"/>
          </a:xfrm>
          <a:prstGeom prst="rect">
            <a:avLst/>
          </a:prstGeom>
          <a:noFill/>
          <a:ln/>
        </p:spPr>
        <p:txBody>
          <a:bodyPr wrap="square" lIns="0" tIns="0" rIns="0" bIns="0" rtlCol="0" anchor="t"/>
          <a:lstStyle/>
          <a:p>
            <a:pPr indent="0" marL="0">
              <a:buNone/>
            </a:pPr>
            <a:r>
              <a:rPr lang="en-US" sz="1150" dirty="0">
                <a:solidFill>
                  <a:srgbClr val="6B7686"/>
                </a:solidFill>
                <a:latin typeface="Calibri" pitchFamily="34" charset="0"/>
                <a:ea typeface="Calibri" pitchFamily="34" charset="-122"/>
                <a:cs typeface="Calibri" pitchFamily="34" charset="-120"/>
              </a:rPr>
              <a:t>Apports académiques, implications opérationnelles, prolongements de recherche</a:t>
            </a:r>
            <a:endParaRPr lang="en-US" sz="1150" dirty="0"/>
          </a:p>
        </p:txBody>
      </p:sp>
      <p:sp>
        <p:nvSpPr>
          <p:cNvPr id="28" name="Text 22"/>
          <p:cNvSpPr/>
          <p:nvPr/>
        </p:nvSpPr>
        <p:spPr>
          <a:xfrm>
            <a:off x="502920" y="6473952"/>
            <a:ext cx="6400800" cy="274320"/>
          </a:xfrm>
          <a:prstGeom prst="rect">
            <a:avLst/>
          </a:prstGeom>
          <a:noFill/>
          <a:ln/>
        </p:spPr>
        <p:txBody>
          <a:bodyPr wrap="square" lIns="0" tIns="0" rIns="0" bIns="0" rtlCol="0" anchor="ctr"/>
          <a:lstStyle/>
          <a:p>
            <a:pPr algn="l" indent="0" marL="0">
              <a:buNone/>
            </a:pPr>
            <a:endParaRPr lang="en-US" sz="900" dirty="0"/>
          </a:p>
        </p:txBody>
      </p:sp>
      <p:sp>
        <p:nvSpPr>
          <p:cNvPr id="29" name="Text 23"/>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2 /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9448495" y="-1463040"/>
            <a:ext cx="4206240" cy="4206240"/>
          </a:xfrm>
          <a:prstGeom prst="ellipse">
            <a:avLst/>
          </a:prstGeom>
          <a:solidFill>
            <a:srgbClr val="0A2B70"/>
          </a:solidFill>
          <a:ln/>
        </p:spPr>
      </p:sp>
      <p:sp>
        <p:nvSpPr>
          <p:cNvPr id="3" name="Shape 1"/>
          <p:cNvSpPr/>
          <p:nvPr/>
        </p:nvSpPr>
        <p:spPr>
          <a:xfrm>
            <a:off x="-1463040" y="4846320"/>
            <a:ext cx="3291840" cy="3291840"/>
          </a:xfrm>
          <a:prstGeom prst="ellipse">
            <a:avLst/>
          </a:prstGeom>
          <a:solidFill>
            <a:srgbClr val="0A2B70"/>
          </a:solidFill>
          <a:ln/>
        </p:spPr>
      </p:sp>
      <p:sp>
        <p:nvSpPr>
          <p:cNvPr id="4" name="Text 2"/>
          <p:cNvSpPr/>
          <p:nvPr/>
        </p:nvSpPr>
        <p:spPr>
          <a:xfrm>
            <a:off x="502920" y="1965960"/>
            <a:ext cx="2743200" cy="1463040"/>
          </a:xfrm>
          <a:prstGeom prst="rect">
            <a:avLst/>
          </a:prstGeom>
          <a:noFill/>
          <a:ln/>
        </p:spPr>
        <p:txBody>
          <a:bodyPr wrap="square" lIns="0" tIns="0" rIns="0" bIns="0" rtlCol="0" anchor="ctr"/>
          <a:lstStyle/>
          <a:p>
            <a:pPr indent="0" marL="0">
              <a:buNone/>
            </a:pPr>
            <a:r>
              <a:rPr lang="en-US" sz="7000" b="1" dirty="0">
                <a:solidFill>
                  <a:srgbClr val="009FDF"/>
                </a:solidFill>
                <a:latin typeface="Calibri" pitchFamily="34" charset="0"/>
                <a:ea typeface="Calibri" pitchFamily="34" charset="-122"/>
                <a:cs typeface="Calibri" pitchFamily="34" charset="-120"/>
              </a:rPr>
              <a:t>I.</a:t>
            </a:r>
            <a:endParaRPr lang="en-US" sz="7000" dirty="0"/>
          </a:p>
        </p:txBody>
      </p:sp>
      <p:sp>
        <p:nvSpPr>
          <p:cNvPr id="5" name="Text 3"/>
          <p:cNvSpPr/>
          <p:nvPr/>
        </p:nvSpPr>
        <p:spPr>
          <a:xfrm>
            <a:off x="502920" y="3246120"/>
            <a:ext cx="9692640" cy="146304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Contexte, problématique</a:t>
            </a:r>
            <a:endParaRPr lang="en-US" sz="3000" dirty="0"/>
          </a:p>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et hypothèses de recherche</a:t>
            </a:r>
            <a:endParaRPr lang="en-US" sz="3000" dirty="0"/>
          </a:p>
        </p:txBody>
      </p:sp>
      <p:sp>
        <p:nvSpPr>
          <p:cNvPr id="6" name="Text 4"/>
          <p:cNvSpPr/>
          <p:nvPr/>
        </p:nvSpPr>
        <p:spPr>
          <a:xfrm>
            <a:off x="502920" y="4480560"/>
            <a:ext cx="9875520" cy="822960"/>
          </a:xfrm>
          <a:prstGeom prst="rect">
            <a:avLst/>
          </a:prstGeom>
          <a:noFill/>
          <a:ln/>
        </p:spPr>
        <p:txBody>
          <a:bodyPr wrap="square" lIns="0" tIns="0" rIns="0" bIns="0" rtlCol="0" anchor="ctr"/>
          <a:lstStyle/>
          <a:p>
            <a:pPr indent="0" marL="0">
              <a:lnSpc>
                <a:spcPct val="115000"/>
              </a:lnSpc>
              <a:buNone/>
            </a:pPr>
            <a:r>
              <a:rPr lang="en-US" sz="1350" dirty="0">
                <a:solidFill>
                  <a:srgbClr val="AFC2E8"/>
                </a:solidFill>
                <a:latin typeface="Calibri" pitchFamily="34" charset="0"/>
                <a:ea typeface="Calibri" pitchFamily="34" charset="-122"/>
                <a:cs typeface="Calibri" pitchFamily="34" charset="-120"/>
              </a:rPr>
              <a:t>Une décennie de ruptures monétaires — la question de recherche — cinq hypothèses testables</a:t>
            </a:r>
            <a:endParaRPr lang="en-US" sz="1350" dirty="0"/>
          </a:p>
        </p:txBody>
      </p:sp>
      <p:sp>
        <p:nvSpPr>
          <p:cNvPr id="7" name="Text 5"/>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CONTEXTE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2015–2024 : une décennie inédite pour la politique monétaire de la BCE</a:t>
            </a:r>
            <a:endParaRPr lang="en-US" sz="2900" dirty="0"/>
          </a:p>
        </p:txBody>
      </p:sp>
      <p:sp>
        <p:nvSpPr>
          <p:cNvPr id="4" name="Shape 2"/>
          <p:cNvSpPr/>
          <p:nvPr/>
        </p:nvSpPr>
        <p:spPr>
          <a:xfrm>
            <a:off x="502920" y="1783080"/>
            <a:ext cx="3520440"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5" name="Shape 3"/>
          <p:cNvSpPr/>
          <p:nvPr/>
        </p:nvSpPr>
        <p:spPr>
          <a:xfrm>
            <a:off x="704088" y="1984248"/>
            <a:ext cx="3118104" cy="365760"/>
          </a:xfrm>
          <a:prstGeom prst="roundRect">
            <a:avLst>
              <a:gd name="adj" fmla="val 15000"/>
            </a:avLst>
          </a:prstGeom>
          <a:solidFill>
            <a:srgbClr val="009FDF"/>
          </a:solidFill>
          <a:ln/>
        </p:spPr>
      </p:sp>
      <p:sp>
        <p:nvSpPr>
          <p:cNvPr id="6" name="Text 4"/>
          <p:cNvSpPr/>
          <p:nvPr/>
        </p:nvSpPr>
        <p:spPr>
          <a:xfrm>
            <a:off x="704088" y="1984248"/>
            <a:ext cx="3118104" cy="36576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RÉGIME 1</a:t>
            </a:r>
            <a:endParaRPr lang="en-US" sz="1300" dirty="0"/>
          </a:p>
        </p:txBody>
      </p:sp>
      <p:sp>
        <p:nvSpPr>
          <p:cNvPr id="7" name="Text 5"/>
          <p:cNvSpPr/>
          <p:nvPr/>
        </p:nvSpPr>
        <p:spPr>
          <a:xfrm>
            <a:off x="704088" y="2441448"/>
            <a:ext cx="3118104" cy="292608"/>
          </a:xfrm>
          <a:prstGeom prst="rect">
            <a:avLst/>
          </a:prstGeom>
          <a:noFill/>
          <a:ln/>
        </p:spPr>
        <p:txBody>
          <a:bodyPr wrap="square" lIns="0" tIns="0" rIns="0" bIns="0" rtlCol="0" anchor="ctr"/>
          <a:lstStyle/>
          <a:p>
            <a:pPr indent="0" marL="0">
              <a:buNone/>
            </a:pPr>
            <a:r>
              <a:rPr lang="en-US" sz="1150" b="1" dirty="0">
                <a:solidFill>
                  <a:srgbClr val="6B7686"/>
                </a:solidFill>
                <a:latin typeface="Calibri" pitchFamily="34" charset="0"/>
                <a:ea typeface="Calibri" pitchFamily="34" charset="-122"/>
                <a:cs typeface="Calibri" pitchFamily="34" charset="-120"/>
              </a:rPr>
              <a:t>Jan. 2015 — Juin 2022</a:t>
            </a:r>
            <a:endParaRPr lang="en-US" sz="1150" dirty="0"/>
          </a:p>
        </p:txBody>
      </p:sp>
      <p:sp>
        <p:nvSpPr>
          <p:cNvPr id="8" name="Text 6"/>
          <p:cNvSpPr/>
          <p:nvPr/>
        </p:nvSpPr>
        <p:spPr>
          <a:xfrm>
            <a:off x="704088" y="2752344"/>
            <a:ext cx="3118104" cy="777240"/>
          </a:xfrm>
          <a:prstGeom prst="rect">
            <a:avLst/>
          </a:prstGeom>
          <a:noFill/>
          <a:ln/>
        </p:spPr>
        <p:txBody>
          <a:bodyPr wrap="square" lIns="0" tIns="0" rIns="0" bIns="0" rtlCol="0" anchor="ctr"/>
          <a:lstStyle/>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Assouplissement quantitatif</a:t>
            </a:r>
            <a:endParaRPr lang="en-US" sz="1550" dirty="0"/>
          </a:p>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et taux négatifs</a:t>
            </a:r>
            <a:endParaRPr lang="en-US" sz="1550" dirty="0"/>
          </a:p>
        </p:txBody>
      </p:sp>
      <p:sp>
        <p:nvSpPr>
          <p:cNvPr id="9" name="Text 7"/>
          <p:cNvSpPr/>
          <p:nvPr/>
        </p:nvSpPr>
        <p:spPr>
          <a:xfrm>
            <a:off x="704088" y="3593592"/>
            <a:ext cx="3118104" cy="1143000"/>
          </a:xfrm>
          <a:prstGeom prst="rect">
            <a:avLst/>
          </a:prstGeom>
          <a:noFill/>
          <a:ln/>
        </p:spPr>
        <p:txBody>
          <a:bodyPr wrap="square" lIns="0" tIns="0" rIns="0" bIns="0" rtlCol="0" anchor="t"/>
          <a:lstStyle/>
          <a:p>
            <a:pPr indent="0" marL="0">
              <a:lnSpc>
                <a:spcPct val="115000"/>
              </a:lnSpc>
              <a:buNone/>
            </a:pPr>
            <a:r>
              <a:rPr lang="en-US" sz="1100" dirty="0">
                <a:solidFill>
                  <a:srgbClr val="1C2430"/>
                </a:solidFill>
                <a:latin typeface="Calibri" pitchFamily="34" charset="0"/>
                <a:ea typeface="Calibri" pitchFamily="34" charset="-122"/>
                <a:cs typeface="Calibri" pitchFamily="34" charset="-120"/>
              </a:rPr>
              <a:t>Taux de dépôt à −0,50 % dès 2019 · APP puis PEPP (jusqu'à 1 850 Md€) · 70 % de l'échantillon</a:t>
            </a:r>
            <a:endParaRPr lang="en-US" sz="1100" dirty="0"/>
          </a:p>
        </p:txBody>
      </p:sp>
      <p:sp>
        <p:nvSpPr>
          <p:cNvPr id="10" name="Shape 8"/>
          <p:cNvSpPr/>
          <p:nvPr/>
        </p:nvSpPr>
        <p:spPr>
          <a:xfrm>
            <a:off x="4224528" y="1783080"/>
            <a:ext cx="3520440"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11" name="Shape 9"/>
          <p:cNvSpPr/>
          <p:nvPr/>
        </p:nvSpPr>
        <p:spPr>
          <a:xfrm>
            <a:off x="4425696" y="1984248"/>
            <a:ext cx="3118104" cy="365760"/>
          </a:xfrm>
          <a:prstGeom prst="roundRect">
            <a:avLst>
              <a:gd name="adj" fmla="val 15000"/>
            </a:avLst>
          </a:prstGeom>
          <a:solidFill>
            <a:srgbClr val="FF8200"/>
          </a:solidFill>
          <a:ln/>
        </p:spPr>
      </p:sp>
      <p:sp>
        <p:nvSpPr>
          <p:cNvPr id="12" name="Text 10"/>
          <p:cNvSpPr/>
          <p:nvPr/>
        </p:nvSpPr>
        <p:spPr>
          <a:xfrm>
            <a:off x="4425696" y="1984248"/>
            <a:ext cx="3118104" cy="36576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RÉGIME 2</a:t>
            </a:r>
            <a:endParaRPr lang="en-US" sz="1300" dirty="0"/>
          </a:p>
        </p:txBody>
      </p:sp>
      <p:sp>
        <p:nvSpPr>
          <p:cNvPr id="13" name="Text 11"/>
          <p:cNvSpPr/>
          <p:nvPr/>
        </p:nvSpPr>
        <p:spPr>
          <a:xfrm>
            <a:off x="4425696" y="2441448"/>
            <a:ext cx="3118104" cy="292608"/>
          </a:xfrm>
          <a:prstGeom prst="rect">
            <a:avLst/>
          </a:prstGeom>
          <a:noFill/>
          <a:ln/>
        </p:spPr>
        <p:txBody>
          <a:bodyPr wrap="square" lIns="0" tIns="0" rIns="0" bIns="0" rtlCol="0" anchor="ctr"/>
          <a:lstStyle/>
          <a:p>
            <a:pPr indent="0" marL="0">
              <a:buNone/>
            </a:pPr>
            <a:r>
              <a:rPr lang="en-US" sz="1150" b="1" dirty="0">
                <a:solidFill>
                  <a:srgbClr val="6B7686"/>
                </a:solidFill>
                <a:latin typeface="Calibri" pitchFamily="34" charset="0"/>
                <a:ea typeface="Calibri" pitchFamily="34" charset="-122"/>
                <a:cs typeface="Calibri" pitchFamily="34" charset="-120"/>
              </a:rPr>
              <a:t>Juil. 2022 — Sept. 2023</a:t>
            </a:r>
            <a:endParaRPr lang="en-US" sz="1150" dirty="0"/>
          </a:p>
        </p:txBody>
      </p:sp>
      <p:sp>
        <p:nvSpPr>
          <p:cNvPr id="14" name="Text 12"/>
          <p:cNvSpPr/>
          <p:nvPr/>
        </p:nvSpPr>
        <p:spPr>
          <a:xfrm>
            <a:off x="4425696" y="2752344"/>
            <a:ext cx="3118104" cy="777240"/>
          </a:xfrm>
          <a:prstGeom prst="rect">
            <a:avLst/>
          </a:prstGeom>
          <a:noFill/>
          <a:ln/>
        </p:spPr>
        <p:txBody>
          <a:bodyPr wrap="square" lIns="0" tIns="0" rIns="0" bIns="0" rtlCol="0" anchor="ctr"/>
          <a:lstStyle/>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Resserrement monétaire</a:t>
            </a:r>
            <a:endParaRPr lang="en-US" sz="1550" dirty="0"/>
          </a:p>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historique</a:t>
            </a:r>
            <a:endParaRPr lang="en-US" sz="1550" dirty="0"/>
          </a:p>
        </p:txBody>
      </p:sp>
      <p:sp>
        <p:nvSpPr>
          <p:cNvPr id="15" name="Text 13"/>
          <p:cNvSpPr/>
          <p:nvPr/>
        </p:nvSpPr>
        <p:spPr>
          <a:xfrm>
            <a:off x="4425696" y="3593592"/>
            <a:ext cx="3118104" cy="1143000"/>
          </a:xfrm>
          <a:prstGeom prst="rect">
            <a:avLst/>
          </a:prstGeom>
          <a:noFill/>
          <a:ln/>
        </p:spPr>
        <p:txBody>
          <a:bodyPr wrap="square" lIns="0" tIns="0" rIns="0" bIns="0" rtlCol="0" anchor="t"/>
          <a:lstStyle/>
          <a:p>
            <a:pPr indent="0" marL="0">
              <a:lnSpc>
                <a:spcPct val="115000"/>
              </a:lnSpc>
              <a:buNone/>
            </a:pPr>
            <a:r>
              <a:rPr lang="en-US" sz="1100" dirty="0">
                <a:solidFill>
                  <a:srgbClr val="1C2430"/>
                </a:solidFill>
                <a:latin typeface="Calibri" pitchFamily="34" charset="0"/>
                <a:ea typeface="Calibri" pitchFamily="34" charset="-122"/>
                <a:cs typeface="Calibri" pitchFamily="34" charset="-120"/>
              </a:rPr>
              <a:t>+450 points de base en 16 mois · taux de dépôt −0,50 % → +4,00 % · 12,6 % de l'échantillon</a:t>
            </a:r>
            <a:endParaRPr lang="en-US" sz="1100" dirty="0"/>
          </a:p>
        </p:txBody>
      </p:sp>
      <p:sp>
        <p:nvSpPr>
          <p:cNvPr id="16" name="Shape 14"/>
          <p:cNvSpPr/>
          <p:nvPr/>
        </p:nvSpPr>
        <p:spPr>
          <a:xfrm>
            <a:off x="7946136" y="1783080"/>
            <a:ext cx="3520440"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17" name="Shape 15"/>
          <p:cNvSpPr/>
          <p:nvPr/>
        </p:nvSpPr>
        <p:spPr>
          <a:xfrm>
            <a:off x="8147304" y="1984248"/>
            <a:ext cx="3118104" cy="365760"/>
          </a:xfrm>
          <a:prstGeom prst="roundRect">
            <a:avLst>
              <a:gd name="adj" fmla="val 15000"/>
            </a:avLst>
          </a:prstGeom>
          <a:solidFill>
            <a:srgbClr val="00B398"/>
          </a:solidFill>
          <a:ln/>
        </p:spPr>
      </p:sp>
      <p:sp>
        <p:nvSpPr>
          <p:cNvPr id="18" name="Text 16"/>
          <p:cNvSpPr/>
          <p:nvPr/>
        </p:nvSpPr>
        <p:spPr>
          <a:xfrm>
            <a:off x="8147304" y="1984248"/>
            <a:ext cx="3118104" cy="36576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RÉGIME 3</a:t>
            </a:r>
            <a:endParaRPr lang="en-US" sz="1300" dirty="0"/>
          </a:p>
        </p:txBody>
      </p:sp>
      <p:sp>
        <p:nvSpPr>
          <p:cNvPr id="19" name="Text 17"/>
          <p:cNvSpPr/>
          <p:nvPr/>
        </p:nvSpPr>
        <p:spPr>
          <a:xfrm>
            <a:off x="8147304" y="2441448"/>
            <a:ext cx="3118104" cy="292608"/>
          </a:xfrm>
          <a:prstGeom prst="rect">
            <a:avLst/>
          </a:prstGeom>
          <a:noFill/>
          <a:ln/>
        </p:spPr>
        <p:txBody>
          <a:bodyPr wrap="square" lIns="0" tIns="0" rIns="0" bIns="0" rtlCol="0" anchor="ctr"/>
          <a:lstStyle/>
          <a:p>
            <a:pPr indent="0" marL="0">
              <a:buNone/>
            </a:pPr>
            <a:r>
              <a:rPr lang="en-US" sz="1150" b="1" dirty="0">
                <a:solidFill>
                  <a:srgbClr val="6B7686"/>
                </a:solidFill>
                <a:latin typeface="Calibri" pitchFamily="34" charset="0"/>
                <a:ea typeface="Calibri" pitchFamily="34" charset="-122"/>
                <a:cs typeface="Calibri" pitchFamily="34" charset="-120"/>
              </a:rPr>
              <a:t>Oct. 2023 — Déc. 2024</a:t>
            </a:r>
            <a:endParaRPr lang="en-US" sz="1150" dirty="0"/>
          </a:p>
        </p:txBody>
      </p:sp>
      <p:sp>
        <p:nvSpPr>
          <p:cNvPr id="20" name="Text 18"/>
          <p:cNvSpPr/>
          <p:nvPr/>
        </p:nvSpPr>
        <p:spPr>
          <a:xfrm>
            <a:off x="8147304" y="2752344"/>
            <a:ext cx="3118104" cy="777240"/>
          </a:xfrm>
          <a:prstGeom prst="rect">
            <a:avLst/>
          </a:prstGeom>
          <a:noFill/>
          <a:ln/>
        </p:spPr>
        <p:txBody>
          <a:bodyPr wrap="square" lIns="0" tIns="0" rIns="0" bIns="0" rtlCol="0" anchor="ctr"/>
          <a:lstStyle/>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Pivot et</a:t>
            </a:r>
            <a:endParaRPr lang="en-US" sz="1550" dirty="0"/>
          </a:p>
          <a:p>
            <a:pPr indent="0" marL="0">
              <a:lnSpc>
                <a:spcPct val="105000"/>
              </a:lnSpc>
              <a:buNone/>
            </a:pPr>
            <a:r>
              <a:rPr lang="en-US" sz="1550" b="1" dirty="0">
                <a:solidFill>
                  <a:srgbClr val="001E60"/>
                </a:solidFill>
                <a:latin typeface="Calibri" pitchFamily="34" charset="0"/>
                <a:ea typeface="Calibri" pitchFamily="34" charset="-122"/>
                <a:cs typeface="Calibri" pitchFamily="34" charset="-120"/>
              </a:rPr>
              <a:t>normalisation</a:t>
            </a:r>
            <a:endParaRPr lang="en-US" sz="1550" dirty="0"/>
          </a:p>
        </p:txBody>
      </p:sp>
      <p:sp>
        <p:nvSpPr>
          <p:cNvPr id="21" name="Text 19"/>
          <p:cNvSpPr/>
          <p:nvPr/>
        </p:nvSpPr>
        <p:spPr>
          <a:xfrm>
            <a:off x="8147304" y="3593592"/>
            <a:ext cx="3118104" cy="1143000"/>
          </a:xfrm>
          <a:prstGeom prst="rect">
            <a:avLst/>
          </a:prstGeom>
          <a:noFill/>
          <a:ln/>
        </p:spPr>
        <p:txBody>
          <a:bodyPr wrap="square" lIns="0" tIns="0" rIns="0" bIns="0" rtlCol="0" anchor="t"/>
          <a:lstStyle/>
          <a:p>
            <a:pPr indent="0" marL="0">
              <a:lnSpc>
                <a:spcPct val="115000"/>
              </a:lnSpc>
              <a:buNone/>
            </a:pPr>
            <a:r>
              <a:rPr lang="en-US" sz="1100" dirty="0">
                <a:solidFill>
                  <a:srgbClr val="1C2430"/>
                </a:solidFill>
                <a:latin typeface="Calibri" pitchFamily="34" charset="0"/>
                <a:ea typeface="Calibri" pitchFamily="34" charset="-122"/>
                <a:cs typeface="Calibri" pitchFamily="34" charset="-120"/>
              </a:rPr>
              <a:t>4 baisses de taux · retour à +3,00 % fin 2024 · anticipation dès oct. 2023 · 12,4 % de l'échantillon</a:t>
            </a:r>
            <a:endParaRPr lang="en-US" sz="1100" dirty="0"/>
          </a:p>
        </p:txBody>
      </p:sp>
      <p:sp>
        <p:nvSpPr>
          <p:cNvPr id="22" name="Text 20"/>
          <p:cNvSpPr/>
          <p:nvPr/>
        </p:nvSpPr>
        <p:spPr>
          <a:xfrm>
            <a:off x="502920" y="5102352"/>
            <a:ext cx="3606698" cy="457200"/>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2 449</a:t>
            </a:r>
            <a:endParaRPr lang="en-US" sz="2600" dirty="0"/>
          </a:p>
        </p:txBody>
      </p:sp>
      <p:sp>
        <p:nvSpPr>
          <p:cNvPr id="23" name="Text 21"/>
          <p:cNvSpPr/>
          <p:nvPr/>
        </p:nvSpPr>
        <p:spPr>
          <a:xfrm>
            <a:off x="502920" y="5559552"/>
            <a:ext cx="3606698" cy="320040"/>
          </a:xfrm>
          <a:prstGeom prst="rect">
            <a:avLst/>
          </a:prstGeom>
          <a:noFill/>
          <a:ln/>
        </p:spPr>
        <p:txBody>
          <a:bodyPr wrap="square" lIns="0" tIns="0" rIns="0" bIns="0" rtlCol="0" anchor="ctr"/>
          <a:lstStyle/>
          <a:p>
            <a:pPr algn="ctr" indent="0" marL="0">
              <a:buNone/>
            </a:pPr>
            <a:r>
              <a:rPr lang="en-US" sz="1100" dirty="0">
                <a:solidFill>
                  <a:srgbClr val="6B7686"/>
                </a:solidFill>
                <a:latin typeface="Calibri" pitchFamily="34" charset="0"/>
                <a:ea typeface="Calibri" pitchFamily="34" charset="-122"/>
                <a:cs typeface="Calibri" pitchFamily="34" charset="-120"/>
              </a:rPr>
              <a:t>observations quotidiennes</a:t>
            </a:r>
            <a:endParaRPr lang="en-US" sz="1100" dirty="0"/>
          </a:p>
        </p:txBody>
      </p:sp>
      <p:sp>
        <p:nvSpPr>
          <p:cNvPr id="24" name="Text 22"/>
          <p:cNvSpPr/>
          <p:nvPr/>
        </p:nvSpPr>
        <p:spPr>
          <a:xfrm>
            <a:off x="4292498" y="5102352"/>
            <a:ext cx="3606698" cy="457200"/>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16</a:t>
            </a:r>
            <a:endParaRPr lang="en-US" sz="2600" dirty="0"/>
          </a:p>
        </p:txBody>
      </p:sp>
      <p:sp>
        <p:nvSpPr>
          <p:cNvPr id="25" name="Text 23"/>
          <p:cNvSpPr/>
          <p:nvPr/>
        </p:nvSpPr>
        <p:spPr>
          <a:xfrm>
            <a:off x="4292498" y="5559552"/>
            <a:ext cx="3606698" cy="320040"/>
          </a:xfrm>
          <a:prstGeom prst="rect">
            <a:avLst/>
          </a:prstGeom>
          <a:noFill/>
          <a:ln/>
        </p:spPr>
        <p:txBody>
          <a:bodyPr wrap="square" lIns="0" tIns="0" rIns="0" bIns="0" rtlCol="0" anchor="ctr"/>
          <a:lstStyle/>
          <a:p>
            <a:pPr algn="ctr" indent="0" marL="0">
              <a:buNone/>
            </a:pPr>
            <a:r>
              <a:rPr lang="en-US" sz="1100" dirty="0">
                <a:solidFill>
                  <a:srgbClr val="6B7686"/>
                </a:solidFill>
                <a:latin typeface="Calibri" pitchFamily="34" charset="0"/>
                <a:ea typeface="Calibri" pitchFamily="34" charset="-122"/>
                <a:cs typeface="Calibri" pitchFamily="34" charset="-120"/>
              </a:rPr>
              <a:t>réunions BCE retenues</a:t>
            </a:r>
            <a:endParaRPr lang="en-US" sz="1100" dirty="0"/>
          </a:p>
        </p:txBody>
      </p:sp>
      <p:sp>
        <p:nvSpPr>
          <p:cNvPr id="26" name="Text 24"/>
          <p:cNvSpPr/>
          <p:nvPr/>
        </p:nvSpPr>
        <p:spPr>
          <a:xfrm>
            <a:off x="8082077" y="5102352"/>
            <a:ext cx="3606698" cy="457200"/>
          </a:xfrm>
          <a:prstGeom prst="rect">
            <a:avLst/>
          </a:prstGeom>
          <a:noFill/>
          <a:ln/>
        </p:spPr>
        <p:txBody>
          <a:bodyPr wrap="square" lIns="0" tIns="0" rIns="0" bIns="0" rtlCol="0" anchor="ctr"/>
          <a:lstStyle/>
          <a:p>
            <a:pPr algn="ctr" indent="0" marL="0">
              <a:buNone/>
            </a:pPr>
            <a:r>
              <a:rPr lang="en-US" sz="2600" b="1" dirty="0">
                <a:solidFill>
                  <a:srgbClr val="003DA5"/>
                </a:solidFill>
                <a:latin typeface="Calibri" pitchFamily="34" charset="0"/>
                <a:ea typeface="Calibri" pitchFamily="34" charset="-122"/>
                <a:cs typeface="Calibri" pitchFamily="34" charset="-120"/>
              </a:rPr>
              <a:t>3</a:t>
            </a:r>
            <a:endParaRPr lang="en-US" sz="2600" dirty="0"/>
          </a:p>
        </p:txBody>
      </p:sp>
      <p:sp>
        <p:nvSpPr>
          <p:cNvPr id="27" name="Text 25"/>
          <p:cNvSpPr/>
          <p:nvPr/>
        </p:nvSpPr>
        <p:spPr>
          <a:xfrm>
            <a:off x="8082077" y="5559552"/>
            <a:ext cx="3606698" cy="320040"/>
          </a:xfrm>
          <a:prstGeom prst="rect">
            <a:avLst/>
          </a:prstGeom>
          <a:noFill/>
          <a:ln/>
        </p:spPr>
        <p:txBody>
          <a:bodyPr wrap="square" lIns="0" tIns="0" rIns="0" bIns="0" rtlCol="0" anchor="ctr"/>
          <a:lstStyle/>
          <a:p>
            <a:pPr algn="ctr" indent="0" marL="0">
              <a:buNone/>
            </a:pPr>
            <a:r>
              <a:rPr lang="en-US" sz="1100" dirty="0">
                <a:solidFill>
                  <a:srgbClr val="6B7686"/>
                </a:solidFill>
                <a:latin typeface="Calibri" pitchFamily="34" charset="0"/>
                <a:ea typeface="Calibri" pitchFamily="34" charset="-122"/>
                <a:cs typeface="Calibri" pitchFamily="34" charset="-120"/>
              </a:rPr>
              <a:t>régimes monétaires distincts</a:t>
            </a:r>
            <a:endParaRPr lang="en-US" sz="11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 Contexte, problématique et hypothèses</a:t>
            </a:r>
            <a:endParaRPr lang="en-US" sz="900" dirty="0"/>
          </a:p>
        </p:txBody>
      </p:sp>
      <p:sp>
        <p:nvSpPr>
          <p:cNvPr id="29" name="Text 27"/>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4 / 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PROBLÉMATIQUE DE RECHERCHE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Une question ancrée dans la théorie monétaire et la finance de marché</a:t>
            </a:r>
            <a:endParaRPr lang="en-US" sz="2900" dirty="0"/>
          </a:p>
        </p:txBody>
      </p:sp>
      <p:sp>
        <p:nvSpPr>
          <p:cNvPr id="4" name="Shape 2"/>
          <p:cNvSpPr/>
          <p:nvPr/>
        </p:nvSpPr>
        <p:spPr>
          <a:xfrm>
            <a:off x="502920" y="1783080"/>
            <a:ext cx="11185855" cy="1828800"/>
          </a:xfrm>
          <a:prstGeom prst="roundRect">
            <a:avLst>
              <a:gd name="adj" fmla="val 5000"/>
            </a:avLst>
          </a:prstGeom>
          <a:solidFill>
            <a:srgbClr val="001E60"/>
          </a:solidFill>
          <a:ln/>
        </p:spPr>
      </p:sp>
      <p:sp>
        <p:nvSpPr>
          <p:cNvPr id="5" name="Text 3"/>
          <p:cNvSpPr/>
          <p:nvPr/>
        </p:nvSpPr>
        <p:spPr>
          <a:xfrm>
            <a:off x="960120" y="1783080"/>
            <a:ext cx="10271455" cy="1828800"/>
          </a:xfrm>
          <a:prstGeom prst="rect">
            <a:avLst/>
          </a:prstGeom>
          <a:noFill/>
          <a:ln/>
        </p:spPr>
        <p:txBody>
          <a:bodyPr wrap="square" lIns="0" tIns="0" rIns="0" bIns="0" rtlCol="0" anchor="ctr"/>
          <a:lstStyle/>
          <a:p>
            <a:pPr algn="l" indent="0" marL="0">
              <a:lnSpc>
                <a:spcPct val="120000"/>
              </a:lnSpc>
              <a:buNone/>
            </a:pPr>
            <a:r>
              <a:rPr lang="en-US" sz="1900" b="1" i="1" dirty="0">
                <a:solidFill>
                  <a:srgbClr val="FFFFFF"/>
                </a:solidFill>
                <a:latin typeface="Calibri" pitchFamily="34" charset="0"/>
                <a:ea typeface="Calibri" pitchFamily="34" charset="-122"/>
                <a:cs typeface="Calibri" pitchFamily="34" charset="-120"/>
              </a:rPr>
              <a:t>Dans quelle mesure les décisions de politique monétaire de la BCE influencent-elles les rendements et la volatilité des marchés obligataire et actions en zone euro sur la période 2015–2024, et comment cette transmission varie-t-elle selon les régimes monétaires en vigueur ?</a:t>
            </a:r>
            <a:endParaRPr lang="en-US" sz="1900" dirty="0"/>
          </a:p>
        </p:txBody>
      </p:sp>
      <p:sp>
        <p:nvSpPr>
          <p:cNvPr id="6" name="Shape 4"/>
          <p:cNvSpPr/>
          <p:nvPr/>
        </p:nvSpPr>
        <p:spPr>
          <a:xfrm>
            <a:off x="502920" y="3886200"/>
            <a:ext cx="3606698" cy="2148840"/>
          </a:xfrm>
          <a:prstGeom prst="roundRect">
            <a:avLst>
              <a:gd name="adj" fmla="val 3830"/>
            </a:avLst>
          </a:prstGeom>
          <a:solidFill>
            <a:srgbClr val="F4F6FB"/>
          </a:solidFill>
          <a:ln/>
          <a:effectLst>
            <a:outerShdw sx="100000" sy="100000" kx="0" ky="0" algn="bl" rotWithShape="0" blurRad="76200" dist="25400" dir="5400000">
              <a:srgbClr val="9AA5B8">
                <a:alpha val="25000"/>
              </a:srgbClr>
            </a:outerShdw>
          </a:effectLst>
        </p:spPr>
      </p:sp>
      <p:sp>
        <p:nvSpPr>
          <p:cNvPr id="7" name="Shape 5"/>
          <p:cNvSpPr/>
          <p:nvPr/>
        </p:nvSpPr>
        <p:spPr>
          <a:xfrm>
            <a:off x="758952" y="4123944"/>
            <a:ext cx="502920" cy="502920"/>
          </a:xfrm>
          <a:prstGeom prst="ellipse">
            <a:avLst/>
          </a:prstGeom>
          <a:solidFill>
            <a:srgbClr val="003DA5"/>
          </a:solidFill>
          <a:ln/>
        </p:spPr>
      </p:sp>
      <p:pic>
        <p:nvPicPr>
          <p:cNvPr id="8" name="Image 0" descr="/tmp/claude-0/-home-user-Quant-Trade/38df2136-4dac-5b45-a6c7-4baf7be7dbaa/scratchpad/deck/icons/layers_white.png">    </p:cNvPr>
          <p:cNvPicPr>
            <a:picLocks noChangeAspect="1"/>
          </p:cNvPicPr>
          <p:nvPr/>
        </p:nvPicPr>
        <p:blipFill>
          <a:blip r:embed="rId1"/>
          <a:stretch>
            <a:fillRect/>
          </a:stretch>
        </p:blipFill>
        <p:spPr>
          <a:xfrm>
            <a:off x="824332" y="4189324"/>
            <a:ext cx="372161" cy="372161"/>
          </a:xfrm>
          <a:prstGeom prst="rect">
            <a:avLst/>
          </a:prstGeom>
        </p:spPr>
      </p:pic>
      <p:sp>
        <p:nvSpPr>
          <p:cNvPr id="9" name="Text 6"/>
          <p:cNvSpPr/>
          <p:nvPr/>
        </p:nvSpPr>
        <p:spPr>
          <a:xfrm>
            <a:off x="1444752" y="4105656"/>
            <a:ext cx="2591714" cy="502920"/>
          </a:xfrm>
          <a:prstGeom prst="rect">
            <a:avLst/>
          </a:prstGeom>
          <a:noFill/>
          <a:ln/>
        </p:spPr>
        <p:txBody>
          <a:bodyPr wrap="square" lIns="0" tIns="0" rIns="0" bIns="0" rtlCol="0" anchor="ctr"/>
          <a:lstStyle/>
          <a:p>
            <a:pPr indent="0" marL="0">
              <a:lnSpc>
                <a:spcPct val="100000"/>
              </a:lnSpc>
              <a:buNone/>
            </a:pPr>
            <a:r>
              <a:rPr lang="en-US" sz="1350" b="1" dirty="0">
                <a:solidFill>
                  <a:srgbClr val="001E60"/>
                </a:solidFill>
                <a:latin typeface="Calibri" pitchFamily="34" charset="0"/>
                <a:ea typeface="Calibri" pitchFamily="34" charset="-122"/>
                <a:cs typeface="Calibri" pitchFamily="34" charset="-120"/>
              </a:rPr>
              <a:t>Une approche combinée</a:t>
            </a:r>
            <a:endParaRPr lang="en-US" sz="1350" dirty="0"/>
          </a:p>
        </p:txBody>
      </p:sp>
      <p:sp>
        <p:nvSpPr>
          <p:cNvPr id="10" name="Text 7"/>
          <p:cNvSpPr/>
          <p:nvPr/>
        </p:nvSpPr>
        <p:spPr>
          <a:xfrm>
            <a:off x="758952" y="4718304"/>
            <a:ext cx="3094634" cy="1133856"/>
          </a:xfrm>
          <a:prstGeom prst="rect">
            <a:avLst/>
          </a:prstGeom>
          <a:noFill/>
          <a:ln/>
        </p:spPr>
        <p:txBody>
          <a:bodyPr wrap="square" lIns="0" tIns="0" rIns="0" bIns="0" rtlCol="0" anchor="t"/>
          <a:lstStyle/>
          <a:p>
            <a:pPr indent="0" marL="0">
              <a:lnSpc>
                <a:spcPct val="108000"/>
              </a:lnSpc>
              <a:buNone/>
            </a:pPr>
            <a:r>
              <a:rPr lang="en-US" sz="1100" dirty="0">
                <a:solidFill>
                  <a:srgbClr val="1C2430"/>
                </a:solidFill>
                <a:latin typeface="Calibri" pitchFamily="34" charset="0"/>
                <a:ea typeface="Calibri" pitchFamily="34" charset="-122"/>
                <a:cs typeface="Calibri" pitchFamily="34" charset="-120"/>
              </a:rPr>
              <a:t>Étude d'événement à haute fréquence (16 réunions) et machine learning (gradient boosting) sur données hebdomadaires enrichies</a:t>
            </a:r>
            <a:endParaRPr lang="en-US" sz="1100" dirty="0"/>
          </a:p>
        </p:txBody>
      </p:sp>
      <p:sp>
        <p:nvSpPr>
          <p:cNvPr id="11" name="Shape 8"/>
          <p:cNvSpPr/>
          <p:nvPr/>
        </p:nvSpPr>
        <p:spPr>
          <a:xfrm>
            <a:off x="4292498" y="3886200"/>
            <a:ext cx="3606698" cy="2148840"/>
          </a:xfrm>
          <a:prstGeom prst="roundRect">
            <a:avLst>
              <a:gd name="adj" fmla="val 3830"/>
            </a:avLst>
          </a:prstGeom>
          <a:solidFill>
            <a:srgbClr val="F4F6FB"/>
          </a:solidFill>
          <a:ln/>
          <a:effectLst>
            <a:outerShdw sx="100000" sy="100000" kx="0" ky="0" algn="bl" rotWithShape="0" blurRad="76200" dist="25400" dir="5400000">
              <a:srgbClr val="9AA5B8">
                <a:alpha val="25000"/>
              </a:srgbClr>
            </a:outerShdw>
          </a:effectLst>
        </p:spPr>
      </p:sp>
      <p:sp>
        <p:nvSpPr>
          <p:cNvPr id="12" name="Shape 9"/>
          <p:cNvSpPr/>
          <p:nvPr/>
        </p:nvSpPr>
        <p:spPr>
          <a:xfrm>
            <a:off x="4548530" y="4123944"/>
            <a:ext cx="502920" cy="502920"/>
          </a:xfrm>
          <a:prstGeom prst="ellipse">
            <a:avLst/>
          </a:prstGeom>
          <a:solidFill>
            <a:srgbClr val="003DA5"/>
          </a:solidFill>
          <a:ln/>
        </p:spPr>
      </p:sp>
      <p:pic>
        <p:nvPicPr>
          <p:cNvPr id="13" name="Image 1" descr="/tmp/claude-0/-home-user-Quant-Trade/38df2136-4dac-5b45-a6c7-4baf7be7dbaa/scratchpad/deck/icons/refresh_white.png">    </p:cNvPr>
          <p:cNvPicPr>
            <a:picLocks noChangeAspect="1"/>
          </p:cNvPicPr>
          <p:nvPr/>
        </p:nvPicPr>
        <p:blipFill>
          <a:blip r:embed="rId2"/>
          <a:stretch>
            <a:fillRect/>
          </a:stretch>
        </p:blipFill>
        <p:spPr>
          <a:xfrm>
            <a:off x="4613910" y="4189324"/>
            <a:ext cx="372161" cy="372161"/>
          </a:xfrm>
          <a:prstGeom prst="rect">
            <a:avLst/>
          </a:prstGeom>
        </p:spPr>
      </p:pic>
      <p:sp>
        <p:nvSpPr>
          <p:cNvPr id="14" name="Text 10"/>
          <p:cNvSpPr/>
          <p:nvPr/>
        </p:nvSpPr>
        <p:spPr>
          <a:xfrm>
            <a:off x="5234330" y="4105656"/>
            <a:ext cx="2591714" cy="502920"/>
          </a:xfrm>
          <a:prstGeom prst="rect">
            <a:avLst/>
          </a:prstGeom>
          <a:noFill/>
          <a:ln/>
        </p:spPr>
        <p:txBody>
          <a:bodyPr wrap="square" lIns="0" tIns="0" rIns="0" bIns="0" rtlCol="0" anchor="ctr"/>
          <a:lstStyle/>
          <a:p>
            <a:pPr indent="0" marL="0">
              <a:lnSpc>
                <a:spcPct val="100000"/>
              </a:lnSpc>
              <a:buNone/>
            </a:pPr>
            <a:r>
              <a:rPr lang="en-US" sz="1350" b="1" dirty="0">
                <a:solidFill>
                  <a:srgbClr val="001E60"/>
                </a:solidFill>
                <a:latin typeface="Calibri" pitchFamily="34" charset="0"/>
                <a:ea typeface="Calibri" pitchFamily="34" charset="-122"/>
                <a:cs typeface="Calibri" pitchFamily="34" charset="-120"/>
              </a:rPr>
              <a:t>Le régime comme variable de modération</a:t>
            </a:r>
            <a:endParaRPr lang="en-US" sz="1350" dirty="0"/>
          </a:p>
        </p:txBody>
      </p:sp>
      <p:sp>
        <p:nvSpPr>
          <p:cNvPr id="15" name="Text 11"/>
          <p:cNvSpPr/>
          <p:nvPr/>
        </p:nvSpPr>
        <p:spPr>
          <a:xfrm>
            <a:off x="4548530" y="4718304"/>
            <a:ext cx="3094634" cy="1133856"/>
          </a:xfrm>
          <a:prstGeom prst="rect">
            <a:avLst/>
          </a:prstGeom>
          <a:noFill/>
          <a:ln/>
        </p:spPr>
        <p:txBody>
          <a:bodyPr wrap="square" lIns="0" tIns="0" rIns="0" bIns="0" rtlCol="0" anchor="t"/>
          <a:lstStyle/>
          <a:p>
            <a:pPr indent="0" marL="0">
              <a:lnSpc>
                <a:spcPct val="108000"/>
              </a:lnSpc>
              <a:buNone/>
            </a:pPr>
            <a:r>
              <a:rPr lang="en-US" sz="1100" dirty="0">
                <a:solidFill>
                  <a:srgbClr val="1C2430"/>
                </a:solidFill>
                <a:latin typeface="Calibri" pitchFamily="34" charset="0"/>
                <a:ea typeface="Calibri" pitchFamily="34" charset="-122"/>
                <a:cs typeface="Calibri" pitchFamily="34" charset="-120"/>
              </a:rPr>
              <a:t>Le contexte monétaire est traité comme une variable catégorielle, sans imposer de chronologie linéaire</a:t>
            </a:r>
            <a:endParaRPr lang="en-US" sz="1100" dirty="0"/>
          </a:p>
        </p:txBody>
      </p:sp>
      <p:sp>
        <p:nvSpPr>
          <p:cNvPr id="16" name="Shape 12"/>
          <p:cNvSpPr/>
          <p:nvPr/>
        </p:nvSpPr>
        <p:spPr>
          <a:xfrm>
            <a:off x="8082077" y="3886200"/>
            <a:ext cx="3606698" cy="2148840"/>
          </a:xfrm>
          <a:prstGeom prst="roundRect">
            <a:avLst>
              <a:gd name="adj" fmla="val 3830"/>
            </a:avLst>
          </a:prstGeom>
          <a:solidFill>
            <a:srgbClr val="F4F6FB"/>
          </a:solidFill>
          <a:ln/>
          <a:effectLst>
            <a:outerShdw sx="100000" sy="100000" kx="0" ky="0" algn="bl" rotWithShape="0" blurRad="76200" dist="25400" dir="5400000">
              <a:srgbClr val="9AA5B8">
                <a:alpha val="25000"/>
              </a:srgbClr>
            </a:outerShdw>
          </a:effectLst>
        </p:spPr>
      </p:sp>
      <p:sp>
        <p:nvSpPr>
          <p:cNvPr id="17" name="Shape 13"/>
          <p:cNvSpPr/>
          <p:nvPr/>
        </p:nvSpPr>
        <p:spPr>
          <a:xfrm>
            <a:off x="8338109" y="4123944"/>
            <a:ext cx="502920" cy="502920"/>
          </a:xfrm>
          <a:prstGeom prst="ellipse">
            <a:avLst/>
          </a:prstGeom>
          <a:solidFill>
            <a:srgbClr val="003DA5"/>
          </a:solidFill>
          <a:ln/>
        </p:spPr>
      </p:sp>
      <p:pic>
        <p:nvPicPr>
          <p:cNvPr id="18" name="Image 2" descr="/tmp/claude-0/-home-user-Quant-Trade/38df2136-4dac-5b45-a6c7-4baf7be7dbaa/scratchpad/deck/icons/piechart_white.png">    </p:cNvPr>
          <p:cNvPicPr>
            <a:picLocks noChangeAspect="1"/>
          </p:cNvPicPr>
          <p:nvPr/>
        </p:nvPicPr>
        <p:blipFill>
          <a:blip r:embed="rId3"/>
          <a:stretch>
            <a:fillRect/>
          </a:stretch>
        </p:blipFill>
        <p:spPr>
          <a:xfrm>
            <a:off x="8403488" y="4189324"/>
            <a:ext cx="372161" cy="372161"/>
          </a:xfrm>
          <a:prstGeom prst="rect">
            <a:avLst/>
          </a:prstGeom>
        </p:spPr>
      </p:pic>
      <p:sp>
        <p:nvSpPr>
          <p:cNvPr id="19" name="Text 14"/>
          <p:cNvSpPr/>
          <p:nvPr/>
        </p:nvSpPr>
        <p:spPr>
          <a:xfrm>
            <a:off x="9023909" y="4105656"/>
            <a:ext cx="2591714" cy="502920"/>
          </a:xfrm>
          <a:prstGeom prst="rect">
            <a:avLst/>
          </a:prstGeom>
          <a:noFill/>
          <a:ln/>
        </p:spPr>
        <p:txBody>
          <a:bodyPr wrap="square" lIns="0" tIns="0" rIns="0" bIns="0" rtlCol="0" anchor="ctr"/>
          <a:lstStyle/>
          <a:p>
            <a:pPr indent="0" marL="0">
              <a:lnSpc>
                <a:spcPct val="100000"/>
              </a:lnSpc>
              <a:buNone/>
            </a:pPr>
            <a:r>
              <a:rPr lang="en-US" sz="1350" b="1" dirty="0">
                <a:solidFill>
                  <a:srgbClr val="001E60"/>
                </a:solidFill>
                <a:latin typeface="Calibri" pitchFamily="34" charset="0"/>
                <a:ea typeface="Calibri" pitchFamily="34" charset="-122"/>
                <a:cs typeface="Calibri" pitchFamily="34" charset="-120"/>
              </a:rPr>
              <a:t>Une interprétation par valeurs SHAP</a:t>
            </a:r>
            <a:endParaRPr lang="en-US" sz="1350" dirty="0"/>
          </a:p>
        </p:txBody>
      </p:sp>
      <p:sp>
        <p:nvSpPr>
          <p:cNvPr id="20" name="Text 15"/>
          <p:cNvSpPr/>
          <p:nvPr/>
        </p:nvSpPr>
        <p:spPr>
          <a:xfrm>
            <a:off x="8338109" y="4718304"/>
            <a:ext cx="3094634" cy="1133856"/>
          </a:xfrm>
          <a:prstGeom prst="rect">
            <a:avLst/>
          </a:prstGeom>
          <a:noFill/>
          <a:ln/>
        </p:spPr>
        <p:txBody>
          <a:bodyPr wrap="square" lIns="0" tIns="0" rIns="0" bIns="0" rtlCol="0" anchor="t"/>
          <a:lstStyle/>
          <a:p>
            <a:pPr indent="0" marL="0">
              <a:lnSpc>
                <a:spcPct val="108000"/>
              </a:lnSpc>
              <a:buNone/>
            </a:pPr>
            <a:r>
              <a:rPr lang="en-US" sz="1100" dirty="0">
                <a:solidFill>
                  <a:srgbClr val="1C2430"/>
                </a:solidFill>
                <a:latin typeface="Calibri" pitchFamily="34" charset="0"/>
                <a:ea typeface="Calibri" pitchFamily="34" charset="-122"/>
                <a:cs typeface="Calibri" pitchFamily="34" charset="-120"/>
              </a:rPr>
              <a:t>Une lecture des contributions marginales des instruments de la BCE, encore rare dans la littérature francophone</a:t>
            </a:r>
            <a:endParaRPr lang="en-US" sz="1100" dirty="0"/>
          </a:p>
        </p:txBody>
      </p:sp>
      <p:sp>
        <p:nvSpPr>
          <p:cNvPr id="21"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 Contexte, problématique et hypothèses</a:t>
            </a:r>
            <a:endParaRPr lang="en-US" sz="900" dirty="0"/>
          </a:p>
        </p:txBody>
      </p:sp>
      <p:sp>
        <p:nvSpPr>
          <p:cNvPr id="22" name="Text 17"/>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5 /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CINQ HYPOTHÈSES DE RECHERCHE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Des hypothèses de fond et des hypothèses méthodologiques</a:t>
            </a:r>
            <a:endParaRPr lang="en-US" sz="2900" dirty="0"/>
          </a:p>
        </p:txBody>
      </p:sp>
      <p:sp>
        <p:nvSpPr>
          <p:cNvPr id="4" name="Shape 2"/>
          <p:cNvSpPr/>
          <p:nvPr/>
        </p:nvSpPr>
        <p:spPr>
          <a:xfrm>
            <a:off x="502920" y="1783080"/>
            <a:ext cx="3606698" cy="1691640"/>
          </a:xfrm>
          <a:prstGeom prst="roundRect">
            <a:avLst>
              <a:gd name="adj" fmla="val 4865"/>
            </a:avLst>
          </a:prstGeom>
          <a:solidFill>
            <a:srgbClr val="F4F6FB"/>
          </a:solidFill>
          <a:ln/>
          <a:effectLst>
            <a:outerShdw sx="100000" sy="100000" kx="0" ky="0" algn="bl" rotWithShape="0" blurRad="76200" dist="25400" dir="5400000">
              <a:srgbClr val="9AA5B8">
                <a:alpha val="22000"/>
              </a:srgbClr>
            </a:outerShdw>
          </a:effectLst>
        </p:spPr>
      </p:sp>
      <p:sp>
        <p:nvSpPr>
          <p:cNvPr id="5" name="Shape 3"/>
          <p:cNvSpPr/>
          <p:nvPr/>
        </p:nvSpPr>
        <p:spPr>
          <a:xfrm>
            <a:off x="704088" y="1965960"/>
            <a:ext cx="502920" cy="502920"/>
          </a:xfrm>
          <a:prstGeom prst="ellipse">
            <a:avLst/>
          </a:prstGeom>
          <a:solidFill>
            <a:srgbClr val="003DA5"/>
          </a:solidFill>
          <a:ln/>
        </p:spPr>
      </p:sp>
      <p:sp>
        <p:nvSpPr>
          <p:cNvPr id="6" name="Text 4"/>
          <p:cNvSpPr/>
          <p:nvPr/>
        </p:nvSpPr>
        <p:spPr>
          <a:xfrm>
            <a:off x="704088" y="19659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H1</a:t>
            </a:r>
            <a:endParaRPr lang="en-US" sz="1500" dirty="0"/>
          </a:p>
        </p:txBody>
      </p:sp>
      <p:sp>
        <p:nvSpPr>
          <p:cNvPr id="7" name="Text 5"/>
          <p:cNvSpPr/>
          <p:nvPr/>
        </p:nvSpPr>
        <p:spPr>
          <a:xfrm>
            <a:off x="1289304" y="1965960"/>
            <a:ext cx="2692298" cy="219456"/>
          </a:xfrm>
          <a:prstGeom prst="rect">
            <a:avLst/>
          </a:prstGeom>
          <a:noFill/>
          <a:ln/>
        </p:spPr>
        <p:txBody>
          <a:bodyPr wrap="square" lIns="0" tIns="0" rIns="0" bIns="0" rtlCol="0" anchor="ctr"/>
          <a:lstStyle/>
          <a:p>
            <a:pPr indent="0" marL="0">
              <a:buNone/>
            </a:pPr>
            <a:r>
              <a:rPr lang="en-US" sz="850" b="1" spc="100" kern="0" dirty="0">
                <a:solidFill>
                  <a:srgbClr val="003DA5"/>
                </a:solidFill>
                <a:latin typeface="Calibri" pitchFamily="34" charset="0"/>
                <a:ea typeface="Calibri" pitchFamily="34" charset="-122"/>
                <a:cs typeface="Calibri" pitchFamily="34" charset="-120"/>
              </a:rPr>
              <a:t>FOND</a:t>
            </a:r>
            <a:endParaRPr lang="en-US" sz="850" dirty="0"/>
          </a:p>
        </p:txBody>
      </p:sp>
      <p:sp>
        <p:nvSpPr>
          <p:cNvPr id="8" name="Text 6"/>
          <p:cNvSpPr/>
          <p:nvPr/>
        </p:nvSpPr>
        <p:spPr>
          <a:xfrm>
            <a:off x="1289304" y="2167128"/>
            <a:ext cx="2692298" cy="320040"/>
          </a:xfrm>
          <a:prstGeom prst="rect">
            <a:avLst/>
          </a:prstGeom>
          <a:noFill/>
          <a:ln/>
        </p:spPr>
        <p:txBody>
          <a:bodyPr wrap="square" lIns="0" tIns="0" rIns="0" bIns="0" rtlCol="0" anchor="ctr"/>
          <a:lstStyle/>
          <a:p>
            <a:pPr indent="0" marL="0">
              <a:buNone/>
            </a:pPr>
            <a:r>
              <a:rPr lang="en-US" sz="1250" b="1" dirty="0">
                <a:solidFill>
                  <a:srgbClr val="001E60"/>
                </a:solidFill>
                <a:latin typeface="Calibri" pitchFamily="34" charset="0"/>
                <a:ea typeface="Calibri" pitchFamily="34" charset="-122"/>
                <a:cs typeface="Calibri" pitchFamily="34" charset="-120"/>
              </a:rPr>
              <a:t>Effet significatif</a:t>
            </a:r>
            <a:endParaRPr lang="en-US" sz="1250" dirty="0"/>
          </a:p>
        </p:txBody>
      </p:sp>
      <p:sp>
        <p:nvSpPr>
          <p:cNvPr id="9" name="Text 7"/>
          <p:cNvSpPr/>
          <p:nvPr/>
        </p:nvSpPr>
        <p:spPr>
          <a:xfrm>
            <a:off x="704088" y="2569464"/>
            <a:ext cx="3204362" cy="813816"/>
          </a:xfrm>
          <a:prstGeom prst="rect">
            <a:avLst/>
          </a:prstGeom>
          <a:noFill/>
          <a:ln/>
        </p:spPr>
        <p:txBody>
          <a:bodyPr wrap="square" lIns="0" tIns="0" rIns="0" bIns="0" rtlCol="0" anchor="t"/>
          <a:lstStyle/>
          <a:p>
            <a:pPr indent="0" marL="0">
              <a:lnSpc>
                <a:spcPct val="112000"/>
              </a:lnSpc>
              <a:buNone/>
            </a:pPr>
            <a:r>
              <a:rPr lang="en-US" sz="1000" dirty="0">
                <a:solidFill>
                  <a:srgbClr val="1C2430"/>
                </a:solidFill>
                <a:latin typeface="Calibri" pitchFamily="34" charset="0"/>
                <a:ea typeface="Calibri" pitchFamily="34" charset="-122"/>
                <a:cs typeface="Calibri" pitchFamily="34" charset="-120"/>
              </a:rPr>
              <a:t>Les décisions de la BCE exercent un effet significatif sur les rendements et la volatilité des marchés obligataire et actions.</a:t>
            </a:r>
            <a:endParaRPr lang="en-US" sz="1000" dirty="0"/>
          </a:p>
        </p:txBody>
      </p:sp>
      <p:sp>
        <p:nvSpPr>
          <p:cNvPr id="10" name="Shape 8"/>
          <p:cNvSpPr/>
          <p:nvPr/>
        </p:nvSpPr>
        <p:spPr>
          <a:xfrm>
            <a:off x="4292498" y="1783080"/>
            <a:ext cx="3606698" cy="1691640"/>
          </a:xfrm>
          <a:prstGeom prst="roundRect">
            <a:avLst>
              <a:gd name="adj" fmla="val 4865"/>
            </a:avLst>
          </a:prstGeom>
          <a:solidFill>
            <a:srgbClr val="F4F6FB"/>
          </a:solidFill>
          <a:ln/>
          <a:effectLst>
            <a:outerShdw sx="100000" sy="100000" kx="0" ky="0" algn="bl" rotWithShape="0" blurRad="76200" dist="25400" dir="5400000">
              <a:srgbClr val="9AA5B8">
                <a:alpha val="22000"/>
              </a:srgbClr>
            </a:outerShdw>
          </a:effectLst>
        </p:spPr>
      </p:sp>
      <p:sp>
        <p:nvSpPr>
          <p:cNvPr id="11" name="Shape 9"/>
          <p:cNvSpPr/>
          <p:nvPr/>
        </p:nvSpPr>
        <p:spPr>
          <a:xfrm>
            <a:off x="4493666" y="1965960"/>
            <a:ext cx="502920" cy="502920"/>
          </a:xfrm>
          <a:prstGeom prst="ellipse">
            <a:avLst/>
          </a:prstGeom>
          <a:solidFill>
            <a:srgbClr val="003DA5"/>
          </a:solidFill>
          <a:ln/>
        </p:spPr>
      </p:sp>
      <p:sp>
        <p:nvSpPr>
          <p:cNvPr id="12" name="Text 10"/>
          <p:cNvSpPr/>
          <p:nvPr/>
        </p:nvSpPr>
        <p:spPr>
          <a:xfrm>
            <a:off x="4493666" y="19659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H2</a:t>
            </a:r>
            <a:endParaRPr lang="en-US" sz="1500" dirty="0"/>
          </a:p>
        </p:txBody>
      </p:sp>
      <p:sp>
        <p:nvSpPr>
          <p:cNvPr id="13" name="Text 11"/>
          <p:cNvSpPr/>
          <p:nvPr/>
        </p:nvSpPr>
        <p:spPr>
          <a:xfrm>
            <a:off x="5078882" y="1965960"/>
            <a:ext cx="2692298" cy="219456"/>
          </a:xfrm>
          <a:prstGeom prst="rect">
            <a:avLst/>
          </a:prstGeom>
          <a:noFill/>
          <a:ln/>
        </p:spPr>
        <p:txBody>
          <a:bodyPr wrap="square" lIns="0" tIns="0" rIns="0" bIns="0" rtlCol="0" anchor="ctr"/>
          <a:lstStyle/>
          <a:p>
            <a:pPr indent="0" marL="0">
              <a:buNone/>
            </a:pPr>
            <a:r>
              <a:rPr lang="en-US" sz="850" b="1" spc="100" kern="0" dirty="0">
                <a:solidFill>
                  <a:srgbClr val="003DA5"/>
                </a:solidFill>
                <a:latin typeface="Calibri" pitchFamily="34" charset="0"/>
                <a:ea typeface="Calibri" pitchFamily="34" charset="-122"/>
                <a:cs typeface="Calibri" pitchFamily="34" charset="-120"/>
              </a:rPr>
              <a:t>FOND</a:t>
            </a:r>
            <a:endParaRPr lang="en-US" sz="850" dirty="0"/>
          </a:p>
        </p:txBody>
      </p:sp>
      <p:sp>
        <p:nvSpPr>
          <p:cNvPr id="14" name="Text 12"/>
          <p:cNvSpPr/>
          <p:nvPr/>
        </p:nvSpPr>
        <p:spPr>
          <a:xfrm>
            <a:off x="5078882" y="2167128"/>
            <a:ext cx="2692298" cy="320040"/>
          </a:xfrm>
          <a:prstGeom prst="rect">
            <a:avLst/>
          </a:prstGeom>
          <a:noFill/>
          <a:ln/>
        </p:spPr>
        <p:txBody>
          <a:bodyPr wrap="square" lIns="0" tIns="0" rIns="0" bIns="0" rtlCol="0" anchor="ctr"/>
          <a:lstStyle/>
          <a:p>
            <a:pPr indent="0" marL="0">
              <a:buNone/>
            </a:pPr>
            <a:r>
              <a:rPr lang="en-US" sz="1250" b="1" dirty="0">
                <a:solidFill>
                  <a:srgbClr val="001E60"/>
                </a:solidFill>
                <a:latin typeface="Calibri" pitchFamily="34" charset="0"/>
                <a:ea typeface="Calibri" pitchFamily="34" charset="-122"/>
                <a:cs typeface="Calibri" pitchFamily="34" charset="-120"/>
              </a:rPr>
              <a:t>Asymétrie des régimes</a:t>
            </a:r>
            <a:endParaRPr lang="en-US" sz="1250" dirty="0"/>
          </a:p>
        </p:txBody>
      </p:sp>
      <p:sp>
        <p:nvSpPr>
          <p:cNvPr id="15" name="Text 13"/>
          <p:cNvSpPr/>
          <p:nvPr/>
        </p:nvSpPr>
        <p:spPr>
          <a:xfrm>
            <a:off x="4493666" y="2569464"/>
            <a:ext cx="3204362" cy="813816"/>
          </a:xfrm>
          <a:prstGeom prst="rect">
            <a:avLst/>
          </a:prstGeom>
          <a:noFill/>
          <a:ln/>
        </p:spPr>
        <p:txBody>
          <a:bodyPr wrap="square" lIns="0" tIns="0" rIns="0" bIns="0" rtlCol="0" anchor="t"/>
          <a:lstStyle/>
          <a:p>
            <a:pPr indent="0" marL="0">
              <a:lnSpc>
                <a:spcPct val="112000"/>
              </a:lnSpc>
              <a:buNone/>
            </a:pPr>
            <a:r>
              <a:rPr lang="en-US" sz="1000" dirty="0">
                <a:solidFill>
                  <a:srgbClr val="1C2430"/>
                </a:solidFill>
                <a:latin typeface="Calibri" pitchFamily="34" charset="0"/>
                <a:ea typeface="Calibri" pitchFamily="34" charset="-122"/>
                <a:cs typeface="Calibri" pitchFamily="34" charset="-120"/>
              </a:rPr>
              <a:t>L'effet des décisions diffère selon le régime : resserrement et assouplissement ne produisent pas des réactions symétriques.</a:t>
            </a:r>
            <a:endParaRPr lang="en-US" sz="1000" dirty="0"/>
          </a:p>
        </p:txBody>
      </p:sp>
      <p:sp>
        <p:nvSpPr>
          <p:cNvPr id="16" name="Shape 14"/>
          <p:cNvSpPr/>
          <p:nvPr/>
        </p:nvSpPr>
        <p:spPr>
          <a:xfrm>
            <a:off x="8082077" y="1783080"/>
            <a:ext cx="3606698" cy="1691640"/>
          </a:xfrm>
          <a:prstGeom prst="roundRect">
            <a:avLst>
              <a:gd name="adj" fmla="val 4865"/>
            </a:avLst>
          </a:prstGeom>
          <a:solidFill>
            <a:srgbClr val="F4F6FB"/>
          </a:solidFill>
          <a:ln/>
          <a:effectLst>
            <a:outerShdw sx="100000" sy="100000" kx="0" ky="0" algn="bl" rotWithShape="0" blurRad="76200" dist="25400" dir="5400000">
              <a:srgbClr val="9AA5B8">
                <a:alpha val="22000"/>
              </a:srgbClr>
            </a:outerShdw>
          </a:effectLst>
        </p:spPr>
      </p:sp>
      <p:sp>
        <p:nvSpPr>
          <p:cNvPr id="17" name="Shape 15"/>
          <p:cNvSpPr/>
          <p:nvPr/>
        </p:nvSpPr>
        <p:spPr>
          <a:xfrm>
            <a:off x="8283245" y="1965960"/>
            <a:ext cx="502920" cy="502920"/>
          </a:xfrm>
          <a:prstGeom prst="ellipse">
            <a:avLst/>
          </a:prstGeom>
          <a:solidFill>
            <a:srgbClr val="003DA5"/>
          </a:solidFill>
          <a:ln/>
        </p:spPr>
      </p:sp>
      <p:sp>
        <p:nvSpPr>
          <p:cNvPr id="18" name="Text 16"/>
          <p:cNvSpPr/>
          <p:nvPr/>
        </p:nvSpPr>
        <p:spPr>
          <a:xfrm>
            <a:off x="8283245" y="19659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H3</a:t>
            </a:r>
            <a:endParaRPr lang="en-US" sz="1500" dirty="0"/>
          </a:p>
        </p:txBody>
      </p:sp>
      <p:sp>
        <p:nvSpPr>
          <p:cNvPr id="19" name="Text 17"/>
          <p:cNvSpPr/>
          <p:nvPr/>
        </p:nvSpPr>
        <p:spPr>
          <a:xfrm>
            <a:off x="8868461" y="1965960"/>
            <a:ext cx="2692298" cy="219456"/>
          </a:xfrm>
          <a:prstGeom prst="rect">
            <a:avLst/>
          </a:prstGeom>
          <a:noFill/>
          <a:ln/>
        </p:spPr>
        <p:txBody>
          <a:bodyPr wrap="square" lIns="0" tIns="0" rIns="0" bIns="0" rtlCol="0" anchor="ctr"/>
          <a:lstStyle/>
          <a:p>
            <a:pPr indent="0" marL="0">
              <a:buNone/>
            </a:pPr>
            <a:r>
              <a:rPr lang="en-US" sz="850" b="1" spc="100" kern="0" dirty="0">
                <a:solidFill>
                  <a:srgbClr val="003DA5"/>
                </a:solidFill>
                <a:latin typeface="Calibri" pitchFamily="34" charset="0"/>
                <a:ea typeface="Calibri" pitchFamily="34" charset="-122"/>
                <a:cs typeface="Calibri" pitchFamily="34" charset="-120"/>
              </a:rPr>
              <a:t>FOND</a:t>
            </a:r>
            <a:endParaRPr lang="en-US" sz="850" dirty="0"/>
          </a:p>
        </p:txBody>
      </p:sp>
      <p:sp>
        <p:nvSpPr>
          <p:cNvPr id="20" name="Text 18"/>
          <p:cNvSpPr/>
          <p:nvPr/>
        </p:nvSpPr>
        <p:spPr>
          <a:xfrm>
            <a:off x="8868461" y="2167128"/>
            <a:ext cx="2692298" cy="320040"/>
          </a:xfrm>
          <a:prstGeom prst="rect">
            <a:avLst/>
          </a:prstGeom>
          <a:noFill/>
          <a:ln/>
        </p:spPr>
        <p:txBody>
          <a:bodyPr wrap="square" lIns="0" tIns="0" rIns="0" bIns="0" rtlCol="0" anchor="ctr"/>
          <a:lstStyle/>
          <a:p>
            <a:pPr indent="0" marL="0">
              <a:buNone/>
            </a:pPr>
            <a:r>
              <a:rPr lang="en-US" sz="1250" b="1" dirty="0">
                <a:solidFill>
                  <a:srgbClr val="001E60"/>
                </a:solidFill>
                <a:latin typeface="Calibri" pitchFamily="34" charset="0"/>
                <a:ea typeface="Calibri" pitchFamily="34" charset="-122"/>
                <a:cs typeface="Calibri" pitchFamily="34" charset="-120"/>
              </a:rPr>
              <a:t>Hétérogénéité des marchés</a:t>
            </a:r>
            <a:endParaRPr lang="en-US" sz="1250" dirty="0"/>
          </a:p>
        </p:txBody>
      </p:sp>
      <p:sp>
        <p:nvSpPr>
          <p:cNvPr id="21" name="Text 19"/>
          <p:cNvSpPr/>
          <p:nvPr/>
        </p:nvSpPr>
        <p:spPr>
          <a:xfrm>
            <a:off x="8283245" y="2569464"/>
            <a:ext cx="3204362" cy="813816"/>
          </a:xfrm>
          <a:prstGeom prst="rect">
            <a:avLst/>
          </a:prstGeom>
          <a:noFill/>
          <a:ln/>
        </p:spPr>
        <p:txBody>
          <a:bodyPr wrap="square" lIns="0" tIns="0" rIns="0" bIns="0" rtlCol="0" anchor="t"/>
          <a:lstStyle/>
          <a:p>
            <a:pPr indent="0" marL="0">
              <a:lnSpc>
                <a:spcPct val="112000"/>
              </a:lnSpc>
              <a:buNone/>
            </a:pPr>
            <a:r>
              <a:rPr lang="en-US" sz="1000" dirty="0">
                <a:solidFill>
                  <a:srgbClr val="1C2430"/>
                </a:solidFill>
                <a:latin typeface="Calibri" pitchFamily="34" charset="0"/>
                <a:ea typeface="Calibri" pitchFamily="34" charset="-122"/>
                <a:cs typeface="Calibri" pitchFamily="34" charset="-120"/>
              </a:rPr>
              <a:t>L'obligataire réagit surtout au canal du taux d'intérêt ; les actions sont plus sensibles au canal de la prise de risque.</a:t>
            </a:r>
            <a:endParaRPr lang="en-US" sz="1000" dirty="0"/>
          </a:p>
        </p:txBody>
      </p:sp>
      <p:sp>
        <p:nvSpPr>
          <p:cNvPr id="22" name="Shape 20"/>
          <p:cNvSpPr/>
          <p:nvPr/>
        </p:nvSpPr>
        <p:spPr>
          <a:xfrm>
            <a:off x="502920" y="3657600"/>
            <a:ext cx="3606698" cy="1691640"/>
          </a:xfrm>
          <a:prstGeom prst="roundRect">
            <a:avLst>
              <a:gd name="adj" fmla="val 4865"/>
            </a:avLst>
          </a:prstGeom>
          <a:solidFill>
            <a:srgbClr val="F4F6FB"/>
          </a:solidFill>
          <a:ln/>
          <a:effectLst>
            <a:outerShdw sx="100000" sy="100000" kx="0" ky="0" algn="bl" rotWithShape="0" blurRad="76200" dist="25400" dir="5400000">
              <a:srgbClr val="9AA5B8">
                <a:alpha val="22000"/>
              </a:srgbClr>
            </a:outerShdw>
          </a:effectLst>
        </p:spPr>
      </p:sp>
      <p:sp>
        <p:nvSpPr>
          <p:cNvPr id="23" name="Shape 21"/>
          <p:cNvSpPr/>
          <p:nvPr/>
        </p:nvSpPr>
        <p:spPr>
          <a:xfrm>
            <a:off x="704088" y="3840480"/>
            <a:ext cx="502920" cy="502920"/>
          </a:xfrm>
          <a:prstGeom prst="ellipse">
            <a:avLst/>
          </a:prstGeom>
          <a:solidFill>
            <a:srgbClr val="00B398"/>
          </a:solidFill>
          <a:ln/>
        </p:spPr>
      </p:sp>
      <p:sp>
        <p:nvSpPr>
          <p:cNvPr id="24" name="Text 22"/>
          <p:cNvSpPr/>
          <p:nvPr/>
        </p:nvSpPr>
        <p:spPr>
          <a:xfrm>
            <a:off x="704088" y="3840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H4</a:t>
            </a:r>
            <a:endParaRPr lang="en-US" sz="1500" dirty="0"/>
          </a:p>
        </p:txBody>
      </p:sp>
      <p:sp>
        <p:nvSpPr>
          <p:cNvPr id="25" name="Text 23"/>
          <p:cNvSpPr/>
          <p:nvPr/>
        </p:nvSpPr>
        <p:spPr>
          <a:xfrm>
            <a:off x="1289304" y="3840480"/>
            <a:ext cx="2692298" cy="219456"/>
          </a:xfrm>
          <a:prstGeom prst="rect">
            <a:avLst/>
          </a:prstGeom>
          <a:noFill/>
          <a:ln/>
        </p:spPr>
        <p:txBody>
          <a:bodyPr wrap="square" lIns="0" tIns="0" rIns="0" bIns="0" rtlCol="0" anchor="ctr"/>
          <a:lstStyle/>
          <a:p>
            <a:pPr indent="0" marL="0">
              <a:buNone/>
            </a:pPr>
            <a:r>
              <a:rPr lang="en-US" sz="850" b="1" spc="100" kern="0" dirty="0">
                <a:solidFill>
                  <a:srgbClr val="00B398"/>
                </a:solidFill>
                <a:latin typeface="Calibri" pitchFamily="34" charset="0"/>
                <a:ea typeface="Calibri" pitchFamily="34" charset="-122"/>
                <a:cs typeface="Calibri" pitchFamily="34" charset="-120"/>
              </a:rPr>
              <a:t>MÉTHODO</a:t>
            </a:r>
            <a:endParaRPr lang="en-US" sz="850" dirty="0"/>
          </a:p>
        </p:txBody>
      </p:sp>
      <p:sp>
        <p:nvSpPr>
          <p:cNvPr id="26" name="Text 24"/>
          <p:cNvSpPr/>
          <p:nvPr/>
        </p:nvSpPr>
        <p:spPr>
          <a:xfrm>
            <a:off x="1289304" y="4041648"/>
            <a:ext cx="2692298" cy="320040"/>
          </a:xfrm>
          <a:prstGeom prst="rect">
            <a:avLst/>
          </a:prstGeom>
          <a:noFill/>
          <a:ln/>
        </p:spPr>
        <p:txBody>
          <a:bodyPr wrap="square" lIns="0" tIns="0" rIns="0" bIns="0" rtlCol="0" anchor="ctr"/>
          <a:lstStyle/>
          <a:p>
            <a:pPr indent="0" marL="0">
              <a:buNone/>
            </a:pPr>
            <a:r>
              <a:rPr lang="en-US" sz="1250" b="1" dirty="0">
                <a:solidFill>
                  <a:srgbClr val="001E60"/>
                </a:solidFill>
                <a:latin typeface="Calibri" pitchFamily="34" charset="0"/>
                <a:ea typeface="Calibri" pitchFamily="34" charset="-122"/>
                <a:cs typeface="Calibri" pitchFamily="34" charset="-120"/>
              </a:rPr>
              <a:t>Apport du machine learning</a:t>
            </a:r>
            <a:endParaRPr lang="en-US" sz="1250" dirty="0"/>
          </a:p>
        </p:txBody>
      </p:sp>
      <p:sp>
        <p:nvSpPr>
          <p:cNvPr id="27" name="Text 25"/>
          <p:cNvSpPr/>
          <p:nvPr/>
        </p:nvSpPr>
        <p:spPr>
          <a:xfrm>
            <a:off x="704088" y="4443984"/>
            <a:ext cx="3204362" cy="813816"/>
          </a:xfrm>
          <a:prstGeom prst="rect">
            <a:avLst/>
          </a:prstGeom>
          <a:noFill/>
          <a:ln/>
        </p:spPr>
        <p:txBody>
          <a:bodyPr wrap="square" lIns="0" tIns="0" rIns="0" bIns="0" rtlCol="0" anchor="t"/>
          <a:lstStyle/>
          <a:p>
            <a:pPr indent="0" marL="0">
              <a:lnSpc>
                <a:spcPct val="112000"/>
              </a:lnSpc>
              <a:buNone/>
            </a:pPr>
            <a:r>
              <a:rPr lang="en-US" sz="1000" dirty="0">
                <a:solidFill>
                  <a:srgbClr val="1C2430"/>
                </a:solidFill>
                <a:latin typeface="Calibri" pitchFamily="34" charset="0"/>
                <a:ea typeface="Calibri" pitchFamily="34" charset="-122"/>
                <a:cs typeface="Calibri" pitchFamily="34" charset="-120"/>
              </a:rPr>
              <a:t>Le gradient boosting (XGBoost, LightGBM) offre des performances hors échantillon supérieures ou plus robustes que les modèles VAR/GARCH de référence.</a:t>
            </a:r>
            <a:endParaRPr lang="en-US" sz="1000" dirty="0"/>
          </a:p>
        </p:txBody>
      </p:sp>
      <p:sp>
        <p:nvSpPr>
          <p:cNvPr id="28" name="Shape 26"/>
          <p:cNvSpPr/>
          <p:nvPr/>
        </p:nvSpPr>
        <p:spPr>
          <a:xfrm>
            <a:off x="4292498" y="3657600"/>
            <a:ext cx="3606698" cy="1691640"/>
          </a:xfrm>
          <a:prstGeom prst="roundRect">
            <a:avLst>
              <a:gd name="adj" fmla="val 4865"/>
            </a:avLst>
          </a:prstGeom>
          <a:solidFill>
            <a:srgbClr val="F4F6FB"/>
          </a:solidFill>
          <a:ln/>
          <a:effectLst>
            <a:outerShdw sx="100000" sy="100000" kx="0" ky="0" algn="bl" rotWithShape="0" blurRad="76200" dist="25400" dir="5400000">
              <a:srgbClr val="9AA5B8">
                <a:alpha val="22000"/>
              </a:srgbClr>
            </a:outerShdw>
          </a:effectLst>
        </p:spPr>
      </p:sp>
      <p:sp>
        <p:nvSpPr>
          <p:cNvPr id="29" name="Shape 27"/>
          <p:cNvSpPr/>
          <p:nvPr/>
        </p:nvSpPr>
        <p:spPr>
          <a:xfrm>
            <a:off x="4493666" y="3840480"/>
            <a:ext cx="502920" cy="502920"/>
          </a:xfrm>
          <a:prstGeom prst="ellipse">
            <a:avLst/>
          </a:prstGeom>
          <a:solidFill>
            <a:srgbClr val="00B398"/>
          </a:solidFill>
          <a:ln/>
        </p:spPr>
      </p:sp>
      <p:sp>
        <p:nvSpPr>
          <p:cNvPr id="30" name="Text 28"/>
          <p:cNvSpPr/>
          <p:nvPr/>
        </p:nvSpPr>
        <p:spPr>
          <a:xfrm>
            <a:off x="4493666" y="3840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H5</a:t>
            </a:r>
            <a:endParaRPr lang="en-US" sz="1500" dirty="0"/>
          </a:p>
        </p:txBody>
      </p:sp>
      <p:sp>
        <p:nvSpPr>
          <p:cNvPr id="31" name="Text 29"/>
          <p:cNvSpPr/>
          <p:nvPr/>
        </p:nvSpPr>
        <p:spPr>
          <a:xfrm>
            <a:off x="5078882" y="3840480"/>
            <a:ext cx="2692298" cy="219456"/>
          </a:xfrm>
          <a:prstGeom prst="rect">
            <a:avLst/>
          </a:prstGeom>
          <a:noFill/>
          <a:ln/>
        </p:spPr>
        <p:txBody>
          <a:bodyPr wrap="square" lIns="0" tIns="0" rIns="0" bIns="0" rtlCol="0" anchor="ctr"/>
          <a:lstStyle/>
          <a:p>
            <a:pPr indent="0" marL="0">
              <a:buNone/>
            </a:pPr>
            <a:r>
              <a:rPr lang="en-US" sz="850" b="1" spc="100" kern="0" dirty="0">
                <a:solidFill>
                  <a:srgbClr val="00B398"/>
                </a:solidFill>
                <a:latin typeface="Calibri" pitchFamily="34" charset="0"/>
                <a:ea typeface="Calibri" pitchFamily="34" charset="-122"/>
                <a:cs typeface="Calibri" pitchFamily="34" charset="-120"/>
              </a:rPr>
              <a:t>MÉTHODO</a:t>
            </a:r>
            <a:endParaRPr lang="en-US" sz="850" dirty="0"/>
          </a:p>
        </p:txBody>
      </p:sp>
      <p:sp>
        <p:nvSpPr>
          <p:cNvPr id="32" name="Text 30"/>
          <p:cNvSpPr/>
          <p:nvPr/>
        </p:nvSpPr>
        <p:spPr>
          <a:xfrm>
            <a:off x="5078882" y="4041648"/>
            <a:ext cx="2692298" cy="320040"/>
          </a:xfrm>
          <a:prstGeom prst="rect">
            <a:avLst/>
          </a:prstGeom>
          <a:noFill/>
          <a:ln/>
        </p:spPr>
        <p:txBody>
          <a:bodyPr wrap="square" lIns="0" tIns="0" rIns="0" bIns="0" rtlCol="0" anchor="ctr"/>
          <a:lstStyle/>
          <a:p>
            <a:pPr indent="0" marL="0">
              <a:buNone/>
            </a:pPr>
            <a:r>
              <a:rPr lang="en-US" sz="1250" b="1" dirty="0">
                <a:solidFill>
                  <a:srgbClr val="001E60"/>
                </a:solidFill>
                <a:latin typeface="Calibri" pitchFamily="34" charset="0"/>
                <a:ea typeface="Calibri" pitchFamily="34" charset="-122"/>
                <a:cs typeface="Calibri" pitchFamily="34" charset="-120"/>
              </a:rPr>
              <a:t>Hiérarchie régime-dépendante</a:t>
            </a:r>
            <a:endParaRPr lang="en-US" sz="1250" dirty="0"/>
          </a:p>
        </p:txBody>
      </p:sp>
      <p:sp>
        <p:nvSpPr>
          <p:cNvPr id="33" name="Text 31"/>
          <p:cNvSpPr/>
          <p:nvPr/>
        </p:nvSpPr>
        <p:spPr>
          <a:xfrm>
            <a:off x="4493666" y="4443984"/>
            <a:ext cx="3204362" cy="813816"/>
          </a:xfrm>
          <a:prstGeom prst="rect">
            <a:avLst/>
          </a:prstGeom>
          <a:noFill/>
          <a:ln/>
        </p:spPr>
        <p:txBody>
          <a:bodyPr wrap="square" lIns="0" tIns="0" rIns="0" bIns="0" rtlCol="0" anchor="t"/>
          <a:lstStyle/>
          <a:p>
            <a:pPr indent="0" marL="0">
              <a:lnSpc>
                <a:spcPct val="112000"/>
              </a:lnSpc>
              <a:buNone/>
            </a:pPr>
            <a:r>
              <a:rPr lang="en-US" sz="1000" dirty="0">
                <a:solidFill>
                  <a:srgbClr val="1C2430"/>
                </a:solidFill>
                <a:latin typeface="Calibri" pitchFamily="34" charset="0"/>
                <a:ea typeface="Calibri" pitchFamily="34" charset="-122"/>
                <a:cs typeface="Calibri" pitchFamily="34" charset="-120"/>
              </a:rPr>
              <a:t>La hiérarchie des contributions des instruments de la BCE, mesurée par les valeurs SHAP, varie selon le régime et le marché.</a:t>
            </a:r>
            <a:endParaRPr lang="en-US" sz="1000" dirty="0"/>
          </a:p>
        </p:txBody>
      </p:sp>
      <p:sp>
        <p:nvSpPr>
          <p:cNvPr id="34" name="Text 3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 Contexte, problématique et hypothèses</a:t>
            </a:r>
            <a:endParaRPr lang="en-US" sz="900" dirty="0"/>
          </a:p>
        </p:txBody>
      </p:sp>
      <p:sp>
        <p:nvSpPr>
          <p:cNvPr id="35" name="Text 33"/>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6 /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CADRE CONCEPTUEL</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Quatre canaux théoriques de transmission de la politique monétaire</a:t>
            </a:r>
            <a:endParaRPr lang="en-US" sz="2900" dirty="0"/>
          </a:p>
        </p:txBody>
      </p:sp>
      <p:sp>
        <p:nvSpPr>
          <p:cNvPr id="4" name="Shape 2"/>
          <p:cNvSpPr/>
          <p:nvPr/>
        </p:nvSpPr>
        <p:spPr>
          <a:xfrm>
            <a:off x="502920" y="1783080"/>
            <a:ext cx="5483200" cy="1965960"/>
          </a:xfrm>
          <a:prstGeom prst="roundRect">
            <a:avLst>
              <a:gd name="adj" fmla="val 4186"/>
            </a:avLst>
          </a:prstGeom>
          <a:solidFill>
            <a:srgbClr val="F4F6FB"/>
          </a:solidFill>
          <a:ln/>
          <a:effectLst>
            <a:outerShdw sx="100000" sy="100000" kx="0" ky="0" algn="bl" rotWithShape="0" blurRad="76200" dist="25400" dir="5400000">
              <a:srgbClr val="9AA5B8">
                <a:alpha val="25000"/>
              </a:srgbClr>
            </a:outerShdw>
          </a:effectLst>
        </p:spPr>
      </p:sp>
      <p:sp>
        <p:nvSpPr>
          <p:cNvPr id="5" name="Shape 3"/>
          <p:cNvSpPr/>
          <p:nvPr/>
        </p:nvSpPr>
        <p:spPr>
          <a:xfrm>
            <a:off x="758952" y="2020824"/>
            <a:ext cx="502920" cy="502920"/>
          </a:xfrm>
          <a:prstGeom prst="ellipse">
            <a:avLst/>
          </a:prstGeom>
          <a:solidFill>
            <a:srgbClr val="003DA5"/>
          </a:solidFill>
          <a:ln/>
        </p:spPr>
      </p:sp>
      <p:pic>
        <p:nvPicPr>
          <p:cNvPr id="6" name="Image 0" descr="/tmp/claude-0/-home-user-Quant-Trade/38df2136-4dac-5b45-a6c7-4baf7be7dbaa/scratchpad/deck/icons/percent_white.png">    </p:cNvPr>
          <p:cNvPicPr>
            <a:picLocks noChangeAspect="1"/>
          </p:cNvPicPr>
          <p:nvPr/>
        </p:nvPicPr>
        <p:blipFill>
          <a:blip r:embed="rId1"/>
          <a:stretch>
            <a:fillRect/>
          </a:stretch>
        </p:blipFill>
        <p:spPr>
          <a:xfrm>
            <a:off x="824332" y="2086204"/>
            <a:ext cx="372161" cy="372161"/>
          </a:xfrm>
          <a:prstGeom prst="rect">
            <a:avLst/>
          </a:prstGeom>
        </p:spPr>
      </p:pic>
      <p:sp>
        <p:nvSpPr>
          <p:cNvPr id="7" name="Text 4"/>
          <p:cNvSpPr/>
          <p:nvPr/>
        </p:nvSpPr>
        <p:spPr>
          <a:xfrm>
            <a:off x="1444752" y="2002536"/>
            <a:ext cx="4285336" cy="292608"/>
          </a:xfrm>
          <a:prstGeom prst="rect">
            <a:avLst/>
          </a:prstGeom>
          <a:noFill/>
          <a:ln/>
        </p:spPr>
        <p:txBody>
          <a:bodyPr wrap="square" lIns="0" tIns="0" rIns="0" bIns="0" rtlCol="0" anchor="t"/>
          <a:lstStyle/>
          <a:p>
            <a:pPr indent="0" marL="0">
              <a:buNone/>
            </a:pPr>
            <a:r>
              <a:rPr lang="en-US" sz="1400" b="1" dirty="0">
                <a:solidFill>
                  <a:srgbClr val="001E60"/>
                </a:solidFill>
                <a:latin typeface="Calibri" pitchFamily="34" charset="0"/>
                <a:ea typeface="Calibri" pitchFamily="34" charset="-122"/>
                <a:cs typeface="Calibri" pitchFamily="34" charset="-120"/>
              </a:rPr>
              <a:t>Canal du taux d'intérêt</a:t>
            </a:r>
            <a:endParaRPr lang="en-US" sz="1400" dirty="0"/>
          </a:p>
        </p:txBody>
      </p:sp>
      <p:sp>
        <p:nvSpPr>
          <p:cNvPr id="8" name="Text 5"/>
          <p:cNvSpPr/>
          <p:nvPr/>
        </p:nvSpPr>
        <p:spPr>
          <a:xfrm>
            <a:off x="1444752" y="2286000"/>
            <a:ext cx="4285336" cy="219456"/>
          </a:xfrm>
          <a:prstGeom prst="rect">
            <a:avLst/>
          </a:prstGeom>
          <a:noFill/>
          <a:ln/>
        </p:spPr>
        <p:txBody>
          <a:bodyPr wrap="square" lIns="0" tIns="0" rIns="0" bIns="0" rtlCol="0" anchor="ctr"/>
          <a:lstStyle/>
          <a:p>
            <a:pPr indent="0" marL="0">
              <a:buNone/>
            </a:pPr>
            <a:r>
              <a:rPr lang="en-US" sz="950" i="1" dirty="0">
                <a:solidFill>
                  <a:srgbClr val="6B7686"/>
                </a:solidFill>
                <a:latin typeface="Calibri" pitchFamily="34" charset="0"/>
                <a:ea typeface="Calibri" pitchFamily="34" charset="-122"/>
                <a:cs typeface="Calibri" pitchFamily="34" charset="-120"/>
              </a:rPr>
              <a:t>Mishkin, 1995</a:t>
            </a:r>
            <a:endParaRPr lang="en-US" sz="950" dirty="0"/>
          </a:p>
        </p:txBody>
      </p:sp>
      <p:sp>
        <p:nvSpPr>
          <p:cNvPr id="9" name="Text 6"/>
          <p:cNvSpPr/>
          <p:nvPr/>
        </p:nvSpPr>
        <p:spPr>
          <a:xfrm>
            <a:off x="758952" y="2670048"/>
            <a:ext cx="4971136" cy="914400"/>
          </a:xfrm>
          <a:prstGeom prst="rect">
            <a:avLst/>
          </a:prstGeom>
          <a:noFill/>
          <a:ln/>
        </p:spPr>
        <p:txBody>
          <a:bodyPr wrap="square" lIns="0" tIns="0" rIns="0" bIns="0" rtlCol="0" anchor="t"/>
          <a:lstStyle/>
          <a:p>
            <a:pPr indent="0" marL="0">
              <a:lnSpc>
                <a:spcPct val="112000"/>
              </a:lnSpc>
              <a:buNone/>
            </a:pPr>
            <a:r>
              <a:rPr lang="en-US" sz="1150" dirty="0">
                <a:solidFill>
                  <a:srgbClr val="1C2430"/>
                </a:solidFill>
                <a:latin typeface="Calibri" pitchFamily="34" charset="0"/>
                <a:ea typeface="Calibri" pitchFamily="34" charset="-122"/>
                <a:cs typeface="Calibri" pitchFamily="34" charset="-120"/>
              </a:rPr>
              <a:t>Taux directeur → structure par terme → valorisation des titres obligataires (mécanique et immédiat)</a:t>
            </a:r>
            <a:endParaRPr lang="en-US" sz="1150" dirty="0"/>
          </a:p>
        </p:txBody>
      </p:sp>
      <p:sp>
        <p:nvSpPr>
          <p:cNvPr id="10" name="Shape 7"/>
          <p:cNvSpPr/>
          <p:nvPr/>
        </p:nvSpPr>
        <p:spPr>
          <a:xfrm>
            <a:off x="6205576" y="1783080"/>
            <a:ext cx="5483200" cy="1965960"/>
          </a:xfrm>
          <a:prstGeom prst="roundRect">
            <a:avLst>
              <a:gd name="adj" fmla="val 4186"/>
            </a:avLst>
          </a:prstGeom>
          <a:solidFill>
            <a:srgbClr val="F4F6FB"/>
          </a:solidFill>
          <a:ln/>
          <a:effectLst>
            <a:outerShdw sx="100000" sy="100000" kx="0" ky="0" algn="bl" rotWithShape="0" blurRad="76200" dist="25400" dir="5400000">
              <a:srgbClr val="9AA5B8">
                <a:alpha val="25000"/>
              </a:srgbClr>
            </a:outerShdw>
          </a:effectLst>
        </p:spPr>
      </p:sp>
      <p:sp>
        <p:nvSpPr>
          <p:cNvPr id="11" name="Shape 8"/>
          <p:cNvSpPr/>
          <p:nvPr/>
        </p:nvSpPr>
        <p:spPr>
          <a:xfrm>
            <a:off x="6461608" y="2020824"/>
            <a:ext cx="502920" cy="502920"/>
          </a:xfrm>
          <a:prstGeom prst="ellipse">
            <a:avLst/>
          </a:prstGeom>
          <a:solidFill>
            <a:srgbClr val="009FDF"/>
          </a:solidFill>
          <a:ln/>
        </p:spPr>
      </p:sp>
      <p:pic>
        <p:nvPicPr>
          <p:cNvPr id="12" name="Image 1" descr="/tmp/claude-0/-home-user-Quant-Trade/38df2136-4dac-5b45-a6c7-4baf7be7dbaa/scratchpad/deck/icons/trending_white.png">    </p:cNvPr>
          <p:cNvPicPr>
            <a:picLocks noChangeAspect="1"/>
          </p:cNvPicPr>
          <p:nvPr/>
        </p:nvPicPr>
        <p:blipFill>
          <a:blip r:embed="rId2"/>
          <a:stretch>
            <a:fillRect/>
          </a:stretch>
        </p:blipFill>
        <p:spPr>
          <a:xfrm>
            <a:off x="6526987" y="2086204"/>
            <a:ext cx="372161" cy="372161"/>
          </a:xfrm>
          <a:prstGeom prst="rect">
            <a:avLst/>
          </a:prstGeom>
        </p:spPr>
      </p:pic>
      <p:sp>
        <p:nvSpPr>
          <p:cNvPr id="13" name="Text 9"/>
          <p:cNvSpPr/>
          <p:nvPr/>
        </p:nvSpPr>
        <p:spPr>
          <a:xfrm>
            <a:off x="7147408" y="2002536"/>
            <a:ext cx="4285336" cy="292608"/>
          </a:xfrm>
          <a:prstGeom prst="rect">
            <a:avLst/>
          </a:prstGeom>
          <a:noFill/>
          <a:ln/>
        </p:spPr>
        <p:txBody>
          <a:bodyPr wrap="square" lIns="0" tIns="0" rIns="0" bIns="0" rtlCol="0" anchor="t"/>
          <a:lstStyle/>
          <a:p>
            <a:pPr indent="0" marL="0">
              <a:buNone/>
            </a:pPr>
            <a:r>
              <a:rPr lang="en-US" sz="1400" b="1" dirty="0">
                <a:solidFill>
                  <a:srgbClr val="001E60"/>
                </a:solidFill>
                <a:latin typeface="Calibri" pitchFamily="34" charset="0"/>
                <a:ea typeface="Calibri" pitchFamily="34" charset="-122"/>
                <a:cs typeface="Calibri" pitchFamily="34" charset="-120"/>
              </a:rPr>
              <a:t>Canal du prix des actifs</a:t>
            </a:r>
            <a:endParaRPr lang="en-US" sz="1400" dirty="0"/>
          </a:p>
        </p:txBody>
      </p:sp>
      <p:sp>
        <p:nvSpPr>
          <p:cNvPr id="14" name="Text 10"/>
          <p:cNvSpPr/>
          <p:nvPr/>
        </p:nvSpPr>
        <p:spPr>
          <a:xfrm>
            <a:off x="7147408" y="2286000"/>
            <a:ext cx="4285336" cy="219456"/>
          </a:xfrm>
          <a:prstGeom prst="rect">
            <a:avLst/>
          </a:prstGeom>
          <a:noFill/>
          <a:ln/>
        </p:spPr>
        <p:txBody>
          <a:bodyPr wrap="square" lIns="0" tIns="0" rIns="0" bIns="0" rtlCol="0" anchor="ctr"/>
          <a:lstStyle/>
          <a:p>
            <a:pPr indent="0" marL="0">
              <a:buNone/>
            </a:pPr>
            <a:r>
              <a:rPr lang="en-US" sz="950" i="1" dirty="0">
                <a:solidFill>
                  <a:srgbClr val="6B7686"/>
                </a:solidFill>
                <a:latin typeface="Calibri" pitchFamily="34" charset="0"/>
                <a:ea typeface="Calibri" pitchFamily="34" charset="-122"/>
                <a:cs typeface="Calibri" pitchFamily="34" charset="-120"/>
              </a:rPr>
              <a:t>Tobin, 1969</a:t>
            </a:r>
            <a:endParaRPr lang="en-US" sz="950" dirty="0"/>
          </a:p>
        </p:txBody>
      </p:sp>
      <p:sp>
        <p:nvSpPr>
          <p:cNvPr id="15" name="Text 11"/>
          <p:cNvSpPr/>
          <p:nvPr/>
        </p:nvSpPr>
        <p:spPr>
          <a:xfrm>
            <a:off x="6461608" y="2670048"/>
            <a:ext cx="4971136" cy="914400"/>
          </a:xfrm>
          <a:prstGeom prst="rect">
            <a:avLst/>
          </a:prstGeom>
          <a:noFill/>
          <a:ln/>
        </p:spPr>
        <p:txBody>
          <a:bodyPr wrap="square" lIns="0" tIns="0" rIns="0" bIns="0" rtlCol="0" anchor="t"/>
          <a:lstStyle/>
          <a:p>
            <a:pPr indent="0" marL="0">
              <a:lnSpc>
                <a:spcPct val="112000"/>
              </a:lnSpc>
              <a:buNone/>
            </a:pPr>
            <a:r>
              <a:rPr lang="en-US" sz="1150" dirty="0">
                <a:solidFill>
                  <a:srgbClr val="1C2430"/>
                </a:solidFill>
                <a:latin typeface="Calibri" pitchFamily="34" charset="0"/>
                <a:ea typeface="Calibri" pitchFamily="34" charset="-122"/>
                <a:cs typeface="Calibri" pitchFamily="34" charset="-120"/>
              </a:rPr>
              <a:t>Achats d'actifs (APP, PEPP) → prix des actifs → effets de richesse et d'investissement</a:t>
            </a:r>
            <a:endParaRPr lang="en-US" sz="1150" dirty="0"/>
          </a:p>
        </p:txBody>
      </p:sp>
      <p:sp>
        <p:nvSpPr>
          <p:cNvPr id="16" name="Shape 12"/>
          <p:cNvSpPr/>
          <p:nvPr/>
        </p:nvSpPr>
        <p:spPr>
          <a:xfrm>
            <a:off x="502920" y="3931920"/>
            <a:ext cx="5483200" cy="1965960"/>
          </a:xfrm>
          <a:prstGeom prst="roundRect">
            <a:avLst>
              <a:gd name="adj" fmla="val 4186"/>
            </a:avLst>
          </a:prstGeom>
          <a:solidFill>
            <a:srgbClr val="F4F6FB"/>
          </a:solidFill>
          <a:ln/>
          <a:effectLst>
            <a:outerShdw sx="100000" sy="100000" kx="0" ky="0" algn="bl" rotWithShape="0" blurRad="76200" dist="25400" dir="5400000">
              <a:srgbClr val="9AA5B8">
                <a:alpha val="25000"/>
              </a:srgbClr>
            </a:outerShdw>
          </a:effectLst>
        </p:spPr>
      </p:sp>
      <p:sp>
        <p:nvSpPr>
          <p:cNvPr id="17" name="Shape 13"/>
          <p:cNvSpPr/>
          <p:nvPr/>
        </p:nvSpPr>
        <p:spPr>
          <a:xfrm>
            <a:off x="758952" y="4169664"/>
            <a:ext cx="502920" cy="502920"/>
          </a:xfrm>
          <a:prstGeom prst="ellipse">
            <a:avLst/>
          </a:prstGeom>
          <a:solidFill>
            <a:srgbClr val="FF8200"/>
          </a:solidFill>
          <a:ln/>
        </p:spPr>
      </p:sp>
      <p:pic>
        <p:nvPicPr>
          <p:cNvPr id="18" name="Image 2" descr="/tmp/claude-0/-home-user-Quant-Trade/38df2136-4dac-5b45-a6c7-4baf7be7dbaa/scratchpad/deck/icons/shield_white.png">    </p:cNvPr>
          <p:cNvPicPr>
            <a:picLocks noChangeAspect="1"/>
          </p:cNvPicPr>
          <p:nvPr/>
        </p:nvPicPr>
        <p:blipFill>
          <a:blip r:embed="rId3"/>
          <a:stretch>
            <a:fillRect/>
          </a:stretch>
        </p:blipFill>
        <p:spPr>
          <a:xfrm>
            <a:off x="824332" y="4235044"/>
            <a:ext cx="372161" cy="372161"/>
          </a:xfrm>
          <a:prstGeom prst="rect">
            <a:avLst/>
          </a:prstGeom>
        </p:spPr>
      </p:pic>
      <p:sp>
        <p:nvSpPr>
          <p:cNvPr id="19" name="Text 14"/>
          <p:cNvSpPr/>
          <p:nvPr/>
        </p:nvSpPr>
        <p:spPr>
          <a:xfrm>
            <a:off x="1444752" y="4151376"/>
            <a:ext cx="4285336" cy="292608"/>
          </a:xfrm>
          <a:prstGeom prst="rect">
            <a:avLst/>
          </a:prstGeom>
          <a:noFill/>
          <a:ln/>
        </p:spPr>
        <p:txBody>
          <a:bodyPr wrap="square" lIns="0" tIns="0" rIns="0" bIns="0" rtlCol="0" anchor="t"/>
          <a:lstStyle/>
          <a:p>
            <a:pPr indent="0" marL="0">
              <a:buNone/>
            </a:pPr>
            <a:r>
              <a:rPr lang="en-US" sz="1400" b="1" dirty="0">
                <a:solidFill>
                  <a:srgbClr val="001E60"/>
                </a:solidFill>
                <a:latin typeface="Calibri" pitchFamily="34" charset="0"/>
                <a:ea typeface="Calibri" pitchFamily="34" charset="-122"/>
                <a:cs typeface="Calibri" pitchFamily="34" charset="-120"/>
              </a:rPr>
              <a:t>Canal de la prise de risque</a:t>
            </a:r>
            <a:endParaRPr lang="en-US" sz="1400" dirty="0"/>
          </a:p>
        </p:txBody>
      </p:sp>
      <p:sp>
        <p:nvSpPr>
          <p:cNvPr id="20" name="Text 15"/>
          <p:cNvSpPr/>
          <p:nvPr/>
        </p:nvSpPr>
        <p:spPr>
          <a:xfrm>
            <a:off x="1444752" y="4434840"/>
            <a:ext cx="4285336" cy="219456"/>
          </a:xfrm>
          <a:prstGeom prst="rect">
            <a:avLst/>
          </a:prstGeom>
          <a:noFill/>
          <a:ln/>
        </p:spPr>
        <p:txBody>
          <a:bodyPr wrap="square" lIns="0" tIns="0" rIns="0" bIns="0" rtlCol="0" anchor="ctr"/>
          <a:lstStyle/>
          <a:p>
            <a:pPr indent="0" marL="0">
              <a:buNone/>
            </a:pPr>
            <a:r>
              <a:rPr lang="en-US" sz="950" i="1" dirty="0">
                <a:solidFill>
                  <a:srgbClr val="6B7686"/>
                </a:solidFill>
                <a:latin typeface="Calibri" pitchFamily="34" charset="0"/>
                <a:ea typeface="Calibri" pitchFamily="34" charset="-122"/>
                <a:cs typeface="Calibri" pitchFamily="34" charset="-120"/>
              </a:rPr>
              <a:t>Borio &amp; Zhu, 2012 ; Bekaert et al., 2013</a:t>
            </a:r>
            <a:endParaRPr lang="en-US" sz="950" dirty="0"/>
          </a:p>
        </p:txBody>
      </p:sp>
      <p:sp>
        <p:nvSpPr>
          <p:cNvPr id="21" name="Text 16"/>
          <p:cNvSpPr/>
          <p:nvPr/>
        </p:nvSpPr>
        <p:spPr>
          <a:xfrm>
            <a:off x="758952" y="4818888"/>
            <a:ext cx="4971136" cy="914400"/>
          </a:xfrm>
          <a:prstGeom prst="rect">
            <a:avLst/>
          </a:prstGeom>
          <a:noFill/>
          <a:ln/>
        </p:spPr>
        <p:txBody>
          <a:bodyPr wrap="square" lIns="0" tIns="0" rIns="0" bIns="0" rtlCol="0" anchor="t"/>
          <a:lstStyle/>
          <a:p>
            <a:pPr indent="0" marL="0">
              <a:lnSpc>
                <a:spcPct val="112000"/>
              </a:lnSpc>
              <a:buNone/>
            </a:pPr>
            <a:r>
              <a:rPr lang="en-US" sz="1150" dirty="0">
                <a:solidFill>
                  <a:srgbClr val="1C2430"/>
                </a:solidFill>
                <a:latin typeface="Calibri" pitchFamily="34" charset="0"/>
                <a:ea typeface="Calibri" pitchFamily="34" charset="-122"/>
                <a:cs typeface="Calibri" pitchFamily="34" charset="-120"/>
              </a:rPr>
              <a:t>Conditions monétaires → appétit pour le risque → prime de risque sur le marché actions</a:t>
            </a:r>
            <a:endParaRPr lang="en-US" sz="1150" dirty="0"/>
          </a:p>
        </p:txBody>
      </p:sp>
      <p:sp>
        <p:nvSpPr>
          <p:cNvPr id="22" name="Shape 17"/>
          <p:cNvSpPr/>
          <p:nvPr/>
        </p:nvSpPr>
        <p:spPr>
          <a:xfrm>
            <a:off x="6205576" y="3931920"/>
            <a:ext cx="5483200" cy="1965960"/>
          </a:xfrm>
          <a:prstGeom prst="roundRect">
            <a:avLst>
              <a:gd name="adj" fmla="val 4186"/>
            </a:avLst>
          </a:prstGeom>
          <a:solidFill>
            <a:srgbClr val="F4F6FB"/>
          </a:solidFill>
          <a:ln/>
          <a:effectLst>
            <a:outerShdw sx="100000" sy="100000" kx="0" ky="0" algn="bl" rotWithShape="0" blurRad="76200" dist="25400" dir="5400000">
              <a:srgbClr val="9AA5B8">
                <a:alpha val="25000"/>
              </a:srgbClr>
            </a:outerShdw>
          </a:effectLst>
        </p:spPr>
      </p:sp>
      <p:sp>
        <p:nvSpPr>
          <p:cNvPr id="23" name="Shape 18"/>
          <p:cNvSpPr/>
          <p:nvPr/>
        </p:nvSpPr>
        <p:spPr>
          <a:xfrm>
            <a:off x="6461608" y="4169664"/>
            <a:ext cx="502920" cy="502920"/>
          </a:xfrm>
          <a:prstGeom prst="ellipse">
            <a:avLst/>
          </a:prstGeom>
          <a:solidFill>
            <a:srgbClr val="00B398"/>
          </a:solidFill>
          <a:ln/>
        </p:spPr>
      </p:sp>
      <p:pic>
        <p:nvPicPr>
          <p:cNvPr id="24" name="Image 3" descr="/tmp/claude-0/-home-user-Quant-Trade/38df2136-4dac-5b45-a6c7-4baf7be7dbaa/scratchpad/deck/icons/credit_white.png">    </p:cNvPr>
          <p:cNvPicPr>
            <a:picLocks noChangeAspect="1"/>
          </p:cNvPicPr>
          <p:nvPr/>
        </p:nvPicPr>
        <p:blipFill>
          <a:blip r:embed="rId4"/>
          <a:stretch>
            <a:fillRect/>
          </a:stretch>
        </p:blipFill>
        <p:spPr>
          <a:xfrm>
            <a:off x="6526987" y="4235044"/>
            <a:ext cx="372161" cy="372161"/>
          </a:xfrm>
          <a:prstGeom prst="rect">
            <a:avLst/>
          </a:prstGeom>
        </p:spPr>
      </p:pic>
      <p:sp>
        <p:nvSpPr>
          <p:cNvPr id="25" name="Text 19"/>
          <p:cNvSpPr/>
          <p:nvPr/>
        </p:nvSpPr>
        <p:spPr>
          <a:xfrm>
            <a:off x="7147408" y="4151376"/>
            <a:ext cx="4285336" cy="292608"/>
          </a:xfrm>
          <a:prstGeom prst="rect">
            <a:avLst/>
          </a:prstGeom>
          <a:noFill/>
          <a:ln/>
        </p:spPr>
        <p:txBody>
          <a:bodyPr wrap="square" lIns="0" tIns="0" rIns="0" bIns="0" rtlCol="0" anchor="t"/>
          <a:lstStyle/>
          <a:p>
            <a:pPr indent="0" marL="0">
              <a:buNone/>
            </a:pPr>
            <a:r>
              <a:rPr lang="en-US" sz="1400" b="1" dirty="0">
                <a:solidFill>
                  <a:srgbClr val="001E60"/>
                </a:solidFill>
                <a:latin typeface="Calibri" pitchFamily="34" charset="0"/>
                <a:ea typeface="Calibri" pitchFamily="34" charset="-122"/>
                <a:cs typeface="Calibri" pitchFamily="34" charset="-120"/>
              </a:rPr>
              <a:t>Canal du crédit bancaire</a:t>
            </a:r>
            <a:endParaRPr lang="en-US" sz="1400" dirty="0"/>
          </a:p>
        </p:txBody>
      </p:sp>
      <p:sp>
        <p:nvSpPr>
          <p:cNvPr id="26" name="Text 20"/>
          <p:cNvSpPr/>
          <p:nvPr/>
        </p:nvSpPr>
        <p:spPr>
          <a:xfrm>
            <a:off x="7147408" y="4434840"/>
            <a:ext cx="4285336" cy="219456"/>
          </a:xfrm>
          <a:prstGeom prst="rect">
            <a:avLst/>
          </a:prstGeom>
          <a:noFill/>
          <a:ln/>
        </p:spPr>
        <p:txBody>
          <a:bodyPr wrap="square" lIns="0" tIns="0" rIns="0" bIns="0" rtlCol="0" anchor="ctr"/>
          <a:lstStyle/>
          <a:p>
            <a:pPr indent="0" marL="0">
              <a:buNone/>
            </a:pPr>
            <a:r>
              <a:rPr lang="en-US" sz="950" i="1" dirty="0">
                <a:solidFill>
                  <a:srgbClr val="6B7686"/>
                </a:solidFill>
                <a:latin typeface="Calibri" pitchFamily="34" charset="0"/>
                <a:ea typeface="Calibri" pitchFamily="34" charset="-122"/>
                <a:cs typeface="Calibri" pitchFamily="34" charset="-120"/>
              </a:rPr>
              <a:t>Heider, Saidi &amp; Schepens, 2019</a:t>
            </a:r>
            <a:endParaRPr lang="en-US" sz="950" dirty="0"/>
          </a:p>
        </p:txBody>
      </p:sp>
      <p:sp>
        <p:nvSpPr>
          <p:cNvPr id="27" name="Text 21"/>
          <p:cNvSpPr/>
          <p:nvPr/>
        </p:nvSpPr>
        <p:spPr>
          <a:xfrm>
            <a:off x="6461608" y="4818888"/>
            <a:ext cx="4971136" cy="914400"/>
          </a:xfrm>
          <a:prstGeom prst="rect">
            <a:avLst/>
          </a:prstGeom>
          <a:noFill/>
          <a:ln/>
        </p:spPr>
        <p:txBody>
          <a:bodyPr wrap="square" lIns="0" tIns="0" rIns="0" bIns="0" rtlCol="0" anchor="t"/>
          <a:lstStyle/>
          <a:p>
            <a:pPr indent="0" marL="0">
              <a:lnSpc>
                <a:spcPct val="112000"/>
              </a:lnSpc>
              <a:buNone/>
            </a:pPr>
            <a:r>
              <a:rPr lang="en-US" sz="1150" dirty="0">
                <a:solidFill>
                  <a:srgbClr val="1C2430"/>
                </a:solidFill>
                <a:latin typeface="Calibri" pitchFamily="34" charset="0"/>
                <a:ea typeface="Calibri" pitchFamily="34" charset="-122"/>
                <a:cs typeface="Calibri" pitchFamily="34" charset="-120"/>
              </a:rPr>
              <a:t>Conditions monétaires → offre de crédit bancaire (non testé directement — limite assumée du mémoire)</a:t>
            </a:r>
            <a:endParaRPr lang="en-US" sz="1150" dirty="0"/>
          </a:p>
        </p:txBody>
      </p:sp>
      <p:sp>
        <p:nvSpPr>
          <p:cNvPr id="28"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 Contexte, problématique et hypothèses</a:t>
            </a:r>
            <a:endParaRPr lang="en-US" sz="900" dirty="0"/>
          </a:p>
        </p:txBody>
      </p:sp>
      <p:sp>
        <p:nvSpPr>
          <p:cNvPr id="29" name="Text 23"/>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7 /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9448495" y="-1463040"/>
            <a:ext cx="4206240" cy="4206240"/>
          </a:xfrm>
          <a:prstGeom prst="ellipse">
            <a:avLst/>
          </a:prstGeom>
          <a:solidFill>
            <a:srgbClr val="0A2B70"/>
          </a:solidFill>
          <a:ln/>
        </p:spPr>
      </p:sp>
      <p:sp>
        <p:nvSpPr>
          <p:cNvPr id="3" name="Shape 1"/>
          <p:cNvSpPr/>
          <p:nvPr/>
        </p:nvSpPr>
        <p:spPr>
          <a:xfrm>
            <a:off x="-1463040" y="4846320"/>
            <a:ext cx="3291840" cy="3291840"/>
          </a:xfrm>
          <a:prstGeom prst="ellipse">
            <a:avLst/>
          </a:prstGeom>
          <a:solidFill>
            <a:srgbClr val="0A2B70"/>
          </a:solidFill>
          <a:ln/>
        </p:spPr>
      </p:sp>
      <p:sp>
        <p:nvSpPr>
          <p:cNvPr id="4" name="Text 2"/>
          <p:cNvSpPr/>
          <p:nvPr/>
        </p:nvSpPr>
        <p:spPr>
          <a:xfrm>
            <a:off x="502920" y="1965960"/>
            <a:ext cx="2743200" cy="1463040"/>
          </a:xfrm>
          <a:prstGeom prst="rect">
            <a:avLst/>
          </a:prstGeom>
          <a:noFill/>
          <a:ln/>
        </p:spPr>
        <p:txBody>
          <a:bodyPr wrap="square" lIns="0" tIns="0" rIns="0" bIns="0" rtlCol="0" anchor="ctr"/>
          <a:lstStyle/>
          <a:p>
            <a:pPr indent="0" marL="0">
              <a:buNone/>
            </a:pPr>
            <a:r>
              <a:rPr lang="en-US" sz="7000" b="1" dirty="0">
                <a:solidFill>
                  <a:srgbClr val="009FDF"/>
                </a:solidFill>
                <a:latin typeface="Calibri" pitchFamily="34" charset="0"/>
                <a:ea typeface="Calibri" pitchFamily="34" charset="-122"/>
                <a:cs typeface="Calibri" pitchFamily="34" charset="-120"/>
              </a:rPr>
              <a:t>II.</a:t>
            </a:r>
            <a:endParaRPr lang="en-US" sz="7000" dirty="0"/>
          </a:p>
        </p:txBody>
      </p:sp>
      <p:sp>
        <p:nvSpPr>
          <p:cNvPr id="5" name="Text 3"/>
          <p:cNvSpPr/>
          <p:nvPr/>
        </p:nvSpPr>
        <p:spPr>
          <a:xfrm>
            <a:off x="502920" y="3246120"/>
            <a:ext cx="9692640" cy="146304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Démarche méthodologique :</a:t>
            </a:r>
            <a:endParaRPr lang="en-US" sz="3000" dirty="0"/>
          </a:p>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une triangulation empirique</a:t>
            </a:r>
            <a:endParaRPr lang="en-US" sz="3000" dirty="0"/>
          </a:p>
        </p:txBody>
      </p:sp>
      <p:sp>
        <p:nvSpPr>
          <p:cNvPr id="6" name="Text 4"/>
          <p:cNvSpPr/>
          <p:nvPr/>
        </p:nvSpPr>
        <p:spPr>
          <a:xfrm>
            <a:off x="502920" y="4480560"/>
            <a:ext cx="9875520" cy="822960"/>
          </a:xfrm>
          <a:prstGeom prst="rect">
            <a:avLst/>
          </a:prstGeom>
          <a:noFill/>
          <a:ln/>
        </p:spPr>
        <p:txBody>
          <a:bodyPr wrap="square" lIns="0" tIns="0" rIns="0" bIns="0" rtlCol="0" anchor="ctr"/>
          <a:lstStyle/>
          <a:p>
            <a:pPr indent="0" marL="0">
              <a:lnSpc>
                <a:spcPct val="115000"/>
              </a:lnSpc>
              <a:buNone/>
            </a:pPr>
            <a:r>
              <a:rPr lang="en-US" sz="1350" dirty="0">
                <a:solidFill>
                  <a:srgbClr val="AFC2E8"/>
                </a:solidFill>
                <a:latin typeface="Calibri" pitchFamily="34" charset="0"/>
                <a:ea typeface="Calibri" pitchFamily="34" charset="-122"/>
                <a:cs typeface="Calibri" pitchFamily="34" charset="-120"/>
              </a:rPr>
              <a:t>Étude d'événement — gradient boosting interprété par SHAP — modèles économétriques de référence</a:t>
            </a:r>
            <a:endParaRPr lang="en-US" sz="1350" dirty="0"/>
          </a:p>
        </p:txBody>
      </p:sp>
      <p:sp>
        <p:nvSpPr>
          <p:cNvPr id="7" name="Text 5"/>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8 /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LOGIQUE GÉNÉRALE DE LA DÉMARCHE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Trois piliers empiriques complémentaires, non redondants</a:t>
            </a:r>
            <a:endParaRPr lang="en-US" sz="2900" dirty="0"/>
          </a:p>
        </p:txBody>
      </p:sp>
      <p:sp>
        <p:nvSpPr>
          <p:cNvPr id="4" name="Shape 2"/>
          <p:cNvSpPr/>
          <p:nvPr/>
        </p:nvSpPr>
        <p:spPr>
          <a:xfrm>
            <a:off x="502920" y="1874520"/>
            <a:ext cx="3606698" cy="3246120"/>
          </a:xfrm>
          <a:prstGeom prst="roundRect">
            <a:avLst>
              <a:gd name="adj" fmla="val 2535"/>
            </a:avLst>
          </a:prstGeom>
          <a:solidFill>
            <a:srgbClr val="F4F6FB"/>
          </a:solidFill>
          <a:ln/>
          <a:effectLst>
            <a:outerShdw sx="100000" sy="100000" kx="0" ky="0" algn="bl" rotWithShape="0" blurRad="76200" dist="25400" dir="5400000">
              <a:srgbClr val="9AA5B8">
                <a:alpha val="22000"/>
              </a:srgbClr>
            </a:outerShdw>
          </a:effectLst>
        </p:spPr>
      </p:sp>
      <p:sp>
        <p:nvSpPr>
          <p:cNvPr id="5" name="Shape 3"/>
          <p:cNvSpPr/>
          <p:nvPr/>
        </p:nvSpPr>
        <p:spPr>
          <a:xfrm>
            <a:off x="1986229" y="2130552"/>
            <a:ext cx="640080" cy="640080"/>
          </a:xfrm>
          <a:prstGeom prst="ellipse">
            <a:avLst/>
          </a:prstGeom>
          <a:solidFill>
            <a:srgbClr val="003DA5"/>
          </a:solidFill>
          <a:ln/>
        </p:spPr>
      </p:sp>
      <p:pic>
        <p:nvPicPr>
          <p:cNvPr id="6" name="Image 0" descr="/tmp/claude-0/-home-user-Quant-Trade/38df2136-4dac-5b45-a6c7-4baf7be7dbaa/scratchpad/deck/icons/calendar_white.png">    </p:cNvPr>
          <p:cNvPicPr>
            <a:picLocks noChangeAspect="1"/>
          </p:cNvPicPr>
          <p:nvPr/>
        </p:nvPicPr>
        <p:blipFill>
          <a:blip r:embed="rId1"/>
          <a:stretch>
            <a:fillRect/>
          </a:stretch>
        </p:blipFill>
        <p:spPr>
          <a:xfrm>
            <a:off x="2069440" y="2213762"/>
            <a:ext cx="473659" cy="473659"/>
          </a:xfrm>
          <a:prstGeom prst="rect">
            <a:avLst/>
          </a:prstGeom>
        </p:spPr>
      </p:pic>
      <p:sp>
        <p:nvSpPr>
          <p:cNvPr id="7" name="Text 4"/>
          <p:cNvSpPr/>
          <p:nvPr/>
        </p:nvSpPr>
        <p:spPr>
          <a:xfrm>
            <a:off x="667512" y="2926080"/>
            <a:ext cx="3277514" cy="457200"/>
          </a:xfrm>
          <a:prstGeom prst="rect">
            <a:avLst/>
          </a:prstGeom>
          <a:noFill/>
          <a:ln/>
        </p:spPr>
        <p:txBody>
          <a:bodyPr wrap="square" lIns="0" tIns="0" rIns="0" bIns="0" rtlCol="0" anchor="ctr"/>
          <a:lstStyle/>
          <a:p>
            <a:pPr algn="ctr" indent="0" marL="0">
              <a:lnSpc>
                <a:spcPct val="105000"/>
              </a:lnSpc>
              <a:buNone/>
            </a:pPr>
            <a:r>
              <a:rPr lang="en-US" sz="1450" b="1" dirty="0">
                <a:solidFill>
                  <a:srgbClr val="001E60"/>
                </a:solidFill>
                <a:latin typeface="Calibri" pitchFamily="34" charset="0"/>
                <a:ea typeface="Calibri" pitchFamily="34" charset="-122"/>
                <a:cs typeface="Calibri" pitchFamily="34" charset="-120"/>
              </a:rPr>
              <a:t>Étude d'événement</a:t>
            </a:r>
            <a:endParaRPr lang="en-US" sz="1450" dirty="0"/>
          </a:p>
        </p:txBody>
      </p:sp>
      <p:sp>
        <p:nvSpPr>
          <p:cNvPr id="8" name="Text 5"/>
          <p:cNvSpPr/>
          <p:nvPr/>
        </p:nvSpPr>
        <p:spPr>
          <a:xfrm>
            <a:off x="667512" y="3364992"/>
            <a:ext cx="3277514" cy="256032"/>
          </a:xfrm>
          <a:prstGeom prst="rect">
            <a:avLst/>
          </a:prstGeom>
          <a:noFill/>
          <a:ln/>
        </p:spPr>
        <p:txBody>
          <a:bodyPr wrap="square" lIns="0" tIns="0" rIns="0" bIns="0" rtlCol="0" anchor="ctr"/>
          <a:lstStyle/>
          <a:p>
            <a:pPr algn="ctr" indent="0" marL="0">
              <a:buNone/>
            </a:pPr>
            <a:r>
              <a:rPr lang="en-US" sz="1050" i="1" dirty="0">
                <a:solidFill>
                  <a:srgbClr val="6B7686"/>
                </a:solidFill>
                <a:latin typeface="Calibri" pitchFamily="34" charset="0"/>
                <a:ea typeface="Calibri" pitchFamily="34" charset="-122"/>
                <a:cs typeface="Calibri" pitchFamily="34" charset="-120"/>
              </a:rPr>
              <a:t>MacKinlay, 1997</a:t>
            </a:r>
            <a:endParaRPr lang="en-US" sz="1050" dirty="0"/>
          </a:p>
        </p:txBody>
      </p:sp>
      <p:sp>
        <p:nvSpPr>
          <p:cNvPr id="9" name="Text 6"/>
          <p:cNvSpPr/>
          <p:nvPr/>
        </p:nvSpPr>
        <p:spPr>
          <a:xfrm>
            <a:off x="758952" y="3703320"/>
            <a:ext cx="3094634" cy="868680"/>
          </a:xfrm>
          <a:prstGeom prst="rect">
            <a:avLst/>
          </a:prstGeom>
          <a:noFill/>
          <a:ln/>
        </p:spPr>
        <p:txBody>
          <a:bodyPr wrap="square" lIns="0" tIns="0" rIns="0" bIns="0" rtlCol="0" anchor="t"/>
          <a:lstStyle/>
          <a:p>
            <a:pPr algn="ctr" indent="0" marL="0">
              <a:lnSpc>
                <a:spcPct val="115000"/>
              </a:lnSpc>
              <a:buNone/>
            </a:pPr>
            <a:r>
              <a:rPr lang="en-US" sz="1050" dirty="0">
                <a:solidFill>
                  <a:srgbClr val="1C2430"/>
                </a:solidFill>
                <a:latin typeface="Calibri" pitchFamily="34" charset="0"/>
                <a:ea typeface="Calibri" pitchFamily="34" charset="-122"/>
                <a:cs typeface="Calibri" pitchFamily="34" charset="-120"/>
              </a:rPr>
              <a:t>16 réunions BCE · fenêtres [-1;+1], [-1;+5], [-1;+20] jours</a:t>
            </a:r>
            <a:endParaRPr lang="en-US" sz="1050" dirty="0"/>
          </a:p>
        </p:txBody>
      </p:sp>
      <p:sp>
        <p:nvSpPr>
          <p:cNvPr id="10" name="Shape 7"/>
          <p:cNvSpPr/>
          <p:nvPr/>
        </p:nvSpPr>
        <p:spPr>
          <a:xfrm>
            <a:off x="822960" y="4617720"/>
            <a:ext cx="2966618" cy="347472"/>
          </a:xfrm>
          <a:prstGeom prst="roundRect">
            <a:avLst>
              <a:gd name="adj" fmla="val 50000"/>
            </a:avLst>
          </a:prstGeom>
          <a:solidFill>
            <a:srgbClr val="003DA5"/>
          </a:solidFill>
          <a:ln/>
        </p:spPr>
      </p:sp>
      <p:sp>
        <p:nvSpPr>
          <p:cNvPr id="11" name="Text 8"/>
          <p:cNvSpPr/>
          <p:nvPr/>
        </p:nvSpPr>
        <p:spPr>
          <a:xfrm>
            <a:off x="822960" y="4617720"/>
            <a:ext cx="2966618"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Teste H1 et H2</a:t>
            </a:r>
            <a:endParaRPr lang="en-US" sz="1050" dirty="0"/>
          </a:p>
        </p:txBody>
      </p:sp>
      <p:pic>
        <p:nvPicPr>
          <p:cNvPr id="12" name="Image 1" descr="/tmp/claude-0/-home-user-Quant-Trade/38df2136-4dac-5b45-a6c7-4baf7be7dbaa/scratchpad/deck/icons/arrowright_blue.png">    </p:cNvPr>
          <p:cNvPicPr>
            <a:picLocks noChangeAspect="1"/>
          </p:cNvPicPr>
          <p:nvPr/>
        </p:nvPicPr>
        <p:blipFill>
          <a:blip r:embed="rId2"/>
          <a:stretch>
            <a:fillRect/>
          </a:stretch>
        </p:blipFill>
        <p:spPr>
          <a:xfrm>
            <a:off x="4127906" y="3369564"/>
            <a:ext cx="256032" cy="256032"/>
          </a:xfrm>
          <a:prstGeom prst="rect">
            <a:avLst/>
          </a:prstGeom>
        </p:spPr>
      </p:pic>
      <p:sp>
        <p:nvSpPr>
          <p:cNvPr id="13" name="Shape 9"/>
          <p:cNvSpPr/>
          <p:nvPr/>
        </p:nvSpPr>
        <p:spPr>
          <a:xfrm>
            <a:off x="4292498" y="1874520"/>
            <a:ext cx="3606698" cy="3246120"/>
          </a:xfrm>
          <a:prstGeom prst="roundRect">
            <a:avLst>
              <a:gd name="adj" fmla="val 2535"/>
            </a:avLst>
          </a:prstGeom>
          <a:solidFill>
            <a:srgbClr val="F4F6FB"/>
          </a:solidFill>
          <a:ln/>
          <a:effectLst>
            <a:outerShdw sx="100000" sy="100000" kx="0" ky="0" algn="bl" rotWithShape="0" blurRad="76200" dist="25400" dir="5400000">
              <a:srgbClr val="9AA5B8">
                <a:alpha val="22000"/>
              </a:srgbClr>
            </a:outerShdw>
          </a:effectLst>
        </p:spPr>
      </p:sp>
      <p:sp>
        <p:nvSpPr>
          <p:cNvPr id="14" name="Shape 10"/>
          <p:cNvSpPr/>
          <p:nvPr/>
        </p:nvSpPr>
        <p:spPr>
          <a:xfrm>
            <a:off x="5775808" y="2130552"/>
            <a:ext cx="640080" cy="640080"/>
          </a:xfrm>
          <a:prstGeom prst="ellipse">
            <a:avLst/>
          </a:prstGeom>
          <a:solidFill>
            <a:srgbClr val="00B398"/>
          </a:solidFill>
          <a:ln/>
        </p:spPr>
      </p:sp>
      <p:pic>
        <p:nvPicPr>
          <p:cNvPr id="15" name="Image 2" descr="/tmp/claude-0/-home-user-Quant-Trade/38df2136-4dac-5b45-a6c7-4baf7be7dbaa/scratchpad/deck/icons/cpu_white.png">    </p:cNvPr>
          <p:cNvPicPr>
            <a:picLocks noChangeAspect="1"/>
          </p:cNvPicPr>
          <p:nvPr/>
        </p:nvPicPr>
        <p:blipFill>
          <a:blip r:embed="rId3"/>
          <a:stretch>
            <a:fillRect/>
          </a:stretch>
        </p:blipFill>
        <p:spPr>
          <a:xfrm>
            <a:off x="5859018" y="2213762"/>
            <a:ext cx="473659" cy="473659"/>
          </a:xfrm>
          <a:prstGeom prst="rect">
            <a:avLst/>
          </a:prstGeom>
        </p:spPr>
      </p:pic>
      <p:sp>
        <p:nvSpPr>
          <p:cNvPr id="16" name="Text 11"/>
          <p:cNvSpPr/>
          <p:nvPr/>
        </p:nvSpPr>
        <p:spPr>
          <a:xfrm>
            <a:off x="4457090" y="2926080"/>
            <a:ext cx="3277514" cy="457200"/>
          </a:xfrm>
          <a:prstGeom prst="rect">
            <a:avLst/>
          </a:prstGeom>
          <a:noFill/>
          <a:ln/>
        </p:spPr>
        <p:txBody>
          <a:bodyPr wrap="square" lIns="0" tIns="0" rIns="0" bIns="0" rtlCol="0" anchor="ctr"/>
          <a:lstStyle/>
          <a:p>
            <a:pPr algn="ctr" indent="0" marL="0">
              <a:lnSpc>
                <a:spcPct val="105000"/>
              </a:lnSpc>
              <a:buNone/>
            </a:pPr>
            <a:r>
              <a:rPr lang="en-US" sz="1450" b="1" dirty="0">
                <a:solidFill>
                  <a:srgbClr val="001E60"/>
                </a:solidFill>
                <a:latin typeface="Calibri" pitchFamily="34" charset="0"/>
                <a:ea typeface="Calibri" pitchFamily="34" charset="-122"/>
                <a:cs typeface="Calibri" pitchFamily="34" charset="-120"/>
              </a:rPr>
              <a:t>Gradient boosting + SHAP</a:t>
            </a:r>
            <a:endParaRPr lang="en-US" sz="1450" dirty="0"/>
          </a:p>
        </p:txBody>
      </p:sp>
      <p:sp>
        <p:nvSpPr>
          <p:cNvPr id="17" name="Text 12"/>
          <p:cNvSpPr/>
          <p:nvPr/>
        </p:nvSpPr>
        <p:spPr>
          <a:xfrm>
            <a:off x="4457090" y="3364992"/>
            <a:ext cx="3277514" cy="256032"/>
          </a:xfrm>
          <a:prstGeom prst="rect">
            <a:avLst/>
          </a:prstGeom>
          <a:noFill/>
          <a:ln/>
        </p:spPr>
        <p:txBody>
          <a:bodyPr wrap="square" lIns="0" tIns="0" rIns="0" bIns="0" rtlCol="0" anchor="ctr"/>
          <a:lstStyle/>
          <a:p>
            <a:pPr algn="ctr" indent="0" marL="0">
              <a:buNone/>
            </a:pPr>
            <a:r>
              <a:rPr lang="en-US" sz="1050" i="1" dirty="0">
                <a:solidFill>
                  <a:srgbClr val="6B7686"/>
                </a:solidFill>
                <a:latin typeface="Calibri" pitchFamily="34" charset="0"/>
                <a:ea typeface="Calibri" pitchFamily="34" charset="-122"/>
                <a:cs typeface="Calibri" pitchFamily="34" charset="-120"/>
              </a:rPr>
              <a:t>XGBoost / LightGBM</a:t>
            </a:r>
            <a:endParaRPr lang="en-US" sz="1050" dirty="0"/>
          </a:p>
        </p:txBody>
      </p:sp>
      <p:sp>
        <p:nvSpPr>
          <p:cNvPr id="18" name="Text 13"/>
          <p:cNvSpPr/>
          <p:nvPr/>
        </p:nvSpPr>
        <p:spPr>
          <a:xfrm>
            <a:off x="4548530" y="3703320"/>
            <a:ext cx="3094634" cy="868680"/>
          </a:xfrm>
          <a:prstGeom prst="rect">
            <a:avLst/>
          </a:prstGeom>
          <a:noFill/>
          <a:ln/>
        </p:spPr>
        <p:txBody>
          <a:bodyPr wrap="square" lIns="0" tIns="0" rIns="0" bIns="0" rtlCol="0" anchor="t"/>
          <a:lstStyle/>
          <a:p>
            <a:pPr algn="ctr" indent="0" marL="0">
              <a:lnSpc>
                <a:spcPct val="115000"/>
              </a:lnSpc>
              <a:buNone/>
            </a:pPr>
            <a:r>
              <a:rPr lang="en-US" sz="1050" dirty="0">
                <a:solidFill>
                  <a:srgbClr val="1C2430"/>
                </a:solidFill>
                <a:latin typeface="Calibri" pitchFamily="34" charset="0"/>
                <a:ea typeface="Calibri" pitchFamily="34" charset="-122"/>
                <a:cs typeface="Calibri" pitchFamily="34" charset="-120"/>
              </a:rPr>
              <a:t>Modèle joint sur données quotidiennes, validation croisée temporelle</a:t>
            </a:r>
            <a:endParaRPr lang="en-US" sz="1050" dirty="0"/>
          </a:p>
        </p:txBody>
      </p:sp>
      <p:sp>
        <p:nvSpPr>
          <p:cNvPr id="19" name="Shape 14"/>
          <p:cNvSpPr/>
          <p:nvPr/>
        </p:nvSpPr>
        <p:spPr>
          <a:xfrm>
            <a:off x="4612538" y="4617720"/>
            <a:ext cx="2966618" cy="347472"/>
          </a:xfrm>
          <a:prstGeom prst="roundRect">
            <a:avLst>
              <a:gd name="adj" fmla="val 50000"/>
            </a:avLst>
          </a:prstGeom>
          <a:solidFill>
            <a:srgbClr val="00B398"/>
          </a:solidFill>
          <a:ln/>
        </p:spPr>
      </p:sp>
      <p:sp>
        <p:nvSpPr>
          <p:cNvPr id="20" name="Text 15"/>
          <p:cNvSpPr/>
          <p:nvPr/>
        </p:nvSpPr>
        <p:spPr>
          <a:xfrm>
            <a:off x="4612538" y="4617720"/>
            <a:ext cx="2966618"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Teste H3 et H5</a:t>
            </a:r>
            <a:endParaRPr lang="en-US" sz="1050" dirty="0"/>
          </a:p>
        </p:txBody>
      </p:sp>
      <p:pic>
        <p:nvPicPr>
          <p:cNvPr id="21" name="Image 3" descr="/tmp/claude-0/-home-user-Quant-Trade/38df2136-4dac-5b45-a6c7-4baf7be7dbaa/scratchpad/deck/icons/arrowright_blue.png">    </p:cNvPr>
          <p:cNvPicPr>
            <a:picLocks noChangeAspect="1"/>
          </p:cNvPicPr>
          <p:nvPr/>
        </p:nvPicPr>
        <p:blipFill>
          <a:blip r:embed="rId4"/>
          <a:stretch>
            <a:fillRect/>
          </a:stretch>
        </p:blipFill>
        <p:spPr>
          <a:xfrm>
            <a:off x="7917485" y="3369564"/>
            <a:ext cx="256032" cy="256032"/>
          </a:xfrm>
          <a:prstGeom prst="rect">
            <a:avLst/>
          </a:prstGeom>
        </p:spPr>
      </p:pic>
      <p:sp>
        <p:nvSpPr>
          <p:cNvPr id="22" name="Shape 16"/>
          <p:cNvSpPr/>
          <p:nvPr/>
        </p:nvSpPr>
        <p:spPr>
          <a:xfrm>
            <a:off x="8082077" y="1874520"/>
            <a:ext cx="3606698" cy="3246120"/>
          </a:xfrm>
          <a:prstGeom prst="roundRect">
            <a:avLst>
              <a:gd name="adj" fmla="val 2535"/>
            </a:avLst>
          </a:prstGeom>
          <a:solidFill>
            <a:srgbClr val="F4F6FB"/>
          </a:solidFill>
          <a:ln/>
          <a:effectLst>
            <a:outerShdw sx="100000" sy="100000" kx="0" ky="0" algn="bl" rotWithShape="0" blurRad="76200" dist="25400" dir="5400000">
              <a:srgbClr val="9AA5B8">
                <a:alpha val="22000"/>
              </a:srgbClr>
            </a:outerShdw>
          </a:effectLst>
        </p:spPr>
      </p:sp>
      <p:sp>
        <p:nvSpPr>
          <p:cNvPr id="23" name="Shape 17"/>
          <p:cNvSpPr/>
          <p:nvPr/>
        </p:nvSpPr>
        <p:spPr>
          <a:xfrm>
            <a:off x="9565386" y="2130552"/>
            <a:ext cx="640080" cy="640080"/>
          </a:xfrm>
          <a:prstGeom prst="ellipse">
            <a:avLst/>
          </a:prstGeom>
          <a:solidFill>
            <a:srgbClr val="FF8200"/>
          </a:solidFill>
          <a:ln/>
        </p:spPr>
      </p:sp>
      <p:pic>
        <p:nvPicPr>
          <p:cNvPr id="24" name="Image 4" descr="/tmp/claude-0/-home-user-Quant-Trade/38df2136-4dac-5b45-a6c7-4baf7be7dbaa/scratchpad/deck/icons/scale_white.png">    </p:cNvPr>
          <p:cNvPicPr>
            <a:picLocks noChangeAspect="1"/>
          </p:cNvPicPr>
          <p:nvPr/>
        </p:nvPicPr>
        <p:blipFill>
          <a:blip r:embed="rId5"/>
          <a:stretch>
            <a:fillRect/>
          </a:stretch>
        </p:blipFill>
        <p:spPr>
          <a:xfrm>
            <a:off x="9648596" y="2213762"/>
            <a:ext cx="473659" cy="473659"/>
          </a:xfrm>
          <a:prstGeom prst="rect">
            <a:avLst/>
          </a:prstGeom>
        </p:spPr>
      </p:pic>
      <p:sp>
        <p:nvSpPr>
          <p:cNvPr id="25" name="Text 18"/>
          <p:cNvSpPr/>
          <p:nvPr/>
        </p:nvSpPr>
        <p:spPr>
          <a:xfrm>
            <a:off x="8246669" y="2926080"/>
            <a:ext cx="3277514" cy="457200"/>
          </a:xfrm>
          <a:prstGeom prst="rect">
            <a:avLst/>
          </a:prstGeom>
          <a:noFill/>
          <a:ln/>
        </p:spPr>
        <p:txBody>
          <a:bodyPr wrap="square" lIns="0" tIns="0" rIns="0" bIns="0" rtlCol="0" anchor="ctr"/>
          <a:lstStyle/>
          <a:p>
            <a:pPr algn="ctr" indent="0" marL="0">
              <a:lnSpc>
                <a:spcPct val="105000"/>
              </a:lnSpc>
              <a:buNone/>
            </a:pPr>
            <a:r>
              <a:rPr lang="en-US" sz="1450" b="1" dirty="0">
                <a:solidFill>
                  <a:srgbClr val="001E60"/>
                </a:solidFill>
                <a:latin typeface="Calibri" pitchFamily="34" charset="0"/>
                <a:ea typeface="Calibri" pitchFamily="34" charset="-122"/>
                <a:cs typeface="Calibri" pitchFamily="34" charset="-120"/>
              </a:rPr>
              <a:t>Modèles de référence</a:t>
            </a:r>
            <a:endParaRPr lang="en-US" sz="1450" dirty="0"/>
          </a:p>
        </p:txBody>
      </p:sp>
      <p:sp>
        <p:nvSpPr>
          <p:cNvPr id="26" name="Text 19"/>
          <p:cNvSpPr/>
          <p:nvPr/>
        </p:nvSpPr>
        <p:spPr>
          <a:xfrm>
            <a:off x="8246669" y="3364992"/>
            <a:ext cx="3277514" cy="256032"/>
          </a:xfrm>
          <a:prstGeom prst="rect">
            <a:avLst/>
          </a:prstGeom>
          <a:noFill/>
          <a:ln/>
        </p:spPr>
        <p:txBody>
          <a:bodyPr wrap="square" lIns="0" tIns="0" rIns="0" bIns="0" rtlCol="0" anchor="ctr"/>
          <a:lstStyle/>
          <a:p>
            <a:pPr algn="ctr" indent="0" marL="0">
              <a:buNone/>
            </a:pPr>
            <a:r>
              <a:rPr lang="en-US" sz="1050" i="1" dirty="0">
                <a:solidFill>
                  <a:srgbClr val="6B7686"/>
                </a:solidFill>
                <a:latin typeface="Calibri" pitchFamily="34" charset="0"/>
                <a:ea typeface="Calibri" pitchFamily="34" charset="-122"/>
                <a:cs typeface="Calibri" pitchFamily="34" charset="-120"/>
              </a:rPr>
              <a:t>VAR · GARCH</a:t>
            </a:r>
            <a:endParaRPr lang="en-US" sz="1050" dirty="0"/>
          </a:p>
        </p:txBody>
      </p:sp>
      <p:sp>
        <p:nvSpPr>
          <p:cNvPr id="27" name="Text 20"/>
          <p:cNvSpPr/>
          <p:nvPr/>
        </p:nvSpPr>
        <p:spPr>
          <a:xfrm>
            <a:off x="8338109" y="3703320"/>
            <a:ext cx="3094634" cy="868680"/>
          </a:xfrm>
          <a:prstGeom prst="rect">
            <a:avLst/>
          </a:prstGeom>
          <a:noFill/>
          <a:ln/>
        </p:spPr>
        <p:txBody>
          <a:bodyPr wrap="square" lIns="0" tIns="0" rIns="0" bIns="0" rtlCol="0" anchor="t"/>
          <a:lstStyle/>
          <a:p>
            <a:pPr algn="ctr" indent="0" marL="0">
              <a:lnSpc>
                <a:spcPct val="115000"/>
              </a:lnSpc>
              <a:buNone/>
            </a:pPr>
            <a:r>
              <a:rPr lang="en-US" sz="1050" dirty="0">
                <a:solidFill>
                  <a:srgbClr val="1C2430"/>
                </a:solidFill>
                <a:latin typeface="Calibri" pitchFamily="34" charset="0"/>
                <a:ea typeface="Calibri" pitchFamily="34" charset="-122"/>
                <a:cs typeface="Calibri" pitchFamily="34" charset="-120"/>
              </a:rPr>
              <a:t>Benchmarks économétriques classiques de la littérature</a:t>
            </a:r>
            <a:endParaRPr lang="en-US" sz="1050" dirty="0"/>
          </a:p>
        </p:txBody>
      </p:sp>
      <p:sp>
        <p:nvSpPr>
          <p:cNvPr id="28" name="Shape 21"/>
          <p:cNvSpPr/>
          <p:nvPr/>
        </p:nvSpPr>
        <p:spPr>
          <a:xfrm>
            <a:off x="8402117" y="4617720"/>
            <a:ext cx="2966618" cy="347472"/>
          </a:xfrm>
          <a:prstGeom prst="roundRect">
            <a:avLst>
              <a:gd name="adj" fmla="val 50000"/>
            </a:avLst>
          </a:prstGeom>
          <a:solidFill>
            <a:srgbClr val="FF8200"/>
          </a:solidFill>
          <a:ln/>
        </p:spPr>
      </p:sp>
      <p:sp>
        <p:nvSpPr>
          <p:cNvPr id="29" name="Text 22"/>
          <p:cNvSpPr/>
          <p:nvPr/>
        </p:nvSpPr>
        <p:spPr>
          <a:xfrm>
            <a:off x="8402117" y="4617720"/>
            <a:ext cx="2966618"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Teste H4</a:t>
            </a:r>
            <a:endParaRPr lang="en-US" sz="1050" dirty="0"/>
          </a:p>
        </p:txBody>
      </p:sp>
      <p:sp>
        <p:nvSpPr>
          <p:cNvPr id="30" name="Text 23"/>
          <p:cNvSpPr/>
          <p:nvPr/>
        </p:nvSpPr>
        <p:spPr>
          <a:xfrm>
            <a:off x="502920" y="5376672"/>
            <a:ext cx="11185855" cy="457200"/>
          </a:xfrm>
          <a:prstGeom prst="rect">
            <a:avLst/>
          </a:prstGeom>
          <a:noFill/>
          <a:ln/>
        </p:spPr>
        <p:txBody>
          <a:bodyPr wrap="square" lIns="0" tIns="0" rIns="0" bIns="0" rtlCol="0" anchor="ctr"/>
          <a:lstStyle/>
          <a:p>
            <a:pPr algn="ctr" indent="0" marL="0">
              <a:buNone/>
            </a:pPr>
            <a:r>
              <a:rPr lang="en-US" sz="1150" i="1" dirty="0">
                <a:solidFill>
                  <a:srgbClr val="6B7686"/>
                </a:solidFill>
                <a:latin typeface="Calibri" pitchFamily="34" charset="0"/>
                <a:ea typeface="Calibri" pitchFamily="34" charset="-122"/>
                <a:cs typeface="Calibri" pitchFamily="34" charset="-120"/>
              </a:rPr>
              <a:t>Validité interne : fenêtres contrôlées + validation croisée temporelle (aucune fuite d'information).  Validité externe : une décennie complète, trois régimes contrastés.</a:t>
            </a:r>
            <a:endParaRPr lang="en-US" sz="1150" dirty="0"/>
          </a:p>
        </p:txBody>
      </p:sp>
      <p:sp>
        <p:nvSpPr>
          <p:cNvPr id="31"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 Démarche méthodologique</a:t>
            </a:r>
            <a:endParaRPr lang="en-US" sz="900" dirty="0"/>
          </a:p>
        </p:txBody>
      </p:sp>
      <p:sp>
        <p:nvSpPr>
          <p:cNvPr id="32" name="Text 25"/>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9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DONNÉES ET VARIABLES</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Cinq variables de marché, un ensemble de canaux explicatifs</a:t>
            </a:r>
            <a:endParaRPr lang="en-US" sz="2900" dirty="0"/>
          </a:p>
        </p:txBody>
      </p:sp>
      <p:sp>
        <p:nvSpPr>
          <p:cNvPr id="4" name="Shape 2"/>
          <p:cNvSpPr/>
          <p:nvPr/>
        </p:nvSpPr>
        <p:spPr>
          <a:xfrm>
            <a:off x="502920" y="1783080"/>
            <a:ext cx="5483200" cy="1874520"/>
          </a:xfrm>
          <a:prstGeom prst="roundRect">
            <a:avLst>
              <a:gd name="adj" fmla="val 4390"/>
            </a:avLst>
          </a:prstGeom>
          <a:solidFill>
            <a:srgbClr val="F4F6FB"/>
          </a:solidFill>
          <a:ln/>
          <a:effectLst>
            <a:outerShdw sx="100000" sy="100000" kx="0" ky="0" algn="bl" rotWithShape="0" blurRad="76200" dist="25400" dir="5400000">
              <a:srgbClr val="9AA5B8">
                <a:alpha val="25000"/>
              </a:srgbClr>
            </a:outerShdw>
          </a:effectLst>
        </p:spPr>
      </p:sp>
      <p:sp>
        <p:nvSpPr>
          <p:cNvPr id="5" name="Shape 3"/>
          <p:cNvSpPr/>
          <p:nvPr/>
        </p:nvSpPr>
        <p:spPr>
          <a:xfrm>
            <a:off x="758952" y="2020824"/>
            <a:ext cx="502920" cy="502920"/>
          </a:xfrm>
          <a:prstGeom prst="ellipse">
            <a:avLst/>
          </a:prstGeom>
          <a:solidFill>
            <a:srgbClr val="003DA5"/>
          </a:solidFill>
          <a:ln/>
        </p:spPr>
      </p:sp>
      <p:pic>
        <p:nvPicPr>
          <p:cNvPr id="6" name="Image 0" descr="/tmp/claude-0/-home-user-Quant-Trade/38df2136-4dac-5b45-a6c7-4baf7be7dbaa/scratchpad/deck/icons/trending_white.png">    </p:cNvPr>
          <p:cNvPicPr>
            <a:picLocks noChangeAspect="1"/>
          </p:cNvPicPr>
          <p:nvPr/>
        </p:nvPicPr>
        <p:blipFill>
          <a:blip r:embed="rId1"/>
          <a:stretch>
            <a:fillRect/>
          </a:stretch>
        </p:blipFill>
        <p:spPr>
          <a:xfrm>
            <a:off x="824332" y="2086204"/>
            <a:ext cx="372161" cy="372161"/>
          </a:xfrm>
          <a:prstGeom prst="rect">
            <a:avLst/>
          </a:prstGeom>
        </p:spPr>
      </p:pic>
      <p:sp>
        <p:nvSpPr>
          <p:cNvPr id="7" name="Text 4"/>
          <p:cNvSpPr/>
          <p:nvPr/>
        </p:nvSpPr>
        <p:spPr>
          <a:xfrm>
            <a:off x="1444752" y="2002536"/>
            <a:ext cx="4468216" cy="502920"/>
          </a:xfrm>
          <a:prstGeom prst="rect">
            <a:avLst/>
          </a:prstGeom>
          <a:noFill/>
          <a:ln/>
        </p:spPr>
        <p:txBody>
          <a:bodyPr wrap="square" lIns="0" tIns="0" rIns="0" bIns="0" rtlCol="0" anchor="ctr"/>
          <a:lstStyle/>
          <a:p>
            <a:pPr indent="0" marL="0">
              <a:lnSpc>
                <a:spcPct val="100000"/>
              </a:lnSpc>
              <a:buNone/>
            </a:pPr>
            <a:r>
              <a:rPr lang="en-US" sz="1450" b="1" dirty="0">
                <a:solidFill>
                  <a:srgbClr val="001E60"/>
                </a:solidFill>
                <a:latin typeface="Calibri" pitchFamily="34" charset="0"/>
                <a:ea typeface="Calibri" pitchFamily="34" charset="-122"/>
                <a:cs typeface="Calibri" pitchFamily="34" charset="-120"/>
              </a:rPr>
              <a:t>Marché obligataire</a:t>
            </a:r>
            <a:endParaRPr lang="en-US" sz="1450" dirty="0"/>
          </a:p>
        </p:txBody>
      </p:sp>
      <p:sp>
        <p:nvSpPr>
          <p:cNvPr id="8" name="Text 5"/>
          <p:cNvSpPr/>
          <p:nvPr/>
        </p:nvSpPr>
        <p:spPr>
          <a:xfrm>
            <a:off x="758952" y="2615184"/>
            <a:ext cx="4971136" cy="859536"/>
          </a:xfrm>
          <a:prstGeom prst="rect">
            <a:avLst/>
          </a:prstGeom>
          <a:noFill/>
          <a:ln/>
        </p:spPr>
        <p:txBody>
          <a:bodyPr wrap="square" lIns="0" tIns="0" rIns="0" bIns="0" rtlCol="0" anchor="t"/>
          <a:lstStyle/>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Bund allemand 10 ans (BUND_10Y_CHG)</a:t>
            </a:r>
            <a:endParaRPr lang="en-US" sz="1150" dirty="0"/>
          </a:p>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OAT française 10 ans (OAT_10Y_CHG)</a:t>
            </a:r>
            <a:endParaRPr lang="en-US" sz="1150" dirty="0"/>
          </a:p>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Spread souverain BTP–Bund — fragmentation intra-zone</a:t>
            </a:r>
            <a:endParaRPr lang="en-US" sz="1150" dirty="0"/>
          </a:p>
        </p:txBody>
      </p:sp>
      <p:sp>
        <p:nvSpPr>
          <p:cNvPr id="9" name="Shape 6"/>
          <p:cNvSpPr/>
          <p:nvPr/>
        </p:nvSpPr>
        <p:spPr>
          <a:xfrm>
            <a:off x="6205576" y="1783080"/>
            <a:ext cx="5483200" cy="1874520"/>
          </a:xfrm>
          <a:prstGeom prst="roundRect">
            <a:avLst>
              <a:gd name="adj" fmla="val 4390"/>
            </a:avLst>
          </a:prstGeom>
          <a:solidFill>
            <a:srgbClr val="F4F6FB"/>
          </a:solidFill>
          <a:ln/>
          <a:effectLst>
            <a:outerShdw sx="100000" sy="100000" kx="0" ky="0" algn="bl" rotWithShape="0" blurRad="76200" dist="25400" dir="5400000">
              <a:srgbClr val="9AA5B8">
                <a:alpha val="25000"/>
              </a:srgbClr>
            </a:outerShdw>
          </a:effectLst>
        </p:spPr>
      </p:sp>
      <p:sp>
        <p:nvSpPr>
          <p:cNvPr id="10" name="Shape 7"/>
          <p:cNvSpPr/>
          <p:nvPr/>
        </p:nvSpPr>
        <p:spPr>
          <a:xfrm>
            <a:off x="6461608" y="2020824"/>
            <a:ext cx="502920" cy="502920"/>
          </a:xfrm>
          <a:prstGeom prst="ellipse">
            <a:avLst/>
          </a:prstGeom>
          <a:solidFill>
            <a:srgbClr val="FF8200"/>
          </a:solidFill>
          <a:ln/>
        </p:spPr>
      </p:sp>
      <p:pic>
        <p:nvPicPr>
          <p:cNvPr id="11" name="Image 1" descr="/tmp/claude-0/-home-user-Quant-Trade/38df2136-4dac-5b45-a6c7-4baf7be7dbaa/scratchpad/deck/icons/barchart_white.png">    </p:cNvPr>
          <p:cNvPicPr>
            <a:picLocks noChangeAspect="1"/>
          </p:cNvPicPr>
          <p:nvPr/>
        </p:nvPicPr>
        <p:blipFill>
          <a:blip r:embed="rId2"/>
          <a:stretch>
            <a:fillRect/>
          </a:stretch>
        </p:blipFill>
        <p:spPr>
          <a:xfrm>
            <a:off x="6526987" y="2086204"/>
            <a:ext cx="372161" cy="372161"/>
          </a:xfrm>
          <a:prstGeom prst="rect">
            <a:avLst/>
          </a:prstGeom>
        </p:spPr>
      </p:pic>
      <p:sp>
        <p:nvSpPr>
          <p:cNvPr id="12" name="Text 8"/>
          <p:cNvSpPr/>
          <p:nvPr/>
        </p:nvSpPr>
        <p:spPr>
          <a:xfrm>
            <a:off x="7147408" y="2002536"/>
            <a:ext cx="4468216" cy="502920"/>
          </a:xfrm>
          <a:prstGeom prst="rect">
            <a:avLst/>
          </a:prstGeom>
          <a:noFill/>
          <a:ln/>
        </p:spPr>
        <p:txBody>
          <a:bodyPr wrap="square" lIns="0" tIns="0" rIns="0" bIns="0" rtlCol="0" anchor="ctr"/>
          <a:lstStyle/>
          <a:p>
            <a:pPr indent="0" marL="0">
              <a:lnSpc>
                <a:spcPct val="100000"/>
              </a:lnSpc>
              <a:buNone/>
            </a:pPr>
            <a:r>
              <a:rPr lang="en-US" sz="1450" b="1" dirty="0">
                <a:solidFill>
                  <a:srgbClr val="001E60"/>
                </a:solidFill>
                <a:latin typeface="Calibri" pitchFamily="34" charset="0"/>
                <a:ea typeface="Calibri" pitchFamily="34" charset="-122"/>
                <a:cs typeface="Calibri" pitchFamily="34" charset="-120"/>
              </a:rPr>
              <a:t>Marché actions</a:t>
            </a:r>
            <a:endParaRPr lang="en-US" sz="1450" dirty="0"/>
          </a:p>
        </p:txBody>
      </p:sp>
      <p:sp>
        <p:nvSpPr>
          <p:cNvPr id="13" name="Text 9"/>
          <p:cNvSpPr/>
          <p:nvPr/>
        </p:nvSpPr>
        <p:spPr>
          <a:xfrm>
            <a:off x="6461608" y="2615184"/>
            <a:ext cx="4971136" cy="859536"/>
          </a:xfrm>
          <a:prstGeom prst="rect">
            <a:avLst/>
          </a:prstGeom>
          <a:noFill/>
          <a:ln/>
        </p:spPr>
        <p:txBody>
          <a:bodyPr wrap="square" lIns="0" tIns="0" rIns="0" bIns="0" rtlCol="0" anchor="t"/>
          <a:lstStyle/>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Rendement de l'Eurostoxx 50 (EUROSTOXX_RET)</a:t>
            </a:r>
            <a:endParaRPr lang="en-US" sz="1150" dirty="0"/>
          </a:p>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Volatilité implicite VSTOXX (VSTOXX_CHG) — équivalent européen du VIX</a:t>
            </a:r>
            <a:endParaRPr lang="en-US" sz="1150" dirty="0"/>
          </a:p>
        </p:txBody>
      </p:sp>
      <p:sp>
        <p:nvSpPr>
          <p:cNvPr id="14" name="Text 10"/>
          <p:cNvSpPr/>
          <p:nvPr/>
        </p:nvSpPr>
        <p:spPr>
          <a:xfrm>
            <a:off x="502920" y="3931920"/>
            <a:ext cx="7315200" cy="274320"/>
          </a:xfrm>
          <a:prstGeom prst="rect">
            <a:avLst/>
          </a:prstGeom>
          <a:noFill/>
          <a:ln/>
        </p:spPr>
        <p:txBody>
          <a:bodyPr wrap="square" lIns="0" tIns="0" rIns="0" bIns="0" rtlCol="0" anchor="ctr"/>
          <a:lstStyle/>
          <a:p>
            <a:pPr indent="0" marL="0">
              <a:buNone/>
            </a:pPr>
            <a:r>
              <a:rPr lang="en-US" sz="1150" b="1" spc="100" kern="0" dirty="0">
                <a:solidFill>
                  <a:srgbClr val="6B7686"/>
                </a:solidFill>
                <a:latin typeface="Calibri" pitchFamily="34" charset="0"/>
                <a:ea typeface="Calibri" pitchFamily="34" charset="-122"/>
                <a:cs typeface="Calibri" pitchFamily="34" charset="-120"/>
              </a:rPr>
              <a:t>CANAUX EXPLICATIFS MOBILISÉS</a:t>
            </a:r>
            <a:endParaRPr lang="en-US" sz="1150" dirty="0"/>
          </a:p>
        </p:txBody>
      </p:sp>
      <p:sp>
        <p:nvSpPr>
          <p:cNvPr id="15" name="Shape 11"/>
          <p:cNvSpPr/>
          <p:nvPr/>
        </p:nvSpPr>
        <p:spPr>
          <a:xfrm>
            <a:off x="502920" y="4261104"/>
            <a:ext cx="1428293" cy="365760"/>
          </a:xfrm>
          <a:prstGeom prst="roundRect">
            <a:avLst>
              <a:gd name="adj" fmla="val 50000"/>
            </a:avLst>
          </a:prstGeom>
          <a:solidFill>
            <a:srgbClr val="E7ECF7"/>
          </a:solidFill>
          <a:ln w="9525">
            <a:solidFill>
              <a:srgbClr val="003DA5"/>
            </a:solidFill>
            <a:prstDash val="solid"/>
          </a:ln>
        </p:spPr>
      </p:sp>
      <p:sp>
        <p:nvSpPr>
          <p:cNvPr id="16" name="Text 12"/>
          <p:cNvSpPr/>
          <p:nvPr/>
        </p:nvSpPr>
        <p:spPr>
          <a:xfrm>
            <a:off x="502920" y="4261104"/>
            <a:ext cx="1428293"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Taux directeur</a:t>
            </a:r>
            <a:endParaRPr lang="en-US" sz="1050" dirty="0"/>
          </a:p>
        </p:txBody>
      </p:sp>
      <p:sp>
        <p:nvSpPr>
          <p:cNvPr id="17" name="Shape 13"/>
          <p:cNvSpPr/>
          <p:nvPr/>
        </p:nvSpPr>
        <p:spPr>
          <a:xfrm>
            <a:off x="2132381" y="4261104"/>
            <a:ext cx="2187245" cy="365760"/>
          </a:xfrm>
          <a:prstGeom prst="roundRect">
            <a:avLst>
              <a:gd name="adj" fmla="val 50000"/>
            </a:avLst>
          </a:prstGeom>
          <a:solidFill>
            <a:srgbClr val="E7ECF7"/>
          </a:solidFill>
          <a:ln w="9525">
            <a:solidFill>
              <a:srgbClr val="003DA5"/>
            </a:solidFill>
            <a:prstDash val="solid"/>
          </a:ln>
        </p:spPr>
      </p:sp>
      <p:sp>
        <p:nvSpPr>
          <p:cNvPr id="18" name="Text 14"/>
          <p:cNvSpPr/>
          <p:nvPr/>
        </p:nvSpPr>
        <p:spPr>
          <a:xfrm>
            <a:off x="2132381" y="4261104"/>
            <a:ext cx="2187245"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Achats d'actifs APP/PEPP</a:t>
            </a:r>
            <a:endParaRPr lang="en-US" sz="1050" dirty="0"/>
          </a:p>
        </p:txBody>
      </p:sp>
      <p:sp>
        <p:nvSpPr>
          <p:cNvPr id="19" name="Shape 15"/>
          <p:cNvSpPr/>
          <p:nvPr/>
        </p:nvSpPr>
        <p:spPr>
          <a:xfrm>
            <a:off x="4520794" y="4261104"/>
            <a:ext cx="1580083" cy="365760"/>
          </a:xfrm>
          <a:prstGeom prst="roundRect">
            <a:avLst>
              <a:gd name="adj" fmla="val 50000"/>
            </a:avLst>
          </a:prstGeom>
          <a:solidFill>
            <a:srgbClr val="E7ECF7"/>
          </a:solidFill>
          <a:ln w="9525">
            <a:solidFill>
              <a:srgbClr val="003DA5"/>
            </a:solidFill>
            <a:prstDash val="solid"/>
          </a:ln>
        </p:spPr>
      </p:sp>
      <p:sp>
        <p:nvSpPr>
          <p:cNvPr id="20" name="Text 16"/>
          <p:cNvSpPr/>
          <p:nvPr/>
        </p:nvSpPr>
        <p:spPr>
          <a:xfrm>
            <a:off x="4520794" y="4261104"/>
            <a:ext cx="1580083"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Forward guidance</a:t>
            </a:r>
            <a:endParaRPr lang="en-US" sz="1050" dirty="0"/>
          </a:p>
        </p:txBody>
      </p:sp>
      <p:sp>
        <p:nvSpPr>
          <p:cNvPr id="21" name="Shape 17"/>
          <p:cNvSpPr/>
          <p:nvPr/>
        </p:nvSpPr>
        <p:spPr>
          <a:xfrm>
            <a:off x="6302045" y="4261104"/>
            <a:ext cx="2187245" cy="365760"/>
          </a:xfrm>
          <a:prstGeom prst="roundRect">
            <a:avLst>
              <a:gd name="adj" fmla="val 50000"/>
            </a:avLst>
          </a:prstGeom>
          <a:solidFill>
            <a:srgbClr val="E7ECF7"/>
          </a:solidFill>
          <a:ln w="9525">
            <a:solidFill>
              <a:srgbClr val="003DA5"/>
            </a:solidFill>
            <a:prstDash val="solid"/>
          </a:ln>
        </p:spPr>
      </p:sp>
      <p:sp>
        <p:nvSpPr>
          <p:cNvPr id="22" name="Text 18"/>
          <p:cNvSpPr/>
          <p:nvPr/>
        </p:nvSpPr>
        <p:spPr>
          <a:xfrm>
            <a:off x="6302045" y="4261104"/>
            <a:ext cx="2187245"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Volatilité globale (VIX)</a:t>
            </a:r>
            <a:endParaRPr lang="en-US" sz="1050" dirty="0"/>
          </a:p>
        </p:txBody>
      </p:sp>
      <p:sp>
        <p:nvSpPr>
          <p:cNvPr id="23" name="Shape 19"/>
          <p:cNvSpPr/>
          <p:nvPr/>
        </p:nvSpPr>
        <p:spPr>
          <a:xfrm>
            <a:off x="8690458" y="4261104"/>
            <a:ext cx="2187245" cy="365760"/>
          </a:xfrm>
          <a:prstGeom prst="roundRect">
            <a:avLst>
              <a:gd name="adj" fmla="val 50000"/>
            </a:avLst>
          </a:prstGeom>
          <a:solidFill>
            <a:srgbClr val="E7ECF7"/>
          </a:solidFill>
          <a:ln w="9525">
            <a:solidFill>
              <a:srgbClr val="003DA5"/>
            </a:solidFill>
            <a:prstDash val="solid"/>
          </a:ln>
        </p:spPr>
      </p:sp>
      <p:sp>
        <p:nvSpPr>
          <p:cNvPr id="24" name="Text 20"/>
          <p:cNvSpPr/>
          <p:nvPr/>
        </p:nvSpPr>
        <p:spPr>
          <a:xfrm>
            <a:off x="8690458" y="4261104"/>
            <a:ext cx="2187245"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Fragmentation souveraine</a:t>
            </a:r>
            <a:endParaRPr lang="en-US" sz="1050" dirty="0"/>
          </a:p>
        </p:txBody>
      </p:sp>
      <p:sp>
        <p:nvSpPr>
          <p:cNvPr id="25" name="Shape 21"/>
          <p:cNvSpPr/>
          <p:nvPr/>
        </p:nvSpPr>
        <p:spPr>
          <a:xfrm>
            <a:off x="502920" y="4754880"/>
            <a:ext cx="2794406" cy="365760"/>
          </a:xfrm>
          <a:prstGeom prst="roundRect">
            <a:avLst>
              <a:gd name="adj" fmla="val 50000"/>
            </a:avLst>
          </a:prstGeom>
          <a:solidFill>
            <a:srgbClr val="E7ECF7"/>
          </a:solidFill>
          <a:ln w="9525">
            <a:solidFill>
              <a:srgbClr val="003DA5"/>
            </a:solidFill>
            <a:prstDash val="solid"/>
          </a:ln>
        </p:spPr>
      </p:sp>
      <p:sp>
        <p:nvSpPr>
          <p:cNvPr id="26" name="Text 22"/>
          <p:cNvSpPr/>
          <p:nvPr/>
        </p:nvSpPr>
        <p:spPr>
          <a:xfrm>
            <a:off x="502920" y="4754880"/>
            <a:ext cx="2794406"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Inflation &amp; activité (IPCH, PIB)</a:t>
            </a:r>
            <a:endParaRPr lang="en-US" sz="1050" dirty="0"/>
          </a:p>
        </p:txBody>
      </p:sp>
      <p:sp>
        <p:nvSpPr>
          <p:cNvPr id="27" name="Shape 23"/>
          <p:cNvSpPr/>
          <p:nvPr/>
        </p:nvSpPr>
        <p:spPr>
          <a:xfrm>
            <a:off x="3498494" y="4754880"/>
            <a:ext cx="2035454" cy="365760"/>
          </a:xfrm>
          <a:prstGeom prst="roundRect">
            <a:avLst>
              <a:gd name="adj" fmla="val 50000"/>
            </a:avLst>
          </a:prstGeom>
          <a:solidFill>
            <a:srgbClr val="E7ECF7"/>
          </a:solidFill>
          <a:ln w="9525">
            <a:solidFill>
              <a:srgbClr val="003DA5"/>
            </a:solidFill>
            <a:prstDash val="solid"/>
          </a:ln>
        </p:spPr>
      </p:sp>
      <p:sp>
        <p:nvSpPr>
          <p:cNvPr id="28" name="Text 24"/>
          <p:cNvSpPr/>
          <p:nvPr/>
        </p:nvSpPr>
        <p:spPr>
          <a:xfrm>
            <a:off x="3498494" y="4754880"/>
            <a:ext cx="2035454"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Taux de change EUR/USD</a:t>
            </a:r>
            <a:endParaRPr lang="en-US" sz="1050" dirty="0"/>
          </a:p>
        </p:txBody>
      </p:sp>
      <p:sp>
        <p:nvSpPr>
          <p:cNvPr id="29" name="Shape 25"/>
          <p:cNvSpPr/>
          <p:nvPr/>
        </p:nvSpPr>
        <p:spPr>
          <a:xfrm>
            <a:off x="5735117" y="4754880"/>
            <a:ext cx="1807769" cy="365760"/>
          </a:xfrm>
          <a:prstGeom prst="roundRect">
            <a:avLst>
              <a:gd name="adj" fmla="val 50000"/>
            </a:avLst>
          </a:prstGeom>
          <a:solidFill>
            <a:srgbClr val="E7ECF7"/>
          </a:solidFill>
          <a:ln w="9525">
            <a:solidFill>
              <a:srgbClr val="003DA5"/>
            </a:solidFill>
            <a:prstDash val="solid"/>
          </a:ln>
        </p:spPr>
      </p:sp>
      <p:sp>
        <p:nvSpPr>
          <p:cNvPr id="30" name="Text 26"/>
          <p:cNvSpPr/>
          <p:nvPr/>
        </p:nvSpPr>
        <p:spPr>
          <a:xfrm>
            <a:off x="5735117" y="4754880"/>
            <a:ext cx="1807769"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Mémoire des marchés</a:t>
            </a:r>
            <a:endParaRPr lang="en-US" sz="1050" dirty="0"/>
          </a:p>
        </p:txBody>
      </p:sp>
      <p:sp>
        <p:nvSpPr>
          <p:cNvPr id="31" name="Shape 27"/>
          <p:cNvSpPr/>
          <p:nvPr/>
        </p:nvSpPr>
        <p:spPr>
          <a:xfrm>
            <a:off x="7744054" y="4754880"/>
            <a:ext cx="1580083" cy="365760"/>
          </a:xfrm>
          <a:prstGeom prst="roundRect">
            <a:avLst>
              <a:gd name="adj" fmla="val 50000"/>
            </a:avLst>
          </a:prstGeom>
          <a:solidFill>
            <a:srgbClr val="E7ECF7"/>
          </a:solidFill>
          <a:ln w="9525">
            <a:solidFill>
              <a:srgbClr val="003DA5"/>
            </a:solidFill>
            <a:prstDash val="solid"/>
          </a:ln>
        </p:spPr>
      </p:sp>
      <p:sp>
        <p:nvSpPr>
          <p:cNvPr id="32" name="Text 28"/>
          <p:cNvSpPr/>
          <p:nvPr/>
        </p:nvSpPr>
        <p:spPr>
          <a:xfrm>
            <a:off x="7744054" y="4754880"/>
            <a:ext cx="1580083" cy="365760"/>
          </a:xfrm>
          <a:prstGeom prst="rect">
            <a:avLst/>
          </a:prstGeom>
          <a:noFill/>
          <a:ln/>
        </p:spPr>
        <p:txBody>
          <a:bodyPr wrap="square" lIns="0" tIns="0" rIns="0" bIns="0" rtlCol="0" anchor="ctr"/>
          <a:lstStyle/>
          <a:p>
            <a:pPr algn="ctr" indent="0" marL="0">
              <a:buNone/>
            </a:pPr>
            <a:r>
              <a:rPr lang="en-US" sz="1050" b="1" dirty="0">
                <a:solidFill>
                  <a:srgbClr val="001E60"/>
                </a:solidFill>
                <a:latin typeface="Calibri" pitchFamily="34" charset="0"/>
                <a:ea typeface="Calibri" pitchFamily="34" charset="-122"/>
                <a:cs typeface="Calibri" pitchFamily="34" charset="-120"/>
              </a:rPr>
              <a:t>Régime monétaire</a:t>
            </a:r>
            <a:endParaRPr lang="en-US" sz="1050" dirty="0"/>
          </a:p>
        </p:txBody>
      </p:sp>
      <p:sp>
        <p:nvSpPr>
          <p:cNvPr id="33" name="Text 29"/>
          <p:cNvSpPr/>
          <p:nvPr/>
        </p:nvSpPr>
        <p:spPr>
          <a:xfrm>
            <a:off x="502920" y="5303520"/>
            <a:ext cx="11185855" cy="320040"/>
          </a:xfrm>
          <a:prstGeom prst="rect">
            <a:avLst/>
          </a:prstGeom>
          <a:noFill/>
          <a:ln/>
        </p:spPr>
        <p:txBody>
          <a:bodyPr wrap="square" lIns="0" tIns="0" rIns="0" bIns="0" rtlCol="0" anchor="ctr"/>
          <a:lstStyle/>
          <a:p>
            <a:pPr indent="0" marL="0">
              <a:buNone/>
            </a:pPr>
            <a:r>
              <a:rPr lang="en-US" sz="1050" i="1" dirty="0">
                <a:solidFill>
                  <a:srgbClr val="6B7686"/>
                </a:solidFill>
                <a:latin typeface="Calibri" pitchFamily="34" charset="0"/>
                <a:ea typeface="Calibri" pitchFamily="34" charset="-122"/>
                <a:cs typeface="Calibri" pitchFamily="34" charset="-120"/>
              </a:rPr>
              <a:t>Fréquence quotidienne, 2 449 observations sur 2015–2024 — validation croisée strictement temporelle (aucune fuite d'information du futur vers le passé)</a:t>
            </a:r>
            <a:endParaRPr lang="en-US" sz="1050" dirty="0"/>
          </a:p>
        </p:txBody>
      </p:sp>
      <p:sp>
        <p:nvSpPr>
          <p:cNvPr id="34" name="Text 3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 Démarche méthodologique</a:t>
            </a:r>
            <a:endParaRPr lang="en-US" sz="900" dirty="0"/>
          </a:p>
        </p:txBody>
      </p:sp>
      <p:sp>
        <p:nvSpPr>
          <p:cNvPr id="35" name="Text 31"/>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10 /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PILIER 1</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L'étude d'événement autour des réunions de politique monétaire</a:t>
            </a:r>
            <a:endParaRPr lang="en-US" sz="2900" dirty="0"/>
          </a:p>
        </p:txBody>
      </p:sp>
      <p:sp>
        <p:nvSpPr>
          <p:cNvPr id="4" name="Text 2"/>
          <p:cNvSpPr/>
          <p:nvPr/>
        </p:nvSpPr>
        <p:spPr>
          <a:xfrm>
            <a:off x="502920" y="1783080"/>
            <a:ext cx="11185855" cy="777240"/>
          </a:xfrm>
          <a:prstGeom prst="rect">
            <a:avLst/>
          </a:prstGeom>
          <a:noFill/>
          <a:ln/>
        </p:spPr>
        <p:txBody>
          <a:bodyPr wrap="square" lIns="0" tIns="0" rIns="0" bIns="0" rtlCol="0" anchor="ctr"/>
          <a:lstStyle/>
          <a:p>
            <a:pPr indent="0" marL="0">
              <a:lnSpc>
                <a:spcPct val="120000"/>
              </a:lnSpc>
              <a:buNone/>
            </a:pPr>
            <a:r>
              <a:rPr lang="en-US" sz="1300" dirty="0">
                <a:solidFill>
                  <a:srgbClr val="1C2430"/>
                </a:solidFill>
                <a:latin typeface="Calibri" pitchFamily="34" charset="0"/>
                <a:ea typeface="Calibri" pitchFamily="34" charset="-122"/>
                <a:cs typeface="Calibri" pitchFamily="34" charset="-120"/>
              </a:rPr>
              <a:t>16 réunions du Conseil des gouverneurs retenues sur ~80 tenues entre 2015 et 2024, sélectionnées sur un critère de significativité de la décision (lancement/arrêt d'un programme d'achats, premières hausses ou baisses d'un cycle, surprises documentées) — dans l'esprit de Bernanke &amp; Kuttner (2005).</a:t>
            </a:r>
            <a:endParaRPr lang="en-US" sz="1300" dirty="0"/>
          </a:p>
        </p:txBody>
      </p:sp>
      <p:sp>
        <p:nvSpPr>
          <p:cNvPr id="5" name="Shape 3"/>
          <p:cNvSpPr/>
          <p:nvPr/>
        </p:nvSpPr>
        <p:spPr>
          <a:xfrm>
            <a:off x="502920" y="2788920"/>
            <a:ext cx="3606698" cy="1920240"/>
          </a:xfrm>
          <a:prstGeom prst="roundRect">
            <a:avLst>
              <a:gd name="adj" fmla="val 4286"/>
            </a:avLst>
          </a:prstGeom>
          <a:solidFill>
            <a:srgbClr val="003DA5"/>
          </a:solidFill>
          <a:ln/>
        </p:spPr>
      </p:sp>
      <p:sp>
        <p:nvSpPr>
          <p:cNvPr id="6" name="Text 4"/>
          <p:cNvSpPr/>
          <p:nvPr/>
        </p:nvSpPr>
        <p:spPr>
          <a:xfrm>
            <a:off x="502920" y="3017520"/>
            <a:ext cx="36066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 ; +1]</a:t>
            </a:r>
            <a:endParaRPr lang="en-US" sz="2600" dirty="0"/>
          </a:p>
        </p:txBody>
      </p:sp>
      <p:sp>
        <p:nvSpPr>
          <p:cNvPr id="7" name="Text 5"/>
          <p:cNvSpPr/>
          <p:nvPr/>
        </p:nvSpPr>
        <p:spPr>
          <a:xfrm>
            <a:off x="502920" y="3566160"/>
            <a:ext cx="3606698" cy="274320"/>
          </a:xfrm>
          <a:prstGeom prst="rect">
            <a:avLst/>
          </a:prstGeom>
          <a:noFill/>
          <a:ln/>
        </p:spPr>
        <p:txBody>
          <a:bodyPr wrap="square" lIns="0" tIns="0" rIns="0" bIns="0" rtlCol="0" anchor="ctr"/>
          <a:lstStyle/>
          <a:p>
            <a:pPr algn="ctr" indent="0" marL="0">
              <a:buNone/>
            </a:pPr>
            <a:r>
              <a:rPr lang="en-US" sz="1100" dirty="0">
                <a:solidFill>
                  <a:srgbClr val="E9F1FF"/>
                </a:solidFill>
                <a:latin typeface="Calibri" pitchFamily="34" charset="0"/>
                <a:ea typeface="Calibri" pitchFamily="34" charset="-122"/>
                <a:cs typeface="Calibri" pitchFamily="34" charset="-120"/>
              </a:rPr>
              <a:t>jour de bourse</a:t>
            </a:r>
            <a:endParaRPr lang="en-US" sz="1100" dirty="0"/>
          </a:p>
        </p:txBody>
      </p:sp>
      <p:sp>
        <p:nvSpPr>
          <p:cNvPr id="8" name="Text 6"/>
          <p:cNvSpPr/>
          <p:nvPr/>
        </p:nvSpPr>
        <p:spPr>
          <a:xfrm>
            <a:off x="777240" y="3977640"/>
            <a:ext cx="3058058" cy="6400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Réaction immédiate à l'annonce</a:t>
            </a:r>
            <a:endParaRPr lang="en-US" sz="1150" dirty="0"/>
          </a:p>
        </p:txBody>
      </p:sp>
      <p:sp>
        <p:nvSpPr>
          <p:cNvPr id="9" name="Shape 7"/>
          <p:cNvSpPr/>
          <p:nvPr/>
        </p:nvSpPr>
        <p:spPr>
          <a:xfrm>
            <a:off x="4292498" y="2788920"/>
            <a:ext cx="3606698" cy="1920240"/>
          </a:xfrm>
          <a:prstGeom prst="roundRect">
            <a:avLst>
              <a:gd name="adj" fmla="val 4286"/>
            </a:avLst>
          </a:prstGeom>
          <a:solidFill>
            <a:srgbClr val="009FDF"/>
          </a:solidFill>
          <a:ln/>
        </p:spPr>
      </p:sp>
      <p:sp>
        <p:nvSpPr>
          <p:cNvPr id="10" name="Text 8"/>
          <p:cNvSpPr/>
          <p:nvPr/>
        </p:nvSpPr>
        <p:spPr>
          <a:xfrm>
            <a:off x="4292498" y="3017520"/>
            <a:ext cx="36066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 ; +5]</a:t>
            </a:r>
            <a:endParaRPr lang="en-US" sz="2600" dirty="0"/>
          </a:p>
        </p:txBody>
      </p:sp>
      <p:sp>
        <p:nvSpPr>
          <p:cNvPr id="11" name="Text 9"/>
          <p:cNvSpPr/>
          <p:nvPr/>
        </p:nvSpPr>
        <p:spPr>
          <a:xfrm>
            <a:off x="4292498" y="3566160"/>
            <a:ext cx="3606698" cy="274320"/>
          </a:xfrm>
          <a:prstGeom prst="rect">
            <a:avLst/>
          </a:prstGeom>
          <a:noFill/>
          <a:ln/>
        </p:spPr>
        <p:txBody>
          <a:bodyPr wrap="square" lIns="0" tIns="0" rIns="0" bIns="0" rtlCol="0" anchor="ctr"/>
          <a:lstStyle/>
          <a:p>
            <a:pPr algn="ctr" indent="0" marL="0">
              <a:buNone/>
            </a:pPr>
            <a:r>
              <a:rPr lang="en-US" sz="1100" dirty="0">
                <a:solidFill>
                  <a:srgbClr val="E9F1FF"/>
                </a:solidFill>
                <a:latin typeface="Calibri" pitchFamily="34" charset="0"/>
                <a:ea typeface="Calibri" pitchFamily="34" charset="-122"/>
                <a:cs typeface="Calibri" pitchFamily="34" charset="-120"/>
              </a:rPr>
              <a:t>jours de bourse</a:t>
            </a:r>
            <a:endParaRPr lang="en-US" sz="1100" dirty="0"/>
          </a:p>
        </p:txBody>
      </p:sp>
      <p:sp>
        <p:nvSpPr>
          <p:cNvPr id="12" name="Text 10"/>
          <p:cNvSpPr/>
          <p:nvPr/>
        </p:nvSpPr>
        <p:spPr>
          <a:xfrm>
            <a:off x="4566818" y="3977640"/>
            <a:ext cx="3058058" cy="6400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Ajustement sur une semaine de cotation</a:t>
            </a:r>
            <a:endParaRPr lang="en-US" sz="1150" dirty="0"/>
          </a:p>
        </p:txBody>
      </p:sp>
      <p:sp>
        <p:nvSpPr>
          <p:cNvPr id="13" name="Shape 11"/>
          <p:cNvSpPr/>
          <p:nvPr/>
        </p:nvSpPr>
        <p:spPr>
          <a:xfrm>
            <a:off x="8082077" y="2788920"/>
            <a:ext cx="3606698" cy="1920240"/>
          </a:xfrm>
          <a:prstGeom prst="roundRect">
            <a:avLst>
              <a:gd name="adj" fmla="val 4286"/>
            </a:avLst>
          </a:prstGeom>
          <a:solidFill>
            <a:srgbClr val="00B398"/>
          </a:solidFill>
          <a:ln/>
        </p:spPr>
      </p:sp>
      <p:sp>
        <p:nvSpPr>
          <p:cNvPr id="14" name="Text 12"/>
          <p:cNvSpPr/>
          <p:nvPr/>
        </p:nvSpPr>
        <p:spPr>
          <a:xfrm>
            <a:off x="8082077" y="3017520"/>
            <a:ext cx="36066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 ; +20]</a:t>
            </a:r>
            <a:endParaRPr lang="en-US" sz="2600" dirty="0"/>
          </a:p>
        </p:txBody>
      </p:sp>
      <p:sp>
        <p:nvSpPr>
          <p:cNvPr id="15" name="Text 13"/>
          <p:cNvSpPr/>
          <p:nvPr/>
        </p:nvSpPr>
        <p:spPr>
          <a:xfrm>
            <a:off x="8082077" y="3566160"/>
            <a:ext cx="3606698" cy="274320"/>
          </a:xfrm>
          <a:prstGeom prst="rect">
            <a:avLst/>
          </a:prstGeom>
          <a:noFill/>
          <a:ln/>
        </p:spPr>
        <p:txBody>
          <a:bodyPr wrap="square" lIns="0" tIns="0" rIns="0" bIns="0" rtlCol="0" anchor="ctr"/>
          <a:lstStyle/>
          <a:p>
            <a:pPr algn="ctr" indent="0" marL="0">
              <a:buNone/>
            </a:pPr>
            <a:r>
              <a:rPr lang="en-US" sz="1100" dirty="0">
                <a:solidFill>
                  <a:srgbClr val="E9F1FF"/>
                </a:solidFill>
                <a:latin typeface="Calibri" pitchFamily="34" charset="0"/>
                <a:ea typeface="Calibri" pitchFamily="34" charset="-122"/>
                <a:cs typeface="Calibri" pitchFamily="34" charset="-120"/>
              </a:rPr>
              <a:t>jours de bourse</a:t>
            </a:r>
            <a:endParaRPr lang="en-US" sz="1100" dirty="0"/>
          </a:p>
        </p:txBody>
      </p:sp>
      <p:sp>
        <p:nvSpPr>
          <p:cNvPr id="16" name="Text 14"/>
          <p:cNvSpPr/>
          <p:nvPr/>
        </p:nvSpPr>
        <p:spPr>
          <a:xfrm>
            <a:off x="8356397" y="3977640"/>
            <a:ext cx="3058058" cy="6400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Persistance de l'effet au-delà de l'épisode immédiat</a:t>
            </a:r>
            <a:endParaRPr lang="en-US" sz="1150" dirty="0"/>
          </a:p>
        </p:txBody>
      </p:sp>
      <p:sp>
        <p:nvSpPr>
          <p:cNvPr id="17" name="Text 15"/>
          <p:cNvSpPr/>
          <p:nvPr/>
        </p:nvSpPr>
        <p:spPr>
          <a:xfrm>
            <a:off x="502920" y="4937760"/>
            <a:ext cx="11185855" cy="365760"/>
          </a:xfrm>
          <a:prstGeom prst="rect">
            <a:avLst/>
          </a:prstGeom>
          <a:noFill/>
          <a:ln/>
        </p:spPr>
        <p:txBody>
          <a:bodyPr wrap="square" lIns="0" tIns="0" rIns="0" bIns="0" rtlCol="0" anchor="ctr"/>
          <a:lstStyle/>
          <a:p>
            <a:pPr algn="ctr" indent="0" marL="0">
              <a:buNone/>
            </a:pPr>
            <a:r>
              <a:rPr lang="en-US" sz="1150" i="1" dirty="0">
                <a:solidFill>
                  <a:srgbClr val="6B7686"/>
                </a:solidFill>
                <a:latin typeface="Calibri" pitchFamily="34" charset="0"/>
                <a:ea typeface="Calibri" pitchFamily="34" charset="-122"/>
                <a:cs typeface="Calibri" pitchFamily="34" charset="-120"/>
              </a:rPr>
              <a:t>Double agrégation : par régime monétaire (H2) et par sens de la décision — accommodante vs restrictive (H2)</a:t>
            </a:r>
            <a:endParaRPr lang="en-US" sz="1150" dirty="0"/>
          </a:p>
        </p:txBody>
      </p:sp>
      <p:sp>
        <p:nvSpPr>
          <p:cNvPr id="18"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 Démarche méthodologique</a:t>
            </a:r>
            <a:endParaRPr lang="en-US" sz="900" dirty="0"/>
          </a:p>
        </p:txBody>
      </p:sp>
      <p:sp>
        <p:nvSpPr>
          <p:cNvPr id="19" name="Text 17"/>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11 /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PILIER 2</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Le gradient boosting et l'interprétation par valeurs SHAP</a:t>
            </a:r>
            <a:endParaRPr lang="en-US" sz="2900" dirty="0"/>
          </a:p>
        </p:txBody>
      </p:sp>
      <p:sp>
        <p:nvSpPr>
          <p:cNvPr id="4" name="Text 2"/>
          <p:cNvSpPr/>
          <p:nvPr/>
        </p:nvSpPr>
        <p:spPr>
          <a:xfrm>
            <a:off x="502920" y="1828800"/>
            <a:ext cx="6035040" cy="2743200"/>
          </a:xfrm>
          <a:prstGeom prst="rect">
            <a:avLst/>
          </a:prstGeom>
          <a:noFill/>
          <a:ln/>
        </p:spPr>
        <p:txBody>
          <a:bodyPr wrap="square" lIns="0" tIns="0" rIns="0" bIns="0" rtlCol="0" anchor="t"/>
          <a:lstStyle/>
          <a:p>
            <a:pPr marL="177800" indent="-177800">
              <a:lnSpc>
                <a:spcPct val="112000"/>
              </a:lnSpc>
              <a:spcAft>
                <a:spcPts val="1200"/>
              </a:spcAft>
              <a:buSzPct val="100000"/>
              <a:buChar char="–"/>
            </a:pPr>
            <a:r>
              <a:rPr lang="en-US" sz="1300" dirty="0">
                <a:solidFill>
                  <a:srgbClr val="1C2430"/>
                </a:solidFill>
                <a:latin typeface="Calibri" pitchFamily="34" charset="0"/>
                <a:ea typeface="Calibri" pitchFamily="34" charset="-122"/>
                <a:cs typeface="Calibri" pitchFamily="34" charset="-120"/>
              </a:rPr>
              <a:t>Un algorithme d'apprentissage automatique qui capte des relations non linéaires entre canaux de transmission et marchés, sans imposer de forme fonctionnelle a priori</a:t>
            </a:r>
            <a:endParaRPr lang="en-US" sz="1300" dirty="0"/>
          </a:p>
          <a:p>
            <a:pPr marL="177800" indent="-177800">
              <a:lnSpc>
                <a:spcPct val="112000"/>
              </a:lnSpc>
              <a:spcAft>
                <a:spcPts val="1200"/>
              </a:spcAft>
              <a:buSzPct val="100000"/>
              <a:buChar char="–"/>
            </a:pPr>
            <a:r>
              <a:rPr lang="en-US" sz="1300" dirty="0">
                <a:solidFill>
                  <a:srgbClr val="1C2430"/>
                </a:solidFill>
                <a:latin typeface="Calibri" pitchFamily="34" charset="0"/>
                <a:ea typeface="Calibri" pitchFamily="34" charset="-122"/>
                <a:cs typeface="Calibri" pitchFamily="34" charset="-120"/>
              </a:rPr>
              <a:t>Deux implémentations comparées — XGBoost et LightGBM — sur cinq modèles distincts (un par variable dépendante), afin de ne pas conditionner les résultats à un choix algorithmique unique</a:t>
            </a:r>
            <a:endParaRPr lang="en-US" sz="1300" dirty="0"/>
          </a:p>
          <a:p>
            <a:pPr marL="177800" indent="-177800">
              <a:lnSpc>
                <a:spcPct val="112000"/>
              </a:lnSpc>
              <a:spcAft>
                <a:spcPts val="1200"/>
              </a:spcAft>
              <a:buSzPct val="100000"/>
              <a:buChar char="–"/>
            </a:pPr>
            <a:r>
              <a:rPr lang="en-US" sz="1300" dirty="0">
                <a:solidFill>
                  <a:srgbClr val="1C2430"/>
                </a:solidFill>
                <a:latin typeface="Calibri" pitchFamily="34" charset="0"/>
                <a:ea typeface="Calibri" pitchFamily="34" charset="-122"/>
                <a:cs typeface="Calibri" pitchFamily="34" charset="-120"/>
              </a:rPr>
              <a:t>Validation croisée strictement temporelle : aucune information du futur n'est utilisée pour prédire le passé</a:t>
            </a:r>
            <a:endParaRPr lang="en-US" sz="1300" dirty="0"/>
          </a:p>
          <a:p>
            <a:pPr marL="177800" indent="-177800">
              <a:lnSpc>
                <a:spcPct val="112000"/>
              </a:lnSpc>
              <a:spcAft>
                <a:spcPts val="1200"/>
              </a:spcAft>
              <a:buSzPct val="100000"/>
              <a:buChar char="–"/>
            </a:pPr>
            <a:r>
              <a:rPr lang="en-US" sz="1300" dirty="0">
                <a:solidFill>
                  <a:srgbClr val="1C2430"/>
                </a:solidFill>
                <a:latin typeface="Calibri" pitchFamily="34" charset="0"/>
                <a:ea typeface="Calibri" pitchFamily="34" charset="-122"/>
                <a:cs typeface="Calibri" pitchFamily="34" charset="-120"/>
              </a:rPr>
              <a:t>Les valeurs SHAP (Lundberg &amp; Lee, 2017) décomposent chaque prédiction en contribution marginale de chaque variable explicative — une forme d'« attribution de responsabilité » entre les canaux</a:t>
            </a:r>
            <a:endParaRPr lang="en-US" sz="1300" dirty="0"/>
          </a:p>
        </p:txBody>
      </p:sp>
      <p:sp>
        <p:nvSpPr>
          <p:cNvPr id="5" name="Shape 3"/>
          <p:cNvSpPr/>
          <p:nvPr/>
        </p:nvSpPr>
        <p:spPr>
          <a:xfrm>
            <a:off x="7223760" y="1920240"/>
            <a:ext cx="4465015" cy="3566160"/>
          </a:xfrm>
          <a:prstGeom prst="roundRect">
            <a:avLst>
              <a:gd name="adj" fmla="val 2308"/>
            </a:avLst>
          </a:prstGeom>
          <a:solidFill>
            <a:srgbClr val="F4F6FB"/>
          </a:solidFill>
          <a:ln/>
          <a:effectLst>
            <a:outerShdw sx="100000" sy="100000" kx="0" ky="0" algn="bl" rotWithShape="0" blurRad="76200" dist="25400" dir="5400000">
              <a:srgbClr val="9AA5B8">
                <a:alpha val="22000"/>
              </a:srgbClr>
            </a:outerShdw>
          </a:effectLst>
        </p:spPr>
      </p:sp>
      <p:sp>
        <p:nvSpPr>
          <p:cNvPr id="6" name="Shape 4"/>
          <p:cNvSpPr/>
          <p:nvPr/>
        </p:nvSpPr>
        <p:spPr>
          <a:xfrm>
            <a:off x="7479792" y="2194560"/>
            <a:ext cx="3952951" cy="868680"/>
          </a:xfrm>
          <a:prstGeom prst="roundRect">
            <a:avLst>
              <a:gd name="adj" fmla="val 7368"/>
            </a:avLst>
          </a:prstGeom>
          <a:solidFill>
            <a:srgbClr val="003DA5"/>
          </a:solidFill>
          <a:ln/>
        </p:spPr>
      </p:sp>
      <p:sp>
        <p:nvSpPr>
          <p:cNvPr id="7" name="Text 5"/>
          <p:cNvSpPr/>
          <p:nvPr/>
        </p:nvSpPr>
        <p:spPr>
          <a:xfrm>
            <a:off x="7589520" y="2194560"/>
            <a:ext cx="3733495" cy="8686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Variables explicatives</a:t>
            </a:r>
            <a:endParaRPr lang="en-US" sz="1150" dirty="0"/>
          </a:p>
        </p:txBody>
      </p:sp>
      <p:pic>
        <p:nvPicPr>
          <p:cNvPr id="8" name="Image 0" descr="/tmp/claude-0/-home-user-Quant-Trade/38df2136-4dac-5b45-a6c7-4baf7be7dbaa/scratchpad/deck/icons/arrowright_blue.png">    </p:cNvPr>
          <p:cNvPicPr>
            <a:picLocks noChangeAspect="1"/>
          </p:cNvPicPr>
          <p:nvPr/>
        </p:nvPicPr>
        <p:blipFill>
          <a:blip r:embed="rId1"/>
          <a:stretch>
            <a:fillRect/>
          </a:stretch>
        </p:blipFill>
        <p:spPr>
          <a:xfrm>
            <a:off x="9337396" y="3090672"/>
            <a:ext cx="237744" cy="237744"/>
          </a:xfrm>
          <a:prstGeom prst="rect">
            <a:avLst/>
          </a:prstGeom>
        </p:spPr>
      </p:pic>
      <p:sp>
        <p:nvSpPr>
          <p:cNvPr id="9" name="Shape 6"/>
          <p:cNvSpPr/>
          <p:nvPr/>
        </p:nvSpPr>
        <p:spPr>
          <a:xfrm>
            <a:off x="7479792" y="3374136"/>
            <a:ext cx="3952951" cy="777240"/>
          </a:xfrm>
          <a:prstGeom prst="roundRect">
            <a:avLst>
              <a:gd name="adj" fmla="val 8235"/>
            </a:avLst>
          </a:prstGeom>
          <a:solidFill>
            <a:srgbClr val="001E60"/>
          </a:solidFill>
          <a:ln/>
        </p:spPr>
      </p:sp>
      <p:sp>
        <p:nvSpPr>
          <p:cNvPr id="10" name="Text 7"/>
          <p:cNvSpPr/>
          <p:nvPr/>
        </p:nvSpPr>
        <p:spPr>
          <a:xfrm>
            <a:off x="7589520" y="3374136"/>
            <a:ext cx="3733495"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Modèle de gradient</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boosting (XGBoost / LightGBM)</a:t>
            </a:r>
            <a:endParaRPr lang="en-US" sz="1150" dirty="0"/>
          </a:p>
        </p:txBody>
      </p:sp>
      <p:pic>
        <p:nvPicPr>
          <p:cNvPr id="11" name="Image 1" descr="/tmp/claude-0/-home-user-Quant-Trade/38df2136-4dac-5b45-a6c7-4baf7be7dbaa/scratchpad/deck/icons/arrowright_blue.png">    </p:cNvPr>
          <p:cNvPicPr>
            <a:picLocks noChangeAspect="1"/>
          </p:cNvPicPr>
          <p:nvPr/>
        </p:nvPicPr>
        <p:blipFill>
          <a:blip r:embed="rId2"/>
          <a:stretch>
            <a:fillRect/>
          </a:stretch>
        </p:blipFill>
        <p:spPr>
          <a:xfrm>
            <a:off x="9337396" y="4178808"/>
            <a:ext cx="237744" cy="237744"/>
          </a:xfrm>
          <a:prstGeom prst="rect">
            <a:avLst/>
          </a:prstGeom>
        </p:spPr>
      </p:pic>
      <p:sp>
        <p:nvSpPr>
          <p:cNvPr id="12" name="Shape 8"/>
          <p:cNvSpPr/>
          <p:nvPr/>
        </p:nvSpPr>
        <p:spPr>
          <a:xfrm>
            <a:off x="7479792" y="4462272"/>
            <a:ext cx="3952951" cy="868680"/>
          </a:xfrm>
          <a:prstGeom prst="roundRect">
            <a:avLst>
              <a:gd name="adj" fmla="val 7368"/>
            </a:avLst>
          </a:prstGeom>
          <a:solidFill>
            <a:srgbClr val="00B398"/>
          </a:solidFill>
          <a:ln/>
        </p:spPr>
      </p:sp>
      <p:sp>
        <p:nvSpPr>
          <p:cNvPr id="13" name="Text 9"/>
          <p:cNvSpPr/>
          <p:nvPr/>
        </p:nvSpPr>
        <p:spPr>
          <a:xfrm>
            <a:off x="7589520" y="4462272"/>
            <a:ext cx="3733495" cy="8686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Prédiction + décomposition SHAP</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 Démarche méthodologique</a:t>
            </a:r>
            <a:endParaRPr lang="en-US" sz="900" dirty="0"/>
          </a:p>
        </p:txBody>
      </p:sp>
      <p:sp>
        <p:nvSpPr>
          <p:cNvPr id="15" name="Text 11"/>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12 /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9448495" y="-1463040"/>
            <a:ext cx="4206240" cy="4206240"/>
          </a:xfrm>
          <a:prstGeom prst="ellipse">
            <a:avLst/>
          </a:prstGeom>
          <a:solidFill>
            <a:srgbClr val="0A2B70"/>
          </a:solidFill>
          <a:ln/>
        </p:spPr>
      </p:sp>
      <p:sp>
        <p:nvSpPr>
          <p:cNvPr id="3" name="Shape 1"/>
          <p:cNvSpPr/>
          <p:nvPr/>
        </p:nvSpPr>
        <p:spPr>
          <a:xfrm>
            <a:off x="-1463040" y="4846320"/>
            <a:ext cx="3291840" cy="3291840"/>
          </a:xfrm>
          <a:prstGeom prst="ellipse">
            <a:avLst/>
          </a:prstGeom>
          <a:solidFill>
            <a:srgbClr val="0A2B70"/>
          </a:solidFill>
          <a:ln/>
        </p:spPr>
      </p:sp>
      <p:sp>
        <p:nvSpPr>
          <p:cNvPr id="4" name="Text 2"/>
          <p:cNvSpPr/>
          <p:nvPr/>
        </p:nvSpPr>
        <p:spPr>
          <a:xfrm>
            <a:off x="502920" y="1965960"/>
            <a:ext cx="2743200" cy="1463040"/>
          </a:xfrm>
          <a:prstGeom prst="rect">
            <a:avLst/>
          </a:prstGeom>
          <a:noFill/>
          <a:ln/>
        </p:spPr>
        <p:txBody>
          <a:bodyPr wrap="square" lIns="0" tIns="0" rIns="0" bIns="0" rtlCol="0" anchor="ctr"/>
          <a:lstStyle/>
          <a:p>
            <a:pPr indent="0" marL="0">
              <a:buNone/>
            </a:pPr>
            <a:r>
              <a:rPr lang="en-US" sz="7000" b="1" dirty="0">
                <a:solidFill>
                  <a:srgbClr val="009FDF"/>
                </a:solidFill>
                <a:latin typeface="Calibri" pitchFamily="34" charset="0"/>
                <a:ea typeface="Calibri" pitchFamily="34" charset="-122"/>
                <a:cs typeface="Calibri" pitchFamily="34" charset="-120"/>
              </a:rPr>
              <a:t>III.</a:t>
            </a:r>
            <a:endParaRPr lang="en-US" sz="7000" dirty="0"/>
          </a:p>
        </p:txBody>
      </p:sp>
      <p:sp>
        <p:nvSpPr>
          <p:cNvPr id="5" name="Text 3"/>
          <p:cNvSpPr/>
          <p:nvPr/>
        </p:nvSpPr>
        <p:spPr>
          <a:xfrm>
            <a:off x="502920" y="3246120"/>
            <a:ext cx="9692640" cy="146304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Résultats empiriques et</a:t>
            </a:r>
            <a:endParaRPr lang="en-US" sz="3000" dirty="0"/>
          </a:p>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discussion des hypothèses</a:t>
            </a:r>
            <a:endParaRPr lang="en-US" sz="3000" dirty="0"/>
          </a:p>
        </p:txBody>
      </p:sp>
      <p:sp>
        <p:nvSpPr>
          <p:cNvPr id="6" name="Text 4"/>
          <p:cNvSpPr/>
          <p:nvPr/>
        </p:nvSpPr>
        <p:spPr>
          <a:xfrm>
            <a:off x="502920" y="4480560"/>
            <a:ext cx="9875520" cy="822960"/>
          </a:xfrm>
          <a:prstGeom prst="rect">
            <a:avLst/>
          </a:prstGeom>
          <a:noFill/>
          <a:ln/>
        </p:spPr>
        <p:txBody>
          <a:bodyPr wrap="square" lIns="0" tIns="0" rIns="0" bIns="0" rtlCol="0" anchor="ctr"/>
          <a:lstStyle/>
          <a:p>
            <a:pPr indent="0" marL="0">
              <a:lnSpc>
                <a:spcPct val="115000"/>
              </a:lnSpc>
              <a:buNone/>
            </a:pPr>
            <a:r>
              <a:rPr lang="en-US" sz="1350" dirty="0">
                <a:solidFill>
                  <a:srgbClr val="AFC2E8"/>
                </a:solidFill>
                <a:latin typeface="Calibri" pitchFamily="34" charset="0"/>
                <a:ea typeface="Calibri" pitchFamily="34" charset="-122"/>
                <a:cs typeface="Calibri" pitchFamily="34" charset="-120"/>
              </a:rPr>
              <a:t>Ce que révèlent les données sur la transmission monétaire en zone euro, 2015–2024</a:t>
            </a:r>
            <a:endParaRPr lang="en-US" sz="1350" dirty="0"/>
          </a:p>
        </p:txBody>
      </p:sp>
      <p:sp>
        <p:nvSpPr>
          <p:cNvPr id="7" name="Text 5"/>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13 /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RÉSULTATS — ÉTUDE D'ÉVÉNEMENT</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H1 validée — les marchés réagissent significativement aux annonces de la BCE</a:t>
            </a:r>
            <a:endParaRPr lang="en-US" sz="2900" dirty="0"/>
          </a:p>
        </p:txBody>
      </p:sp>
      <p:graphicFrame>
        <p:nvGraphicFramePr>
          <p:cNvPr id="4" name="Chart 0" descr=""/>
          <p:cNvGraphicFramePr/>
          <p:nvPr/>
        </p:nvGraphicFramePr>
        <p:xfrm>
          <a:off x="502920" y="178308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680960" y="1965960"/>
            <a:ext cx="4007815" cy="2743200"/>
          </a:xfrm>
          <a:prstGeom prst="rect">
            <a:avLst/>
          </a:prstGeom>
          <a:noFill/>
          <a:ln/>
        </p:spPr>
        <p:txBody>
          <a:bodyPr wrap="square" lIns="0" tIns="0" rIns="0" bIns="0" rtlCol="0" anchor="t"/>
          <a:lstStyle/>
          <a:p>
            <a:pPr marL="177800" indent="-177800">
              <a:lnSpc>
                <a:spcPct val="112000"/>
              </a:lnSpc>
              <a:spcAft>
                <a:spcPts val="1400"/>
              </a:spcAft>
              <a:buSzPct val="100000"/>
              <a:buChar char="–"/>
            </a:pPr>
            <a:r>
              <a:rPr lang="en-US" sz="1150" dirty="0">
                <a:solidFill>
                  <a:srgbClr val="1C2430"/>
                </a:solidFill>
                <a:latin typeface="Calibri" pitchFamily="34" charset="0"/>
                <a:ea typeface="Calibri" pitchFamily="34" charset="-122"/>
                <a:cs typeface="Calibri" pitchFamily="34" charset="-120"/>
              </a:rPr>
              <a:t>Réaction rapide et positive sur le marché actions dans les régimes 1 et 3, à l'annonce même de la décision</a:t>
            </a:r>
            <a:endParaRPr lang="en-US" sz="1150" dirty="0"/>
          </a:p>
          <a:p>
            <a:pPr marL="177800" indent="-177800">
              <a:lnSpc>
                <a:spcPct val="112000"/>
              </a:lnSpc>
              <a:spcAft>
                <a:spcPts val="1400"/>
              </a:spcAft>
              <a:buSzPct val="100000"/>
              <a:buChar char="–"/>
            </a:pPr>
            <a:r>
              <a:rPr lang="en-US" sz="1150" dirty="0">
                <a:solidFill>
                  <a:srgbClr val="1C2430"/>
                </a:solidFill>
                <a:latin typeface="Calibri" pitchFamily="34" charset="0"/>
                <a:ea typeface="Calibri" pitchFamily="34" charset="-122"/>
                <a:cs typeface="Calibri" pitchFamily="34" charset="-120"/>
              </a:rPr>
              <a:t>Régime 2 (resserrement) : réaction courte quasi nulle — les hausses de taux étaient largement anticipées dès fin 2022</a:t>
            </a:r>
            <a:endParaRPr lang="en-US" sz="1150" dirty="0"/>
          </a:p>
          <a:p>
            <a:pPr marL="177800" indent="-177800">
              <a:lnSpc>
                <a:spcPct val="112000"/>
              </a:lnSpc>
              <a:spcAft>
                <a:spcPts val="1400"/>
              </a:spcAft>
              <a:buSzPct val="100000"/>
              <a:buChar char="–"/>
            </a:pPr>
            <a:r>
              <a:rPr lang="en-US" sz="1150" dirty="0">
                <a:solidFill>
                  <a:srgbClr val="1C2430"/>
                </a:solidFill>
                <a:latin typeface="Calibri" pitchFamily="34" charset="0"/>
                <a:ea typeface="Calibri" pitchFamily="34" charset="-122"/>
                <a:cs typeface="Calibri" pitchFamily="34" charset="-120"/>
              </a:rPr>
              <a:t>Sur la fenêtre longue [-1;+20], l'effet d'annonce initial ne se maintient pas systématiquement (contamination par d'autres chocs macro)</a:t>
            </a:r>
            <a:endParaRPr lang="en-US" sz="1150" dirty="0"/>
          </a:p>
        </p:txBody>
      </p:sp>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7" name="Text 4"/>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14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RÉSULTATS — ÉTUDE D'ÉVÉNEMENT</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H2 validée — une asymétrie marquée selon le sens de la décision</a:t>
            </a:r>
            <a:endParaRPr lang="en-US" sz="2900" dirty="0"/>
          </a:p>
        </p:txBody>
      </p:sp>
      <p:sp>
        <p:nvSpPr>
          <p:cNvPr id="4" name="Text 2"/>
          <p:cNvSpPr/>
          <p:nvPr/>
        </p:nvSpPr>
        <p:spPr>
          <a:xfrm>
            <a:off x="502920" y="1536192"/>
            <a:ext cx="11185855" cy="292608"/>
          </a:xfrm>
          <a:prstGeom prst="rect">
            <a:avLst/>
          </a:prstGeom>
          <a:noFill/>
          <a:ln/>
        </p:spPr>
        <p:txBody>
          <a:bodyPr wrap="square" lIns="0" tIns="0" rIns="0" bIns="0" rtlCol="0" anchor="ctr"/>
          <a:lstStyle/>
          <a:p>
            <a:pPr indent="0" marL="0">
              <a:buNone/>
            </a:pPr>
            <a:r>
              <a:rPr lang="en-US" sz="1200" i="1" dirty="0">
                <a:solidFill>
                  <a:srgbClr val="6B7686"/>
                </a:solidFill>
                <a:latin typeface="Calibri" pitchFamily="34" charset="0"/>
                <a:ea typeface="Calibri" pitchFamily="34" charset="-122"/>
                <a:cs typeface="Calibri" pitchFamily="34" charset="-120"/>
              </a:rPr>
              <a:t>Écarts entre décisions restrictives (hausses) et accommodantes (baisses), fenêtre longue [-1 ; +20] jours</a:t>
            </a:r>
            <a:endParaRPr lang="en-US" sz="1200" dirty="0"/>
          </a:p>
        </p:txBody>
      </p:sp>
      <p:sp>
        <p:nvSpPr>
          <p:cNvPr id="5" name="Shape 3"/>
          <p:cNvSpPr/>
          <p:nvPr/>
        </p:nvSpPr>
        <p:spPr>
          <a:xfrm>
            <a:off x="502920" y="2057400"/>
            <a:ext cx="3606698"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6" name="Shape 4"/>
          <p:cNvSpPr/>
          <p:nvPr/>
        </p:nvSpPr>
        <p:spPr>
          <a:xfrm>
            <a:off x="502920" y="2057400"/>
            <a:ext cx="3606698" cy="457200"/>
          </a:xfrm>
          <a:prstGeom prst="roundRect">
            <a:avLst>
              <a:gd name="adj" fmla="val 18000"/>
            </a:avLst>
          </a:prstGeom>
          <a:solidFill>
            <a:srgbClr val="003DA5"/>
          </a:solidFill>
          <a:ln/>
        </p:spPr>
      </p:sp>
      <p:sp>
        <p:nvSpPr>
          <p:cNvPr id="7" name="Text 5"/>
          <p:cNvSpPr/>
          <p:nvPr/>
        </p:nvSpPr>
        <p:spPr>
          <a:xfrm>
            <a:off x="502920" y="2057400"/>
            <a:ext cx="360669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Eurostoxx 50</a:t>
            </a:r>
            <a:endParaRPr lang="en-US" sz="1400" dirty="0"/>
          </a:p>
        </p:txBody>
      </p:sp>
      <p:sp>
        <p:nvSpPr>
          <p:cNvPr id="8" name="Text 6"/>
          <p:cNvSpPr/>
          <p:nvPr/>
        </p:nvSpPr>
        <p:spPr>
          <a:xfrm>
            <a:off x="731520" y="2697480"/>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Hausses</a:t>
            </a:r>
            <a:endParaRPr lang="en-US" sz="1050" dirty="0"/>
          </a:p>
        </p:txBody>
      </p:sp>
      <p:sp>
        <p:nvSpPr>
          <p:cNvPr id="9" name="Text 7"/>
          <p:cNvSpPr/>
          <p:nvPr/>
        </p:nvSpPr>
        <p:spPr>
          <a:xfrm>
            <a:off x="731520" y="2953512"/>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+1,16 %</a:t>
            </a:r>
            <a:endParaRPr lang="en-US" sz="2400" dirty="0"/>
          </a:p>
        </p:txBody>
      </p:sp>
      <p:sp>
        <p:nvSpPr>
          <p:cNvPr id="10" name="Text 8"/>
          <p:cNvSpPr/>
          <p:nvPr/>
        </p:nvSpPr>
        <p:spPr>
          <a:xfrm>
            <a:off x="731520" y="3538728"/>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Baisses</a:t>
            </a:r>
            <a:endParaRPr lang="en-US" sz="1050" dirty="0"/>
          </a:p>
        </p:txBody>
      </p:sp>
      <p:sp>
        <p:nvSpPr>
          <p:cNvPr id="11" name="Text 9"/>
          <p:cNvSpPr/>
          <p:nvPr/>
        </p:nvSpPr>
        <p:spPr>
          <a:xfrm>
            <a:off x="731520" y="3794760"/>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−0,52 %</a:t>
            </a:r>
            <a:endParaRPr lang="en-US" sz="2400" dirty="0"/>
          </a:p>
        </p:txBody>
      </p:sp>
      <p:sp>
        <p:nvSpPr>
          <p:cNvPr id="12" name="Shape 10"/>
          <p:cNvSpPr/>
          <p:nvPr/>
        </p:nvSpPr>
        <p:spPr>
          <a:xfrm>
            <a:off x="731520" y="4462272"/>
            <a:ext cx="3149498" cy="457200"/>
          </a:xfrm>
          <a:prstGeom prst="roundRect">
            <a:avLst>
              <a:gd name="adj" fmla="val 50000"/>
            </a:avLst>
          </a:prstGeom>
          <a:solidFill>
            <a:srgbClr val="E7ECF7"/>
          </a:solidFill>
          <a:ln/>
        </p:spPr>
      </p:sp>
      <p:sp>
        <p:nvSpPr>
          <p:cNvPr id="13" name="Text 11"/>
          <p:cNvSpPr/>
          <p:nvPr/>
        </p:nvSpPr>
        <p:spPr>
          <a:xfrm>
            <a:off x="731520" y="4462272"/>
            <a:ext cx="3149498" cy="457200"/>
          </a:xfrm>
          <a:prstGeom prst="rect">
            <a:avLst/>
          </a:prstGeom>
          <a:noFill/>
          <a:ln/>
        </p:spPr>
        <p:txBody>
          <a:bodyPr wrap="square" lIns="0" tIns="0" rIns="0" bIns="0" rtlCol="0" anchor="ctr"/>
          <a:lstStyle/>
          <a:p>
            <a:pPr algn="ctr" indent="0" marL="0">
              <a:buNone/>
            </a:pPr>
            <a:r>
              <a:rPr lang="en-US" sz="1250" b="1" dirty="0">
                <a:solidFill>
                  <a:srgbClr val="003DA5"/>
                </a:solidFill>
                <a:latin typeface="Calibri" pitchFamily="34" charset="0"/>
                <a:ea typeface="Calibri" pitchFamily="34" charset="-122"/>
                <a:cs typeface="Calibri" pitchFamily="34" charset="-120"/>
              </a:rPr>
              <a:t>écart : +1,69 pt</a:t>
            </a:r>
            <a:endParaRPr lang="en-US" sz="1250" dirty="0"/>
          </a:p>
        </p:txBody>
      </p:sp>
      <p:sp>
        <p:nvSpPr>
          <p:cNvPr id="14" name="Shape 12"/>
          <p:cNvSpPr/>
          <p:nvPr/>
        </p:nvSpPr>
        <p:spPr>
          <a:xfrm>
            <a:off x="4292498" y="2057400"/>
            <a:ext cx="3606698"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15" name="Shape 13"/>
          <p:cNvSpPr/>
          <p:nvPr/>
        </p:nvSpPr>
        <p:spPr>
          <a:xfrm>
            <a:off x="4292498" y="2057400"/>
            <a:ext cx="3606698" cy="457200"/>
          </a:xfrm>
          <a:prstGeom prst="roundRect">
            <a:avLst>
              <a:gd name="adj" fmla="val 18000"/>
            </a:avLst>
          </a:prstGeom>
          <a:solidFill>
            <a:srgbClr val="FF8200"/>
          </a:solidFill>
          <a:ln/>
        </p:spPr>
      </p:sp>
      <p:sp>
        <p:nvSpPr>
          <p:cNvPr id="16" name="Text 14"/>
          <p:cNvSpPr/>
          <p:nvPr/>
        </p:nvSpPr>
        <p:spPr>
          <a:xfrm>
            <a:off x="4292498" y="2057400"/>
            <a:ext cx="360669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Spread BTP–Bund</a:t>
            </a:r>
            <a:endParaRPr lang="en-US" sz="1400" dirty="0"/>
          </a:p>
        </p:txBody>
      </p:sp>
      <p:sp>
        <p:nvSpPr>
          <p:cNvPr id="17" name="Text 15"/>
          <p:cNvSpPr/>
          <p:nvPr/>
        </p:nvSpPr>
        <p:spPr>
          <a:xfrm>
            <a:off x="4521098" y="2697480"/>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Hausses</a:t>
            </a:r>
            <a:endParaRPr lang="en-US" sz="1050" dirty="0"/>
          </a:p>
        </p:txBody>
      </p:sp>
      <p:sp>
        <p:nvSpPr>
          <p:cNvPr id="18" name="Text 16"/>
          <p:cNvSpPr/>
          <p:nvPr/>
        </p:nvSpPr>
        <p:spPr>
          <a:xfrm>
            <a:off x="4521098" y="2953512"/>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+8,03 pb</a:t>
            </a:r>
            <a:endParaRPr lang="en-US" sz="2400" dirty="0"/>
          </a:p>
        </p:txBody>
      </p:sp>
      <p:sp>
        <p:nvSpPr>
          <p:cNvPr id="19" name="Text 17"/>
          <p:cNvSpPr/>
          <p:nvPr/>
        </p:nvSpPr>
        <p:spPr>
          <a:xfrm>
            <a:off x="4521098" y="3538728"/>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Baisses</a:t>
            </a:r>
            <a:endParaRPr lang="en-US" sz="1050" dirty="0"/>
          </a:p>
        </p:txBody>
      </p:sp>
      <p:sp>
        <p:nvSpPr>
          <p:cNvPr id="20" name="Text 18"/>
          <p:cNvSpPr/>
          <p:nvPr/>
        </p:nvSpPr>
        <p:spPr>
          <a:xfrm>
            <a:off x="4521098" y="3794760"/>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+4,32 pb</a:t>
            </a:r>
            <a:endParaRPr lang="en-US" sz="2400" dirty="0"/>
          </a:p>
        </p:txBody>
      </p:sp>
      <p:sp>
        <p:nvSpPr>
          <p:cNvPr id="21" name="Shape 19"/>
          <p:cNvSpPr/>
          <p:nvPr/>
        </p:nvSpPr>
        <p:spPr>
          <a:xfrm>
            <a:off x="4521098" y="4462272"/>
            <a:ext cx="3149498" cy="457200"/>
          </a:xfrm>
          <a:prstGeom prst="roundRect">
            <a:avLst>
              <a:gd name="adj" fmla="val 50000"/>
            </a:avLst>
          </a:prstGeom>
          <a:solidFill>
            <a:srgbClr val="E7ECF7"/>
          </a:solidFill>
          <a:ln/>
        </p:spPr>
      </p:sp>
      <p:sp>
        <p:nvSpPr>
          <p:cNvPr id="22" name="Text 20"/>
          <p:cNvSpPr/>
          <p:nvPr/>
        </p:nvSpPr>
        <p:spPr>
          <a:xfrm>
            <a:off x="4521098" y="4462272"/>
            <a:ext cx="3149498" cy="457200"/>
          </a:xfrm>
          <a:prstGeom prst="rect">
            <a:avLst/>
          </a:prstGeom>
          <a:noFill/>
          <a:ln/>
        </p:spPr>
        <p:txBody>
          <a:bodyPr wrap="square" lIns="0" tIns="0" rIns="0" bIns="0" rtlCol="0" anchor="ctr"/>
          <a:lstStyle/>
          <a:p>
            <a:pPr algn="ctr" indent="0" marL="0">
              <a:buNone/>
            </a:pPr>
            <a:r>
              <a:rPr lang="en-US" sz="1250" b="1" dirty="0">
                <a:solidFill>
                  <a:srgbClr val="FF8200"/>
                </a:solidFill>
                <a:latin typeface="Calibri" pitchFamily="34" charset="0"/>
                <a:ea typeface="Calibri" pitchFamily="34" charset="-122"/>
                <a:cs typeface="Calibri" pitchFamily="34" charset="-120"/>
              </a:rPr>
              <a:t>écart : +3,71 pb</a:t>
            </a:r>
            <a:endParaRPr lang="en-US" sz="1250" dirty="0"/>
          </a:p>
        </p:txBody>
      </p:sp>
      <p:sp>
        <p:nvSpPr>
          <p:cNvPr id="23" name="Shape 21"/>
          <p:cNvSpPr/>
          <p:nvPr/>
        </p:nvSpPr>
        <p:spPr>
          <a:xfrm>
            <a:off x="8082077" y="2057400"/>
            <a:ext cx="3606698" cy="3063240"/>
          </a:xfrm>
          <a:prstGeom prst="roundRect">
            <a:avLst>
              <a:gd name="adj" fmla="val 2687"/>
            </a:avLst>
          </a:prstGeom>
          <a:solidFill>
            <a:srgbClr val="F4F6FB"/>
          </a:solidFill>
          <a:ln/>
          <a:effectLst>
            <a:outerShdw sx="100000" sy="100000" kx="0" ky="0" algn="bl" rotWithShape="0" blurRad="76200" dist="25400" dir="5400000">
              <a:srgbClr val="9AA5B8">
                <a:alpha val="22000"/>
              </a:srgbClr>
            </a:outerShdw>
          </a:effectLst>
        </p:spPr>
      </p:sp>
      <p:sp>
        <p:nvSpPr>
          <p:cNvPr id="24" name="Shape 22"/>
          <p:cNvSpPr/>
          <p:nvPr/>
        </p:nvSpPr>
        <p:spPr>
          <a:xfrm>
            <a:off x="8082077" y="2057400"/>
            <a:ext cx="3606698" cy="457200"/>
          </a:xfrm>
          <a:prstGeom prst="roundRect">
            <a:avLst>
              <a:gd name="adj" fmla="val 18000"/>
            </a:avLst>
          </a:prstGeom>
          <a:solidFill>
            <a:srgbClr val="A6192E"/>
          </a:solidFill>
          <a:ln/>
        </p:spPr>
      </p:sp>
      <p:sp>
        <p:nvSpPr>
          <p:cNvPr id="25" name="Text 23"/>
          <p:cNvSpPr/>
          <p:nvPr/>
        </p:nvSpPr>
        <p:spPr>
          <a:xfrm>
            <a:off x="8082077" y="2057400"/>
            <a:ext cx="360669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VSTOXX</a:t>
            </a:r>
            <a:endParaRPr lang="en-US" sz="1400" dirty="0"/>
          </a:p>
        </p:txBody>
      </p:sp>
      <p:sp>
        <p:nvSpPr>
          <p:cNvPr id="26" name="Text 24"/>
          <p:cNvSpPr/>
          <p:nvPr/>
        </p:nvSpPr>
        <p:spPr>
          <a:xfrm>
            <a:off x="8310677" y="2697480"/>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Hausses</a:t>
            </a:r>
            <a:endParaRPr lang="en-US" sz="1050" dirty="0"/>
          </a:p>
        </p:txBody>
      </p:sp>
      <p:sp>
        <p:nvSpPr>
          <p:cNvPr id="27" name="Text 25"/>
          <p:cNvSpPr/>
          <p:nvPr/>
        </p:nvSpPr>
        <p:spPr>
          <a:xfrm>
            <a:off x="8310677" y="2953512"/>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−0,185</a:t>
            </a:r>
            <a:endParaRPr lang="en-US" sz="2400" dirty="0"/>
          </a:p>
        </p:txBody>
      </p:sp>
      <p:sp>
        <p:nvSpPr>
          <p:cNvPr id="28" name="Text 26"/>
          <p:cNvSpPr/>
          <p:nvPr/>
        </p:nvSpPr>
        <p:spPr>
          <a:xfrm>
            <a:off x="8310677" y="3538728"/>
            <a:ext cx="3149498" cy="27432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Baisses</a:t>
            </a:r>
            <a:endParaRPr lang="en-US" sz="1050" dirty="0"/>
          </a:p>
        </p:txBody>
      </p:sp>
      <p:sp>
        <p:nvSpPr>
          <p:cNvPr id="29" name="Text 27"/>
          <p:cNvSpPr/>
          <p:nvPr/>
        </p:nvSpPr>
        <p:spPr>
          <a:xfrm>
            <a:off x="8310677" y="3794760"/>
            <a:ext cx="3149498" cy="502920"/>
          </a:xfrm>
          <a:prstGeom prst="rect">
            <a:avLst/>
          </a:prstGeom>
          <a:noFill/>
          <a:ln/>
        </p:spPr>
        <p:txBody>
          <a:bodyPr wrap="square" lIns="0" tIns="0" rIns="0" bIns="0" rtlCol="0" anchor="ctr"/>
          <a:lstStyle/>
          <a:p>
            <a:pPr indent="0" marL="0">
              <a:buNone/>
            </a:pPr>
            <a:r>
              <a:rPr lang="en-US" sz="2400" b="1" dirty="0">
                <a:solidFill>
                  <a:srgbClr val="001E60"/>
                </a:solidFill>
                <a:latin typeface="Calibri" pitchFamily="34" charset="0"/>
                <a:ea typeface="Calibri" pitchFamily="34" charset="-122"/>
                <a:cs typeface="Calibri" pitchFamily="34" charset="-120"/>
              </a:rPr>
              <a:t>+1,89</a:t>
            </a:r>
            <a:endParaRPr lang="en-US" sz="2400" dirty="0"/>
          </a:p>
        </p:txBody>
      </p:sp>
      <p:sp>
        <p:nvSpPr>
          <p:cNvPr id="30" name="Shape 28"/>
          <p:cNvSpPr/>
          <p:nvPr/>
        </p:nvSpPr>
        <p:spPr>
          <a:xfrm>
            <a:off x="8310677" y="4462272"/>
            <a:ext cx="3149498" cy="457200"/>
          </a:xfrm>
          <a:prstGeom prst="roundRect">
            <a:avLst>
              <a:gd name="adj" fmla="val 50000"/>
            </a:avLst>
          </a:prstGeom>
          <a:solidFill>
            <a:srgbClr val="E7ECF7"/>
          </a:solidFill>
          <a:ln/>
        </p:spPr>
      </p:sp>
      <p:sp>
        <p:nvSpPr>
          <p:cNvPr id="31" name="Text 29"/>
          <p:cNvSpPr/>
          <p:nvPr/>
        </p:nvSpPr>
        <p:spPr>
          <a:xfrm>
            <a:off x="8310677" y="4462272"/>
            <a:ext cx="3149498" cy="457200"/>
          </a:xfrm>
          <a:prstGeom prst="rect">
            <a:avLst/>
          </a:prstGeom>
          <a:noFill/>
          <a:ln/>
        </p:spPr>
        <p:txBody>
          <a:bodyPr wrap="square" lIns="0" tIns="0" rIns="0" bIns="0" rtlCol="0" anchor="ctr"/>
          <a:lstStyle/>
          <a:p>
            <a:pPr algn="ctr" indent="0" marL="0">
              <a:buNone/>
            </a:pPr>
            <a:r>
              <a:rPr lang="en-US" sz="1250" b="1" dirty="0">
                <a:solidFill>
                  <a:srgbClr val="A6192E"/>
                </a:solidFill>
                <a:latin typeface="Calibri" pitchFamily="34" charset="0"/>
                <a:ea typeface="Calibri" pitchFamily="34" charset="-122"/>
                <a:cs typeface="Calibri" pitchFamily="34" charset="-120"/>
              </a:rPr>
              <a:t>écart : −2,07</a:t>
            </a:r>
            <a:endParaRPr lang="en-US" sz="1250" dirty="0"/>
          </a:p>
        </p:txBody>
      </p:sp>
      <p:sp>
        <p:nvSpPr>
          <p:cNvPr id="32" name="Text 30"/>
          <p:cNvSpPr/>
          <p:nvPr/>
        </p:nvSpPr>
        <p:spPr>
          <a:xfrm>
            <a:off x="502920" y="5321808"/>
            <a:ext cx="11185855" cy="365760"/>
          </a:xfrm>
          <a:prstGeom prst="rect">
            <a:avLst/>
          </a:prstGeom>
          <a:noFill/>
          <a:ln/>
        </p:spPr>
        <p:txBody>
          <a:bodyPr wrap="square" lIns="0" tIns="0" rIns="0" bIns="0" rtlCol="0" anchor="ctr"/>
          <a:lstStyle/>
          <a:p>
            <a:pPr algn="ctr" indent="0" marL="0">
              <a:buNone/>
            </a:pPr>
            <a:r>
              <a:rPr lang="en-US" sz="1150" i="1" dirty="0">
                <a:solidFill>
                  <a:srgbClr val="6B7686"/>
                </a:solidFill>
                <a:latin typeface="Calibri" pitchFamily="34" charset="0"/>
                <a:ea typeface="Calibri" pitchFamily="34" charset="-122"/>
                <a:cs typeface="Calibri" pitchFamily="34" charset="-120"/>
              </a:rPr>
              <a:t>L'asymétrie la plus marquée s'observe sur le VSTOXX : le canal de la prime de risque (Bekaert, Hoerova &amp; Lo Duca, 2013) apparaît comme le vecteur privilégié de cette asymétrie.</a:t>
            </a:r>
            <a:endParaRPr lang="en-US" sz="1150" dirty="0"/>
          </a:p>
        </p:txBody>
      </p:sp>
      <p:sp>
        <p:nvSpPr>
          <p:cNvPr id="33" name="Text 3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34" name="Text 32"/>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15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RÉSULTATS — GRADIENT BOOSTING &amp; SHAP</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H3 validée — deux marchés, deux logiques de transmission</a:t>
            </a:r>
            <a:endParaRPr lang="en-US" sz="2900" dirty="0"/>
          </a:p>
        </p:txBody>
      </p:sp>
      <p:graphicFrame>
        <p:nvGraphicFramePr>
          <p:cNvPr id="4" name="Chart 0" descr=""/>
          <p:cNvGraphicFramePr/>
          <p:nvPr/>
        </p:nvGraphicFramePr>
        <p:xfrm>
          <a:off x="502920" y="1737360"/>
          <a:ext cx="78638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9006840" y="1783080"/>
            <a:ext cx="2681935" cy="1920240"/>
          </a:xfrm>
          <a:prstGeom prst="roundRect">
            <a:avLst>
              <a:gd name="adj" fmla="val 4286"/>
            </a:avLst>
          </a:prstGeom>
          <a:solidFill>
            <a:srgbClr val="F4F6FB"/>
          </a:solidFill>
          <a:ln/>
          <a:effectLst>
            <a:outerShdw sx="100000" sy="100000" kx="0" ky="0" algn="bl" rotWithShape="0" blurRad="76200" dist="25400" dir="5400000">
              <a:srgbClr val="9AA5B8">
                <a:alpha val="25000"/>
              </a:srgbClr>
            </a:outerShdw>
          </a:effectLst>
        </p:spPr>
      </p:sp>
      <p:sp>
        <p:nvSpPr>
          <p:cNvPr id="6" name="Shape 3"/>
          <p:cNvSpPr/>
          <p:nvPr/>
        </p:nvSpPr>
        <p:spPr>
          <a:xfrm>
            <a:off x="9262872" y="2020824"/>
            <a:ext cx="457200" cy="457200"/>
          </a:xfrm>
          <a:prstGeom prst="ellipse">
            <a:avLst/>
          </a:prstGeom>
          <a:solidFill>
            <a:srgbClr val="003DA5"/>
          </a:solidFill>
          <a:ln/>
        </p:spPr>
      </p:sp>
      <p:pic>
        <p:nvPicPr>
          <p:cNvPr id="7" name="Image 0" descr="/tmp/claude-0/-home-user-Quant-Trade/38df2136-4dac-5b45-a6c7-4baf7be7dbaa/scratchpad/deck/icons/trending_white.png">    </p:cNvPr>
          <p:cNvPicPr>
            <a:picLocks noChangeAspect="1"/>
          </p:cNvPicPr>
          <p:nvPr/>
        </p:nvPicPr>
        <p:blipFill>
          <a:blip r:embed="rId2"/>
          <a:stretch>
            <a:fillRect/>
          </a:stretch>
        </p:blipFill>
        <p:spPr>
          <a:xfrm>
            <a:off x="9322308" y="2080260"/>
            <a:ext cx="338328" cy="338328"/>
          </a:xfrm>
          <a:prstGeom prst="rect">
            <a:avLst/>
          </a:prstGeom>
        </p:spPr>
      </p:pic>
      <p:sp>
        <p:nvSpPr>
          <p:cNvPr id="8" name="Text 4"/>
          <p:cNvSpPr/>
          <p:nvPr/>
        </p:nvSpPr>
        <p:spPr>
          <a:xfrm>
            <a:off x="9902952" y="2002536"/>
            <a:ext cx="1712671" cy="457200"/>
          </a:xfrm>
          <a:prstGeom prst="rect">
            <a:avLst/>
          </a:prstGeom>
          <a:noFill/>
          <a:ln/>
        </p:spPr>
        <p:txBody>
          <a:bodyPr wrap="square" lIns="0" tIns="0" rIns="0" bIns="0" rtlCol="0" anchor="ctr"/>
          <a:lstStyle/>
          <a:p>
            <a:pPr indent="0" marL="0">
              <a:lnSpc>
                <a:spcPct val="100000"/>
              </a:lnSpc>
              <a:buNone/>
            </a:pPr>
            <a:r>
              <a:rPr lang="en-US" sz="1250" b="1" dirty="0">
                <a:solidFill>
                  <a:srgbClr val="001E60"/>
                </a:solidFill>
                <a:latin typeface="Calibri" pitchFamily="34" charset="0"/>
                <a:ea typeface="Calibri" pitchFamily="34" charset="-122"/>
                <a:cs typeface="Calibri" pitchFamily="34" charset="-120"/>
              </a:rPr>
              <a:t>Obligataire</a:t>
            </a:r>
            <a:endParaRPr lang="en-US" sz="1250" dirty="0"/>
          </a:p>
        </p:txBody>
      </p:sp>
      <p:sp>
        <p:nvSpPr>
          <p:cNvPr id="9" name="Text 5"/>
          <p:cNvSpPr/>
          <p:nvPr/>
        </p:nvSpPr>
        <p:spPr>
          <a:xfrm>
            <a:off x="9262872" y="2569464"/>
            <a:ext cx="2169871" cy="950976"/>
          </a:xfrm>
          <a:prstGeom prst="rect">
            <a:avLst/>
          </a:prstGeom>
          <a:noFill/>
          <a:ln/>
        </p:spPr>
        <p:txBody>
          <a:bodyPr wrap="square" lIns="0" tIns="0" rIns="0" bIns="0" rtlCol="0" anchor="t"/>
          <a:lstStyle/>
          <a:p>
            <a:pPr indent="0" marL="0">
              <a:lnSpc>
                <a:spcPct val="108000"/>
              </a:lnSpc>
              <a:buNone/>
            </a:pPr>
            <a:r>
              <a:rPr lang="en-US" sz="1050" dirty="0">
                <a:solidFill>
                  <a:srgbClr val="1C2430"/>
                </a:solidFill>
                <a:latin typeface="Calibri" pitchFamily="34" charset="0"/>
                <a:ea typeface="Calibri" pitchFamily="34" charset="-122"/>
                <a:cs typeface="Calibri" pitchFamily="34" charset="-120"/>
              </a:rPr>
              <a:t>Fragmentation souveraine + mémoire des taux dominent (jusqu'à 27 % pour le spread lui-même)</a:t>
            </a:r>
            <a:endParaRPr lang="en-US" sz="1050" dirty="0"/>
          </a:p>
        </p:txBody>
      </p:sp>
      <p:sp>
        <p:nvSpPr>
          <p:cNvPr id="10" name="Shape 6"/>
          <p:cNvSpPr/>
          <p:nvPr/>
        </p:nvSpPr>
        <p:spPr>
          <a:xfrm>
            <a:off x="9006840" y="3886200"/>
            <a:ext cx="2681935" cy="1965960"/>
          </a:xfrm>
          <a:prstGeom prst="roundRect">
            <a:avLst>
              <a:gd name="adj" fmla="val 4186"/>
            </a:avLst>
          </a:prstGeom>
          <a:solidFill>
            <a:srgbClr val="F4F6FB"/>
          </a:solidFill>
          <a:ln/>
          <a:effectLst>
            <a:outerShdw sx="100000" sy="100000" kx="0" ky="0" algn="bl" rotWithShape="0" blurRad="76200" dist="25400" dir="5400000">
              <a:srgbClr val="9AA5B8">
                <a:alpha val="25000"/>
              </a:srgbClr>
            </a:outerShdw>
          </a:effectLst>
        </p:spPr>
      </p:sp>
      <p:sp>
        <p:nvSpPr>
          <p:cNvPr id="11" name="Shape 7"/>
          <p:cNvSpPr/>
          <p:nvPr/>
        </p:nvSpPr>
        <p:spPr>
          <a:xfrm>
            <a:off x="9262872" y="4123944"/>
            <a:ext cx="457200" cy="457200"/>
          </a:xfrm>
          <a:prstGeom prst="ellipse">
            <a:avLst/>
          </a:prstGeom>
          <a:solidFill>
            <a:srgbClr val="FF8200"/>
          </a:solidFill>
          <a:ln/>
        </p:spPr>
      </p:sp>
      <p:pic>
        <p:nvPicPr>
          <p:cNvPr id="12" name="Image 1" descr="/tmp/claude-0/-home-user-Quant-Trade/38df2136-4dac-5b45-a6c7-4baf7be7dbaa/scratchpad/deck/icons/shield_white.png">    </p:cNvPr>
          <p:cNvPicPr>
            <a:picLocks noChangeAspect="1"/>
          </p:cNvPicPr>
          <p:nvPr/>
        </p:nvPicPr>
        <p:blipFill>
          <a:blip r:embed="rId3"/>
          <a:stretch>
            <a:fillRect/>
          </a:stretch>
        </p:blipFill>
        <p:spPr>
          <a:xfrm>
            <a:off x="9322308" y="4183380"/>
            <a:ext cx="338328" cy="338328"/>
          </a:xfrm>
          <a:prstGeom prst="rect">
            <a:avLst/>
          </a:prstGeom>
        </p:spPr>
      </p:pic>
      <p:sp>
        <p:nvSpPr>
          <p:cNvPr id="13" name="Text 8"/>
          <p:cNvSpPr/>
          <p:nvPr/>
        </p:nvSpPr>
        <p:spPr>
          <a:xfrm>
            <a:off x="9902952" y="4105656"/>
            <a:ext cx="1712671" cy="457200"/>
          </a:xfrm>
          <a:prstGeom prst="rect">
            <a:avLst/>
          </a:prstGeom>
          <a:noFill/>
          <a:ln/>
        </p:spPr>
        <p:txBody>
          <a:bodyPr wrap="square" lIns="0" tIns="0" rIns="0" bIns="0" rtlCol="0" anchor="ctr"/>
          <a:lstStyle/>
          <a:p>
            <a:pPr indent="0" marL="0">
              <a:lnSpc>
                <a:spcPct val="100000"/>
              </a:lnSpc>
              <a:buNone/>
            </a:pPr>
            <a:r>
              <a:rPr lang="en-US" sz="1250" b="1" dirty="0">
                <a:solidFill>
                  <a:srgbClr val="001E60"/>
                </a:solidFill>
                <a:latin typeface="Calibri" pitchFamily="34" charset="0"/>
                <a:ea typeface="Calibri" pitchFamily="34" charset="-122"/>
                <a:cs typeface="Calibri" pitchFamily="34" charset="-120"/>
              </a:rPr>
              <a:t>Actions</a:t>
            </a:r>
            <a:endParaRPr lang="en-US" sz="1250" dirty="0"/>
          </a:p>
        </p:txBody>
      </p:sp>
      <p:sp>
        <p:nvSpPr>
          <p:cNvPr id="14" name="Text 9"/>
          <p:cNvSpPr/>
          <p:nvPr/>
        </p:nvSpPr>
        <p:spPr>
          <a:xfrm>
            <a:off x="9262872" y="4672584"/>
            <a:ext cx="2169871" cy="996696"/>
          </a:xfrm>
          <a:prstGeom prst="rect">
            <a:avLst/>
          </a:prstGeom>
          <a:noFill/>
          <a:ln/>
        </p:spPr>
        <p:txBody>
          <a:bodyPr wrap="square" lIns="0" tIns="0" rIns="0" bIns="0" rtlCol="0" anchor="t"/>
          <a:lstStyle/>
          <a:p>
            <a:pPr indent="0" marL="0">
              <a:lnSpc>
                <a:spcPct val="108000"/>
              </a:lnSpc>
              <a:buNone/>
            </a:pPr>
            <a:r>
              <a:rPr lang="en-US" sz="1050" dirty="0">
                <a:solidFill>
                  <a:srgbClr val="1C2430"/>
                </a:solidFill>
                <a:latin typeface="Calibri" pitchFamily="34" charset="0"/>
                <a:ea typeface="Calibri" pitchFamily="34" charset="-122"/>
                <a:cs typeface="Calibri" pitchFamily="34" charset="-120"/>
              </a:rPr>
              <a:t>Volatilité globale domine nettement : 30 % pour l'Eurostoxx, 45,5 % pour le VSTOXX — canal de la prise de risque</a:t>
            </a:r>
            <a:endParaRPr lang="en-US" sz="1050" dirty="0"/>
          </a:p>
        </p:txBody>
      </p:sp>
      <p:sp>
        <p:nvSpPr>
          <p:cNvPr id="15"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16" name="Text 11"/>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16 /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RÉSULTATS — PERFORMANCE PRÉDICTIVE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H4 validée avec nuances — un apport réel mais différencié du machine learning</a:t>
            </a:r>
            <a:endParaRPr lang="en-US" sz="2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2468880"/>
        </p:xfrm>
        <a:graphic>
          <a:graphicData uri="http://schemas.openxmlformats.org/drawingml/2006/table">
            <a:tbl>
              <a:tblPr/>
              <a:tblGrid>
                <a:gridCol w="2377440"/>
                <a:gridCol w="1737360"/>
                <a:gridCol w="1554480"/>
                <a:gridCol w="1554480"/>
                <a:gridCol w="3977640"/>
              </a:tblGrid>
              <a:tr h="41148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Meilleur modèle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MSE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Repère économétrique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r>
              <a:tr h="411480">
                <a:tc>
                  <a:txBody>
                    <a:bodyPr/>
                    <a:lstStyle/>
                    <a:p>
                      <a:pPr algn="l" indent="0" marL="0">
                        <a:buNone/>
                      </a:pPr>
                      <a:r>
                        <a:rPr lang="en-US" sz="1100" dirty="0">
                          <a:solidFill>
                            <a:srgbClr val="1C2430"/>
                          </a:solidFill>
                          <a:latin typeface="Calibri" pitchFamily="34" charset="0"/>
                          <a:ea typeface="Calibri" pitchFamily="34" charset="-122"/>
                          <a:cs typeface="Calibri" pitchFamily="34" charset="-120"/>
                        </a:rPr>
                        <a:t>Bund 10 ans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DA5"/>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0,00826</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0,05366</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VAR : R² ≈ 0,03–0,08</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1C2430"/>
                          </a:solidFill>
                          <a:latin typeface="Calibri" pitchFamily="34" charset="0"/>
                          <a:ea typeface="Calibri" pitchFamily="34" charset="-122"/>
                          <a:cs typeface="Calibri" pitchFamily="34" charset="-120"/>
                        </a:rPr>
                        <a:t>OAT 10 ans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b="1" dirty="0">
                          <a:solidFill>
                            <a:srgbClr val="003DA5"/>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0,00963</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0,06580</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VAR : R² ≈ 0,03–0,08</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r>
              <a:tr h="411480">
                <a:tc>
                  <a:txBody>
                    <a:bodyPr/>
                    <a:lstStyle/>
                    <a:p>
                      <a:pPr algn="l" indent="0" marL="0">
                        <a:buNone/>
                      </a:pPr>
                      <a:r>
                        <a:rPr lang="en-US" sz="1100" dirty="0">
                          <a:solidFill>
                            <a:srgbClr val="1C2430"/>
                          </a:solidFill>
                          <a:latin typeface="Calibri" pitchFamily="34" charset="0"/>
                          <a:ea typeface="Calibri" pitchFamily="34" charset="-122"/>
                          <a:cs typeface="Calibri" pitchFamily="34" charset="-120"/>
                        </a:rPr>
                        <a:t>Spread BTP–Bund</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DA5"/>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0,02342</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0,11667</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VAR : R² ≈ 0,03–0,08</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1C2430"/>
                          </a:solidFill>
                          <a:latin typeface="Calibri" pitchFamily="34" charset="0"/>
                          <a:ea typeface="Calibri" pitchFamily="34" charset="-122"/>
                          <a:cs typeface="Calibri" pitchFamily="34" charset="-120"/>
                        </a:rPr>
                        <a:t>Eurostoxx 50</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b="1" dirty="0">
                          <a:solidFill>
                            <a:srgbClr val="003DA5"/>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0,0000702</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0,00661</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VAR : R² ≈ 0,03–0,08</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r>
              <a:tr h="411480">
                <a:tc>
                  <a:txBody>
                    <a:bodyPr/>
                    <a:lstStyle/>
                    <a:p>
                      <a:pPr algn="l" indent="0" marL="0">
                        <a:buNone/>
                      </a:pPr>
                      <a:r>
                        <a:rPr lang="en-US" sz="1100" dirty="0">
                          <a:solidFill>
                            <a:srgbClr val="1C2430"/>
                          </a:solidFill>
                          <a:latin typeface="Calibri" pitchFamily="34" charset="0"/>
                          <a:ea typeface="Calibri" pitchFamily="34" charset="-122"/>
                          <a:cs typeface="Calibri" pitchFamily="34" charset="-120"/>
                        </a:rPr>
                        <a:t>VSTOXX</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3DA5"/>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2,3747</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1,2181</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430"/>
                          </a:solidFill>
                          <a:latin typeface="Calibri" pitchFamily="34" charset="0"/>
                          <a:ea typeface="Calibri" pitchFamily="34" charset="-122"/>
                          <a:cs typeface="Calibri" pitchFamily="34" charset="-120"/>
                        </a:rPr>
                        <a:t>GARCH : MSE ≈ 3,0–3,5</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572000"/>
            <a:ext cx="11185855" cy="1051560"/>
          </a:xfrm>
          <a:prstGeom prst="roundRect">
            <a:avLst>
              <a:gd name="adj" fmla="val 7826"/>
            </a:avLst>
          </a:prstGeom>
          <a:solidFill>
            <a:srgbClr val="F4F6FB"/>
          </a:solidFill>
          <a:ln/>
        </p:spPr>
      </p:sp>
      <p:sp>
        <p:nvSpPr>
          <p:cNvPr id="6" name="Text 3"/>
          <p:cNvSpPr/>
          <p:nvPr/>
        </p:nvSpPr>
        <p:spPr>
          <a:xfrm>
            <a:off x="731520" y="4572000"/>
            <a:ext cx="10728655" cy="1051560"/>
          </a:xfrm>
          <a:prstGeom prst="rect">
            <a:avLst/>
          </a:prstGeom>
          <a:noFill/>
          <a:ln/>
        </p:spPr>
        <p:txBody>
          <a:bodyPr wrap="square" lIns="0" tIns="0" rIns="0" bIns="0" rtlCol="0" anchor="ctr"/>
          <a:lstStyle/>
          <a:p>
            <a:pPr indent="0" marL="0">
              <a:lnSpc>
                <a:spcPct val="120000"/>
              </a:lnSpc>
              <a:buNone/>
            </a:pPr>
            <a:r>
              <a:rPr lang="en-US" sz="1150" dirty="0">
                <a:solidFill>
                  <a:srgbClr val="1C2430"/>
                </a:solidFill>
                <a:latin typeface="Calibri" pitchFamily="34" charset="0"/>
                <a:ea typeface="Calibri" pitchFamily="34" charset="-122"/>
                <a:cs typeface="Calibri" pitchFamily="34" charset="-120"/>
              </a:rPr>
              <a:t>Aucune dominance systématique entre XGBoost et LightGBM : LightGBM l'emporte sur le Bund, l'Eurostoxx et le VSTOXX ; XGBoost sur l'OAT et le spread BTP-Bund. Le gradient boosting apporte une valeur ajoutée nette sur le VSTOXX (non-linéarité marquée) et sur les cibles obligataires ; il reste proche des modèles linéaires sur le rendement de l'Eurostoxx, structurellement peu prévisible.</a:t>
            </a:r>
            <a:endParaRPr lang="en-US" sz="1150" dirty="0"/>
          </a:p>
        </p:txBody>
      </p:sp>
      <p:sp>
        <p:nvSpPr>
          <p:cNvPr id="7" name="Text 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8" name="Text 5"/>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17 /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RÉSULTATS — STABILITÉ DES CANAUX</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H5 partiellement validée — structure stable, intensité variable</a:t>
            </a:r>
            <a:endParaRPr lang="en-US" sz="2900" dirty="0"/>
          </a:p>
        </p:txBody>
      </p:sp>
      <p:sp>
        <p:nvSpPr>
          <p:cNvPr id="4" name="Shape 2"/>
          <p:cNvSpPr/>
          <p:nvPr/>
        </p:nvSpPr>
        <p:spPr>
          <a:xfrm>
            <a:off x="502920" y="1783080"/>
            <a:ext cx="5455768" cy="3108960"/>
          </a:xfrm>
          <a:prstGeom prst="roundRect">
            <a:avLst>
              <a:gd name="adj" fmla="val 2647"/>
            </a:avLst>
          </a:prstGeom>
          <a:solidFill>
            <a:srgbClr val="F4F6FB"/>
          </a:solidFill>
          <a:ln/>
          <a:effectLst>
            <a:outerShdw sx="100000" sy="100000" kx="0" ky="0" algn="bl" rotWithShape="0" blurRad="76200" dist="25400" dir="5400000">
              <a:srgbClr val="9AA5B8">
                <a:alpha val="25000"/>
              </a:srgbClr>
            </a:outerShdw>
          </a:effectLst>
        </p:spPr>
      </p:sp>
      <p:sp>
        <p:nvSpPr>
          <p:cNvPr id="5" name="Shape 3"/>
          <p:cNvSpPr/>
          <p:nvPr/>
        </p:nvSpPr>
        <p:spPr>
          <a:xfrm>
            <a:off x="758952" y="2020824"/>
            <a:ext cx="502920" cy="502920"/>
          </a:xfrm>
          <a:prstGeom prst="ellipse">
            <a:avLst/>
          </a:prstGeom>
          <a:solidFill>
            <a:srgbClr val="003DA5"/>
          </a:solidFill>
          <a:ln/>
        </p:spPr>
      </p:sp>
      <p:pic>
        <p:nvPicPr>
          <p:cNvPr id="6" name="Image 0" descr="/tmp/claude-0/-home-user-Quant-Trade/38df2136-4dac-5b45-a6c7-4baf7be7dbaa/scratchpad/deck/icons/cpu_white.png">    </p:cNvPr>
          <p:cNvPicPr>
            <a:picLocks noChangeAspect="1"/>
          </p:cNvPicPr>
          <p:nvPr/>
        </p:nvPicPr>
        <p:blipFill>
          <a:blip r:embed="rId1"/>
          <a:stretch>
            <a:fillRect/>
          </a:stretch>
        </p:blipFill>
        <p:spPr>
          <a:xfrm>
            <a:off x="824332" y="2086204"/>
            <a:ext cx="372161" cy="372161"/>
          </a:xfrm>
          <a:prstGeom prst="rect">
            <a:avLst/>
          </a:prstGeom>
        </p:spPr>
      </p:pic>
      <p:sp>
        <p:nvSpPr>
          <p:cNvPr id="7" name="Text 4"/>
          <p:cNvSpPr/>
          <p:nvPr/>
        </p:nvSpPr>
        <p:spPr>
          <a:xfrm>
            <a:off x="1444752" y="2002536"/>
            <a:ext cx="4440784" cy="502920"/>
          </a:xfrm>
          <a:prstGeom prst="rect">
            <a:avLst/>
          </a:prstGeom>
          <a:noFill/>
          <a:ln/>
        </p:spPr>
        <p:txBody>
          <a:bodyPr wrap="square" lIns="0" tIns="0" rIns="0" bIns="0" rtlCol="0" anchor="ctr"/>
          <a:lstStyle/>
          <a:p>
            <a:pPr indent="0" marL="0">
              <a:lnSpc>
                <a:spcPct val="100000"/>
              </a:lnSpc>
              <a:buNone/>
            </a:pPr>
            <a:r>
              <a:rPr lang="en-US" sz="1350" b="1" dirty="0">
                <a:solidFill>
                  <a:srgbClr val="001E60"/>
                </a:solidFill>
                <a:latin typeface="Calibri" pitchFamily="34" charset="0"/>
                <a:ea typeface="Calibri" pitchFamily="34" charset="-122"/>
                <a:cs typeface="Calibri" pitchFamily="34" charset="-120"/>
              </a:rPr>
              <a:t>Ce que dit le modèle joint (SHAP)</a:t>
            </a:r>
            <a:endParaRPr lang="en-US" sz="1350" dirty="0"/>
          </a:p>
        </p:txBody>
      </p:sp>
      <p:sp>
        <p:nvSpPr>
          <p:cNvPr id="8" name="Text 5"/>
          <p:cNvSpPr/>
          <p:nvPr/>
        </p:nvSpPr>
        <p:spPr>
          <a:xfrm>
            <a:off x="758952" y="2615184"/>
            <a:ext cx="4943704" cy="2093976"/>
          </a:xfrm>
          <a:prstGeom prst="rect">
            <a:avLst/>
          </a:prstGeom>
          <a:noFill/>
          <a:ln/>
        </p:spPr>
        <p:txBody>
          <a:bodyPr wrap="square" lIns="0" tIns="0" rIns="0" bIns="0" rtlCol="0" anchor="t"/>
          <a:lstStyle/>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La variable de régime ne représente que 0,1 % à 3,0 % de l'importance SHAP totale selon le modèle.</a:t>
            </a:r>
            <a:endParaRPr lang="en-US" sz="1150" dirty="0"/>
          </a:p>
          <a:p>
            <a:pPr indent="0" marL="0">
              <a:lnSpc>
                <a:spcPct val="108000"/>
              </a:lnSpc>
              <a:buNone/>
            </a:pPr>
            <a:endParaRPr lang="en-US" sz="1150" dirty="0"/>
          </a:p>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La hiérarchie relative des canaux (volatilité, fragmentation, mémoire, achats d'actifs, taux directeur) apparaît globalement stable dans le temps.</a:t>
            </a:r>
            <a:endParaRPr lang="en-US" sz="1150" dirty="0"/>
          </a:p>
        </p:txBody>
      </p:sp>
      <p:sp>
        <p:nvSpPr>
          <p:cNvPr id="9" name="Shape 6"/>
          <p:cNvSpPr/>
          <p:nvPr/>
        </p:nvSpPr>
        <p:spPr>
          <a:xfrm>
            <a:off x="6233008" y="1783080"/>
            <a:ext cx="5455768" cy="3108960"/>
          </a:xfrm>
          <a:prstGeom prst="roundRect">
            <a:avLst>
              <a:gd name="adj" fmla="val 2647"/>
            </a:avLst>
          </a:prstGeom>
          <a:solidFill>
            <a:srgbClr val="F4F6FB"/>
          </a:solidFill>
          <a:ln/>
          <a:effectLst>
            <a:outerShdw sx="100000" sy="100000" kx="0" ky="0" algn="bl" rotWithShape="0" blurRad="76200" dist="25400" dir="5400000">
              <a:srgbClr val="9AA5B8">
                <a:alpha val="25000"/>
              </a:srgbClr>
            </a:outerShdw>
          </a:effectLst>
        </p:spPr>
      </p:sp>
      <p:sp>
        <p:nvSpPr>
          <p:cNvPr id="10" name="Shape 7"/>
          <p:cNvSpPr/>
          <p:nvPr/>
        </p:nvSpPr>
        <p:spPr>
          <a:xfrm>
            <a:off x="6489040" y="2020824"/>
            <a:ext cx="502920" cy="502920"/>
          </a:xfrm>
          <a:prstGeom prst="ellipse">
            <a:avLst/>
          </a:prstGeom>
          <a:solidFill>
            <a:srgbClr val="FF8200"/>
          </a:solidFill>
          <a:ln/>
        </p:spPr>
      </p:sp>
      <p:pic>
        <p:nvPicPr>
          <p:cNvPr id="11" name="Image 1" descr="/tmp/claude-0/-home-user-Quant-Trade/38df2136-4dac-5b45-a6c7-4baf7be7dbaa/scratchpad/deck/icons/calendar_white.png">    </p:cNvPr>
          <p:cNvPicPr>
            <a:picLocks noChangeAspect="1"/>
          </p:cNvPicPr>
          <p:nvPr/>
        </p:nvPicPr>
        <p:blipFill>
          <a:blip r:embed="rId2"/>
          <a:stretch>
            <a:fillRect/>
          </a:stretch>
        </p:blipFill>
        <p:spPr>
          <a:xfrm>
            <a:off x="6554419" y="2086204"/>
            <a:ext cx="372161" cy="372161"/>
          </a:xfrm>
          <a:prstGeom prst="rect">
            <a:avLst/>
          </a:prstGeom>
        </p:spPr>
      </p:pic>
      <p:sp>
        <p:nvSpPr>
          <p:cNvPr id="12" name="Text 8"/>
          <p:cNvSpPr/>
          <p:nvPr/>
        </p:nvSpPr>
        <p:spPr>
          <a:xfrm>
            <a:off x="7174840" y="2002536"/>
            <a:ext cx="4440784" cy="502920"/>
          </a:xfrm>
          <a:prstGeom prst="rect">
            <a:avLst/>
          </a:prstGeom>
          <a:noFill/>
          <a:ln/>
        </p:spPr>
        <p:txBody>
          <a:bodyPr wrap="square" lIns="0" tIns="0" rIns="0" bIns="0" rtlCol="0" anchor="ctr"/>
          <a:lstStyle/>
          <a:p>
            <a:pPr indent="0" marL="0">
              <a:lnSpc>
                <a:spcPct val="100000"/>
              </a:lnSpc>
              <a:buNone/>
            </a:pPr>
            <a:r>
              <a:rPr lang="en-US" sz="1350" b="1" dirty="0">
                <a:solidFill>
                  <a:srgbClr val="001E60"/>
                </a:solidFill>
                <a:latin typeface="Calibri" pitchFamily="34" charset="0"/>
                <a:ea typeface="Calibri" pitchFamily="34" charset="-122"/>
                <a:cs typeface="Calibri" pitchFamily="34" charset="-120"/>
              </a:rPr>
              <a:t>Ce que dit l'étude d'événement segmentée</a:t>
            </a:r>
            <a:endParaRPr lang="en-US" sz="1350" dirty="0"/>
          </a:p>
        </p:txBody>
      </p:sp>
      <p:sp>
        <p:nvSpPr>
          <p:cNvPr id="13" name="Text 9"/>
          <p:cNvSpPr/>
          <p:nvPr/>
        </p:nvSpPr>
        <p:spPr>
          <a:xfrm>
            <a:off x="6489040" y="2615184"/>
            <a:ext cx="4943704" cy="2093976"/>
          </a:xfrm>
          <a:prstGeom prst="rect">
            <a:avLst/>
          </a:prstGeom>
          <a:noFill/>
          <a:ln/>
        </p:spPr>
        <p:txBody>
          <a:bodyPr wrap="square" lIns="0" tIns="0" rIns="0" bIns="0" rtlCol="0" anchor="t"/>
          <a:lstStyle/>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Les niveaux de réaction diffèrent nettement d'un régime à l'autre : Eurostoxx +1,10 % (Régime 3) contre +0,04 % (Régime 2) sur [-1;+1].</a:t>
            </a:r>
            <a:endParaRPr lang="en-US" sz="1150" dirty="0"/>
          </a:p>
          <a:p>
            <a:pPr indent="0" marL="0">
              <a:lnSpc>
                <a:spcPct val="108000"/>
              </a:lnSpc>
              <a:buNone/>
            </a:pPr>
            <a:endParaRPr lang="en-US" sz="1150" dirty="0"/>
          </a:p>
          <a:p>
            <a:pPr indent="0" marL="0">
              <a:lnSpc>
                <a:spcPct val="108000"/>
              </a:lnSpc>
              <a:buNone/>
            </a:pPr>
            <a:r>
              <a:rPr lang="en-US" sz="1150" dirty="0">
                <a:solidFill>
                  <a:srgbClr val="1C2430"/>
                </a:solidFill>
                <a:latin typeface="Calibri" pitchFamily="34" charset="0"/>
                <a:ea typeface="Calibri" pitchFamily="34" charset="-122"/>
                <a:cs typeface="Calibri" pitchFamily="34" charset="-120"/>
              </a:rPr>
              <a:t>→ L'intensité d'activation des canaux varie fortement selon le contexte monétaire.</a:t>
            </a:r>
            <a:endParaRPr lang="en-US" sz="1150" dirty="0"/>
          </a:p>
        </p:txBody>
      </p:sp>
      <p:sp>
        <p:nvSpPr>
          <p:cNvPr id="14" name="Shape 10"/>
          <p:cNvSpPr/>
          <p:nvPr/>
        </p:nvSpPr>
        <p:spPr>
          <a:xfrm>
            <a:off x="502920" y="5120640"/>
            <a:ext cx="11185855" cy="1005840"/>
          </a:xfrm>
          <a:prstGeom prst="roundRect">
            <a:avLst>
              <a:gd name="adj" fmla="val 8182"/>
            </a:avLst>
          </a:prstGeom>
          <a:solidFill>
            <a:srgbClr val="001E60"/>
          </a:solidFill>
          <a:ln/>
        </p:spPr>
      </p:sp>
      <p:sp>
        <p:nvSpPr>
          <p:cNvPr id="15" name="Text 11"/>
          <p:cNvSpPr/>
          <p:nvPr/>
        </p:nvSpPr>
        <p:spPr>
          <a:xfrm>
            <a:off x="822960" y="5120640"/>
            <a:ext cx="10545775" cy="1005840"/>
          </a:xfrm>
          <a:prstGeom prst="rect">
            <a:avLst/>
          </a:prstGeom>
          <a:noFill/>
          <a:ln/>
        </p:spPr>
        <p:txBody>
          <a:bodyPr wrap="square" lIns="0" tIns="0" rIns="0" bIns="0" rtlCol="0" anchor="ctr"/>
          <a:lstStyle/>
          <a:p>
            <a:pPr algn="ctr" indent="0" marL="0">
              <a:lnSpc>
                <a:spcPct val="115000"/>
              </a:lnSpc>
              <a:buNone/>
            </a:pPr>
            <a:r>
              <a:rPr lang="en-US" sz="1400" b="1" i="1" dirty="0">
                <a:solidFill>
                  <a:srgbClr val="FFFFFF"/>
                </a:solidFill>
                <a:latin typeface="Calibri" pitchFamily="34" charset="0"/>
                <a:ea typeface="Calibri" pitchFamily="34" charset="-122"/>
                <a:cs typeface="Calibri" pitchFamily="34" charset="-120"/>
              </a:rPr>
              <a:t>Distinction clé : la structure des canaux de transmission est stable — mais leur intensité d'activation varie selon le régime monétaire en vigueur.</a:t>
            </a:r>
            <a:endParaRPr lang="en-US" sz="1400" dirty="0"/>
          </a:p>
        </p:txBody>
      </p:sp>
      <p:sp>
        <p:nvSpPr>
          <p:cNvPr id="16"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17" name="Text 13"/>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18 /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SYNTHÈSE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Cinq hypothèses, cinq verdicts nuancés</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5855" cy="3566160"/>
        </p:xfrm>
        <a:graphic>
          <a:graphicData uri="http://schemas.openxmlformats.org/drawingml/2006/table">
            <a:tbl>
              <a:tblPr/>
              <a:tblGrid>
                <a:gridCol w="1005840"/>
                <a:gridCol w="7498080"/>
                <a:gridCol w="2679192"/>
              </a:tblGrid>
              <a:tr h="65836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Hyp.</a:t>
                      </a:r>
                      <a:endParaRPr lang="en-US" sz="12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Objet de l'hypothèse</a:t>
                      </a:r>
                      <a:endParaRPr lang="en-US" sz="12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1E60"/>
                    </a:solidFill>
                  </a:tcPr>
                </a:tc>
              </a:tr>
              <a:tr h="658368">
                <a:tc>
                  <a:txBody>
                    <a:bodyPr/>
                    <a:lstStyle/>
                    <a:p>
                      <a:pPr algn="ctr" indent="0" marL="0">
                        <a:buNone/>
                      </a:pPr>
                      <a:r>
                        <a:rPr lang="en-US" sz="1400" b="1" dirty="0">
                          <a:solidFill>
                            <a:srgbClr val="003DA5"/>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430"/>
                          </a:solidFill>
                          <a:latin typeface="Calibri" pitchFamily="34" charset="0"/>
                          <a:ea typeface="Calibri" pitchFamily="34" charset="-122"/>
                          <a:cs typeface="Calibri" pitchFamily="34" charset="-120"/>
                        </a:rPr>
                        <a:t>Effet significatif de la politique monétaire de la BCE</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Validée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B398"/>
                    </a:solidFill>
                  </a:tcPr>
                </a:tc>
              </a:tr>
              <a:tr h="658368">
                <a:tc>
                  <a:txBody>
                    <a:bodyPr/>
                    <a:lstStyle/>
                    <a:p>
                      <a:pPr algn="ctr" indent="0" marL="0">
                        <a:buNone/>
                      </a:pPr>
                      <a:r>
                        <a:rPr lang="en-US" sz="1400" b="1" dirty="0">
                          <a:solidFill>
                            <a:srgbClr val="003DA5"/>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l" indent="0" marL="0">
                        <a:buNone/>
                      </a:pPr>
                      <a:r>
                        <a:rPr lang="en-US" sz="1250" dirty="0">
                          <a:solidFill>
                            <a:srgbClr val="1C2430"/>
                          </a:solidFill>
                          <a:latin typeface="Calibri" pitchFamily="34" charset="0"/>
                          <a:ea typeface="Calibri" pitchFamily="34" charset="-122"/>
                          <a:cs typeface="Calibri" pitchFamily="34" charset="-120"/>
                        </a:rPr>
                        <a:t>Asymétrie des effets selon le régime monétaire</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Validée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B398"/>
                    </a:solidFill>
                  </a:tcPr>
                </a:tc>
              </a:tr>
              <a:tr h="658368">
                <a:tc>
                  <a:txBody>
                    <a:bodyPr/>
                    <a:lstStyle/>
                    <a:p>
                      <a:pPr algn="ctr" indent="0" marL="0">
                        <a:buNone/>
                      </a:pPr>
                      <a:r>
                        <a:rPr lang="en-US" sz="1400" b="1" dirty="0">
                          <a:solidFill>
                            <a:srgbClr val="003DA5"/>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430"/>
                          </a:solidFill>
                          <a:latin typeface="Calibri" pitchFamily="34" charset="0"/>
                          <a:ea typeface="Calibri" pitchFamily="34" charset="-122"/>
                          <a:cs typeface="Calibri" pitchFamily="34" charset="-120"/>
                        </a:rPr>
                        <a:t>Hétérogénéité des canaux entre obligataire et actions</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Validée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00B398"/>
                    </a:solidFill>
                  </a:tcPr>
                </a:tc>
              </a:tr>
              <a:tr h="658368">
                <a:tc>
                  <a:txBody>
                    <a:bodyPr/>
                    <a:lstStyle/>
                    <a:p>
                      <a:pPr algn="ctr" indent="0" marL="0">
                        <a:buNone/>
                      </a:pPr>
                      <a:r>
                        <a:rPr lang="en-US" sz="1400" b="1" dirty="0">
                          <a:solidFill>
                            <a:srgbClr val="003DA5"/>
                          </a:solidFill>
                          <a:latin typeface="Calibri" pitchFamily="34" charset="0"/>
                          <a:ea typeface="Calibri" pitchFamily="34" charset="-122"/>
                          <a:cs typeface="Calibri" pitchFamily="34" charset="-120"/>
                        </a:rPr>
                        <a:t>H4</a:t>
                      </a:r>
                      <a:endParaRPr lang="en-US" sz="14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l" indent="0" marL="0">
                        <a:buNone/>
                      </a:pPr>
                      <a:r>
                        <a:rPr lang="en-US" sz="1250" dirty="0">
                          <a:solidFill>
                            <a:srgbClr val="1C2430"/>
                          </a:solidFill>
                          <a:latin typeface="Calibri" pitchFamily="34" charset="0"/>
                          <a:ea typeface="Calibri" pitchFamily="34" charset="-122"/>
                          <a:cs typeface="Calibri" pitchFamily="34" charset="-120"/>
                        </a:rPr>
                        <a:t>Apport prédictif du gradient boosting vs VAR/GARCH</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Validée avec nuances</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B600"/>
                    </a:solidFill>
                  </a:tcPr>
                </a:tc>
              </a:tr>
              <a:tr h="658368">
                <a:tc>
                  <a:txBody>
                    <a:bodyPr/>
                    <a:lstStyle/>
                    <a:p>
                      <a:pPr algn="ctr" indent="0" marL="0">
                        <a:buNone/>
                      </a:pPr>
                      <a:r>
                        <a:rPr lang="en-US" sz="1400" b="1" dirty="0">
                          <a:solidFill>
                            <a:srgbClr val="003DA5"/>
                          </a:solidFill>
                          <a:latin typeface="Calibri" pitchFamily="34" charset="0"/>
                          <a:ea typeface="Calibri" pitchFamily="34" charset="-122"/>
                          <a:cs typeface="Calibri" pitchFamily="34" charset="-120"/>
                        </a:rPr>
                        <a:t>H5</a:t>
                      </a:r>
                      <a:endParaRPr lang="en-US" sz="14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430"/>
                          </a:solidFill>
                          <a:latin typeface="Calibri" pitchFamily="34" charset="0"/>
                          <a:ea typeface="Calibri" pitchFamily="34" charset="-122"/>
                          <a:cs typeface="Calibri" pitchFamily="34" charset="-120"/>
                        </a:rPr>
                        <a:t>Recomposition de la hiérarchie des canaux selon le régime</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Partiellement validée</a:t>
                      </a:r>
                      <a:endParaRPr lang="en-US" sz="11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8200"/>
                    </a:solidFill>
                  </a:tcPr>
                </a:tc>
              </a:tr>
            </a:tbl>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III. Résultats empiriques</a:t>
            </a:r>
            <a:endParaRPr lang="en-US" sz="900" dirty="0"/>
          </a:p>
        </p:txBody>
      </p:sp>
      <p:sp>
        <p:nvSpPr>
          <p:cNvPr id="6" name="Text 3"/>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19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9448495" y="-1463040"/>
            <a:ext cx="4206240" cy="4206240"/>
          </a:xfrm>
          <a:prstGeom prst="ellipse">
            <a:avLst/>
          </a:prstGeom>
          <a:solidFill>
            <a:srgbClr val="0A2B70"/>
          </a:solidFill>
          <a:ln/>
        </p:spPr>
      </p:sp>
      <p:sp>
        <p:nvSpPr>
          <p:cNvPr id="3" name="Shape 1"/>
          <p:cNvSpPr/>
          <p:nvPr/>
        </p:nvSpPr>
        <p:spPr>
          <a:xfrm>
            <a:off x="-1463040" y="4846320"/>
            <a:ext cx="3291840" cy="3291840"/>
          </a:xfrm>
          <a:prstGeom prst="ellipse">
            <a:avLst/>
          </a:prstGeom>
          <a:solidFill>
            <a:srgbClr val="0A2B70"/>
          </a:solidFill>
          <a:ln/>
        </p:spPr>
      </p:sp>
      <p:sp>
        <p:nvSpPr>
          <p:cNvPr id="4" name="Text 2"/>
          <p:cNvSpPr/>
          <p:nvPr/>
        </p:nvSpPr>
        <p:spPr>
          <a:xfrm>
            <a:off x="502920" y="1965960"/>
            <a:ext cx="2743200" cy="1463040"/>
          </a:xfrm>
          <a:prstGeom prst="rect">
            <a:avLst/>
          </a:prstGeom>
          <a:noFill/>
          <a:ln/>
        </p:spPr>
        <p:txBody>
          <a:bodyPr wrap="square" lIns="0" tIns="0" rIns="0" bIns="0" rtlCol="0" anchor="ctr"/>
          <a:lstStyle/>
          <a:p>
            <a:pPr indent="0" marL="0">
              <a:buNone/>
            </a:pPr>
            <a:r>
              <a:rPr lang="en-US" sz="7000" b="1" dirty="0">
                <a:solidFill>
                  <a:srgbClr val="009FDF"/>
                </a:solidFill>
                <a:latin typeface="Calibri" pitchFamily="34" charset="0"/>
                <a:ea typeface="Calibri" pitchFamily="34" charset="-122"/>
                <a:cs typeface="Calibri" pitchFamily="34" charset="-120"/>
              </a:rPr>
              <a:t>IV.</a:t>
            </a:r>
            <a:endParaRPr lang="en-US" sz="7000" dirty="0"/>
          </a:p>
        </p:txBody>
      </p:sp>
      <p:sp>
        <p:nvSpPr>
          <p:cNvPr id="5" name="Text 3"/>
          <p:cNvSpPr/>
          <p:nvPr/>
        </p:nvSpPr>
        <p:spPr>
          <a:xfrm>
            <a:off x="502920" y="3246120"/>
            <a:ext cx="9692640" cy="146304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Contributions, limites</a:t>
            </a:r>
            <a:endParaRPr lang="en-US" sz="3000" dirty="0"/>
          </a:p>
          <a:p>
            <a:pPr indent="0" marL="0">
              <a:lnSpc>
                <a:spcPct val="108000"/>
              </a:lnSpc>
              <a:buNone/>
            </a:pPr>
            <a:r>
              <a:rPr lang="en-US" sz="3000" b="1" dirty="0">
                <a:solidFill>
                  <a:srgbClr val="FFFFFF"/>
                </a:solidFill>
                <a:latin typeface="Calibri" pitchFamily="34" charset="0"/>
                <a:ea typeface="Calibri" pitchFamily="34" charset="-122"/>
                <a:cs typeface="Calibri" pitchFamily="34" charset="-120"/>
              </a:rPr>
              <a:t>et perspectives</a:t>
            </a:r>
            <a:endParaRPr lang="en-US" sz="3000" dirty="0"/>
          </a:p>
        </p:txBody>
      </p:sp>
      <p:sp>
        <p:nvSpPr>
          <p:cNvPr id="6" name="Text 4"/>
          <p:cNvSpPr/>
          <p:nvPr/>
        </p:nvSpPr>
        <p:spPr>
          <a:xfrm>
            <a:off x="502920" y="4480560"/>
            <a:ext cx="9875520" cy="822960"/>
          </a:xfrm>
          <a:prstGeom prst="rect">
            <a:avLst/>
          </a:prstGeom>
          <a:noFill/>
          <a:ln/>
        </p:spPr>
        <p:txBody>
          <a:bodyPr wrap="square" lIns="0" tIns="0" rIns="0" bIns="0" rtlCol="0" anchor="ctr"/>
          <a:lstStyle/>
          <a:p>
            <a:pPr indent="0" marL="0">
              <a:lnSpc>
                <a:spcPct val="115000"/>
              </a:lnSpc>
              <a:buNone/>
            </a:pPr>
            <a:r>
              <a:rPr lang="en-US" sz="1350" dirty="0">
                <a:solidFill>
                  <a:srgbClr val="AFC2E8"/>
                </a:solidFill>
                <a:latin typeface="Calibri" pitchFamily="34" charset="0"/>
                <a:ea typeface="Calibri" pitchFamily="34" charset="-122"/>
                <a:cs typeface="Calibri" pitchFamily="34" charset="-120"/>
              </a:rPr>
              <a:t>Apports académiques et opérationnels — limites assumées — prolongements de recherche</a:t>
            </a:r>
            <a:endParaRPr lang="en-US" sz="1350" dirty="0"/>
          </a:p>
        </p:txBody>
      </p:sp>
      <p:sp>
        <p:nvSpPr>
          <p:cNvPr id="7" name="Text 5"/>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20 / 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CONTRIBUTIONS DU MÉMOIRE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Trois apports académiques, des implications opérationnelles concrètes</a:t>
            </a:r>
            <a:endParaRPr lang="en-US" sz="2900" dirty="0"/>
          </a:p>
        </p:txBody>
      </p:sp>
      <p:sp>
        <p:nvSpPr>
          <p:cNvPr id="4" name="Shape 2"/>
          <p:cNvSpPr/>
          <p:nvPr/>
        </p:nvSpPr>
        <p:spPr>
          <a:xfrm>
            <a:off x="502920" y="1783080"/>
            <a:ext cx="5455768" cy="4160520"/>
          </a:xfrm>
          <a:prstGeom prst="roundRect">
            <a:avLst>
              <a:gd name="adj" fmla="val 1978"/>
            </a:avLst>
          </a:prstGeom>
          <a:solidFill>
            <a:srgbClr val="F4F6FB"/>
          </a:solidFill>
          <a:ln/>
          <a:effectLst>
            <a:outerShdw sx="100000" sy="100000" kx="0" ky="0" algn="bl" rotWithShape="0" blurRad="76200" dist="25400" dir="5400000">
              <a:srgbClr val="9AA5B8">
                <a:alpha val="22000"/>
              </a:srgbClr>
            </a:outerShdw>
          </a:effectLst>
        </p:spPr>
      </p:sp>
      <p:sp>
        <p:nvSpPr>
          <p:cNvPr id="5" name="Shape 3"/>
          <p:cNvSpPr/>
          <p:nvPr/>
        </p:nvSpPr>
        <p:spPr>
          <a:xfrm>
            <a:off x="731520" y="1984248"/>
            <a:ext cx="457200" cy="457200"/>
          </a:xfrm>
          <a:prstGeom prst="ellipse">
            <a:avLst/>
          </a:prstGeom>
          <a:solidFill>
            <a:srgbClr val="003DA5"/>
          </a:solidFill>
          <a:ln/>
        </p:spPr>
      </p:sp>
      <p:pic>
        <p:nvPicPr>
          <p:cNvPr id="6" name="Image 0" descr="/tmp/claude-0/-home-user-Quant-Trade/38df2136-4dac-5b45-a6c7-4baf7be7dbaa/scratchpad/deck/icons/book_white.png">    </p:cNvPr>
          <p:cNvPicPr>
            <a:picLocks noChangeAspect="1"/>
          </p:cNvPicPr>
          <p:nvPr/>
        </p:nvPicPr>
        <p:blipFill>
          <a:blip r:embed="rId1"/>
          <a:stretch>
            <a:fillRect/>
          </a:stretch>
        </p:blipFill>
        <p:spPr>
          <a:xfrm>
            <a:off x="790956" y="2043684"/>
            <a:ext cx="338328" cy="338328"/>
          </a:xfrm>
          <a:prstGeom prst="rect">
            <a:avLst/>
          </a:prstGeom>
        </p:spPr>
      </p:pic>
      <p:sp>
        <p:nvSpPr>
          <p:cNvPr id="7" name="Text 4"/>
          <p:cNvSpPr/>
          <p:nvPr/>
        </p:nvSpPr>
        <p:spPr>
          <a:xfrm>
            <a:off x="1325880" y="1984248"/>
            <a:ext cx="4449928" cy="457200"/>
          </a:xfrm>
          <a:prstGeom prst="rect">
            <a:avLst/>
          </a:prstGeom>
          <a:noFill/>
          <a:ln/>
        </p:spPr>
        <p:txBody>
          <a:bodyPr wrap="square" lIns="0" tIns="0" rIns="0" bIns="0" rtlCol="0" anchor="ctr"/>
          <a:lstStyle/>
          <a:p>
            <a:pPr indent="0" marL="0">
              <a:buNone/>
            </a:pPr>
            <a:r>
              <a:rPr lang="en-US" sz="1500" b="1" dirty="0">
                <a:solidFill>
                  <a:srgbClr val="001E60"/>
                </a:solidFill>
                <a:latin typeface="Calibri" pitchFamily="34" charset="0"/>
                <a:ea typeface="Calibri" pitchFamily="34" charset="-122"/>
                <a:cs typeface="Calibri" pitchFamily="34" charset="-120"/>
              </a:rPr>
              <a:t>Apports académiques</a:t>
            </a:r>
            <a:endParaRPr lang="en-US" sz="1500" dirty="0"/>
          </a:p>
        </p:txBody>
      </p:sp>
      <p:sp>
        <p:nvSpPr>
          <p:cNvPr id="8" name="Text 5"/>
          <p:cNvSpPr/>
          <p:nvPr/>
        </p:nvSpPr>
        <p:spPr>
          <a:xfrm>
            <a:off x="777240" y="2651760"/>
            <a:ext cx="4907128" cy="2743200"/>
          </a:xfrm>
          <a:prstGeom prst="rect">
            <a:avLst/>
          </a:prstGeom>
          <a:noFill/>
          <a:ln/>
        </p:spPr>
        <p:txBody>
          <a:bodyPr wrap="square" lIns="0" tIns="0" rIns="0" bIns="0" rtlCol="0" anchor="t"/>
          <a:lstStyle/>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Triangulation event study × machine learning explicable sur une décennie inédite (3 régimes)</a:t>
            </a:r>
            <a:endParaRPr lang="en-US" sz="1200" dirty="0"/>
          </a:p>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Usage conjoint XGBoost, LightGBM et valeurs SHAP en cadre régime-dépendant — rare en littérature francophone</a:t>
            </a:r>
            <a:endParaRPr lang="en-US" sz="1200" dirty="0"/>
          </a:p>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Hiérarchie précise des canaux : taux d'intérêt et fragmentation côté obligataire, prise de risque côté actions</a:t>
            </a:r>
            <a:endParaRPr lang="en-US" sz="1200" dirty="0"/>
          </a:p>
        </p:txBody>
      </p:sp>
      <p:sp>
        <p:nvSpPr>
          <p:cNvPr id="9" name="Shape 6"/>
          <p:cNvSpPr/>
          <p:nvPr/>
        </p:nvSpPr>
        <p:spPr>
          <a:xfrm>
            <a:off x="6233008" y="1783080"/>
            <a:ext cx="5455768" cy="4160520"/>
          </a:xfrm>
          <a:prstGeom prst="roundRect">
            <a:avLst>
              <a:gd name="adj" fmla="val 1978"/>
            </a:avLst>
          </a:prstGeom>
          <a:solidFill>
            <a:srgbClr val="F4F6FB"/>
          </a:solidFill>
          <a:ln/>
          <a:effectLst>
            <a:outerShdw sx="100000" sy="100000" kx="0" ky="0" algn="bl" rotWithShape="0" blurRad="76200" dist="25400" dir="5400000">
              <a:srgbClr val="9AA5B8">
                <a:alpha val="22000"/>
              </a:srgbClr>
            </a:outerShdw>
          </a:effectLst>
        </p:spPr>
      </p:sp>
      <p:sp>
        <p:nvSpPr>
          <p:cNvPr id="10" name="Shape 7"/>
          <p:cNvSpPr/>
          <p:nvPr/>
        </p:nvSpPr>
        <p:spPr>
          <a:xfrm>
            <a:off x="6461608" y="1984248"/>
            <a:ext cx="457200" cy="457200"/>
          </a:xfrm>
          <a:prstGeom prst="ellipse">
            <a:avLst/>
          </a:prstGeom>
          <a:solidFill>
            <a:srgbClr val="00B398"/>
          </a:solidFill>
          <a:ln/>
        </p:spPr>
      </p:sp>
      <p:pic>
        <p:nvPicPr>
          <p:cNvPr id="11" name="Image 1" descr="/tmp/claude-0/-home-user-Quant-Trade/38df2136-4dac-5b45-a6c7-4baf7be7dbaa/scratchpad/deck/icons/briefcase_white.png">    </p:cNvPr>
          <p:cNvPicPr>
            <a:picLocks noChangeAspect="1"/>
          </p:cNvPicPr>
          <p:nvPr/>
        </p:nvPicPr>
        <p:blipFill>
          <a:blip r:embed="rId2"/>
          <a:stretch>
            <a:fillRect/>
          </a:stretch>
        </p:blipFill>
        <p:spPr>
          <a:xfrm>
            <a:off x="6521044" y="2043684"/>
            <a:ext cx="338328" cy="338328"/>
          </a:xfrm>
          <a:prstGeom prst="rect">
            <a:avLst/>
          </a:prstGeom>
        </p:spPr>
      </p:pic>
      <p:sp>
        <p:nvSpPr>
          <p:cNvPr id="12" name="Text 8"/>
          <p:cNvSpPr/>
          <p:nvPr/>
        </p:nvSpPr>
        <p:spPr>
          <a:xfrm>
            <a:off x="7055968" y="1984248"/>
            <a:ext cx="4449928" cy="457200"/>
          </a:xfrm>
          <a:prstGeom prst="rect">
            <a:avLst/>
          </a:prstGeom>
          <a:noFill/>
          <a:ln/>
        </p:spPr>
        <p:txBody>
          <a:bodyPr wrap="square" lIns="0" tIns="0" rIns="0" bIns="0" rtlCol="0" anchor="ctr"/>
          <a:lstStyle/>
          <a:p>
            <a:pPr indent="0" marL="0">
              <a:buNone/>
            </a:pPr>
            <a:r>
              <a:rPr lang="en-US" sz="1500" b="1" dirty="0">
                <a:solidFill>
                  <a:srgbClr val="001E60"/>
                </a:solidFill>
                <a:latin typeface="Calibri" pitchFamily="34" charset="0"/>
                <a:ea typeface="Calibri" pitchFamily="34" charset="-122"/>
                <a:cs typeface="Calibri" pitchFamily="34" charset="-120"/>
              </a:rPr>
              <a:t>Implications opérationnelles</a:t>
            </a:r>
            <a:endParaRPr lang="en-US" sz="1500" dirty="0"/>
          </a:p>
        </p:txBody>
      </p:sp>
      <p:sp>
        <p:nvSpPr>
          <p:cNvPr id="13" name="Text 9"/>
          <p:cNvSpPr/>
          <p:nvPr/>
        </p:nvSpPr>
        <p:spPr>
          <a:xfrm>
            <a:off x="6507328" y="2651760"/>
            <a:ext cx="4907128" cy="2743200"/>
          </a:xfrm>
          <a:prstGeom prst="rect">
            <a:avLst/>
          </a:prstGeom>
          <a:noFill/>
          <a:ln/>
        </p:spPr>
        <p:txBody>
          <a:bodyPr wrap="square" lIns="0" tIns="0" rIns="0" bIns="0" rtlCol="0" anchor="t"/>
          <a:lstStyle/>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Suivre les spreads souverains périphériques comme indicateur avancé — y compris pour les émetteurs cœur (Bund, OAT)</a:t>
            </a:r>
            <a:endParaRPr lang="en-US" sz="1200" dirty="0"/>
          </a:p>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Intégrer systématiquement des indicateurs de risque global (VIX) dans la gestion des actifs actions zone euro</a:t>
            </a:r>
            <a:endParaRPr lang="en-US" sz="1200" dirty="0"/>
          </a:p>
          <a:p>
            <a:pPr marL="177800" indent="-177800">
              <a:lnSpc>
                <a:spcPct val="112000"/>
              </a:lnSpc>
              <a:spcAft>
                <a:spcPts val="1200"/>
              </a:spcAft>
              <a:buSzPct val="100000"/>
              <a:buChar char="–"/>
            </a:pPr>
            <a:r>
              <a:rPr lang="en-US" sz="1200" dirty="0">
                <a:solidFill>
                  <a:srgbClr val="1C2430"/>
                </a:solidFill>
                <a:latin typeface="Calibri" pitchFamily="34" charset="0"/>
                <a:ea typeface="Calibri" pitchFamily="34" charset="-122"/>
                <a:cs typeface="Calibri" pitchFamily="34" charset="-120"/>
              </a:rPr>
              <a:t>Repères de calibration : +4 à +8 pb sur le spread BTP-Bund autour des hausses de taux ; +2 à +3 points de VSTOXX après un pivot accommodant</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IV. Contributions, limites et perspectives</a:t>
            </a:r>
            <a:endParaRPr lang="en-US" sz="900" dirty="0"/>
          </a:p>
        </p:txBody>
      </p:sp>
      <p:sp>
        <p:nvSpPr>
          <p:cNvPr id="15" name="Text 11"/>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21 / 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3DA5"/>
                </a:solidFill>
                <a:latin typeface="Calibri" pitchFamily="34" charset="0"/>
                <a:ea typeface="Calibri" pitchFamily="34" charset="-122"/>
                <a:cs typeface="Calibri" pitchFamily="34" charset="-120"/>
              </a:rPr>
              <a:t>REGARD CRITIQUE</a:t>
            </a:r>
            <a:endParaRPr lang="en-US" sz="1300" dirty="0"/>
          </a:p>
        </p:txBody>
      </p:sp>
      <p:sp>
        <p:nvSpPr>
          <p:cNvPr id="3" name="Text 1"/>
          <p:cNvSpPr/>
          <p:nvPr/>
        </p:nvSpPr>
        <p:spPr>
          <a:xfrm>
            <a:off x="502920" y="685800"/>
            <a:ext cx="11185855" cy="868680"/>
          </a:xfrm>
          <a:prstGeom prst="rect">
            <a:avLst/>
          </a:prstGeom>
          <a:noFill/>
          <a:ln/>
        </p:spPr>
        <p:txBody>
          <a:bodyPr wrap="square" lIns="0" tIns="0" rIns="0" bIns="0" rtlCol="0" anchor="t"/>
          <a:lstStyle/>
          <a:p>
            <a:pPr algn="l" indent="0" marL="0">
              <a:lnSpc>
                <a:spcPct val="102000"/>
              </a:lnSpc>
              <a:buNone/>
            </a:pPr>
            <a:r>
              <a:rPr lang="en-US" sz="2900" b="1" dirty="0">
                <a:solidFill>
                  <a:srgbClr val="001E60"/>
                </a:solidFill>
                <a:latin typeface="Calibri" pitchFamily="34" charset="0"/>
                <a:ea typeface="Calibri" pitchFamily="34" charset="-122"/>
                <a:cs typeface="Calibri" pitchFamily="34" charset="-120"/>
              </a:rPr>
              <a:t>Des limites assumées, des prolongements identifiés</a:t>
            </a:r>
            <a:endParaRPr lang="en-US" sz="2900" dirty="0"/>
          </a:p>
        </p:txBody>
      </p:sp>
      <p:sp>
        <p:nvSpPr>
          <p:cNvPr id="4" name="Shape 2"/>
          <p:cNvSpPr/>
          <p:nvPr/>
        </p:nvSpPr>
        <p:spPr>
          <a:xfrm>
            <a:off x="502920" y="1783080"/>
            <a:ext cx="5455768" cy="4160520"/>
          </a:xfrm>
          <a:prstGeom prst="roundRect">
            <a:avLst>
              <a:gd name="adj" fmla="val 1978"/>
            </a:avLst>
          </a:prstGeom>
          <a:solidFill>
            <a:srgbClr val="F4F6FB"/>
          </a:solidFill>
          <a:ln/>
          <a:effectLst>
            <a:outerShdw sx="100000" sy="100000" kx="0" ky="0" algn="bl" rotWithShape="0" blurRad="76200" dist="25400" dir="5400000">
              <a:srgbClr val="9AA5B8">
                <a:alpha val="22000"/>
              </a:srgbClr>
            </a:outerShdw>
          </a:effectLst>
        </p:spPr>
      </p:sp>
      <p:sp>
        <p:nvSpPr>
          <p:cNvPr id="5" name="Shape 3"/>
          <p:cNvSpPr/>
          <p:nvPr/>
        </p:nvSpPr>
        <p:spPr>
          <a:xfrm>
            <a:off x="731520" y="1984248"/>
            <a:ext cx="457200" cy="457200"/>
          </a:xfrm>
          <a:prstGeom prst="ellipse">
            <a:avLst/>
          </a:prstGeom>
          <a:solidFill>
            <a:srgbClr val="A6192E"/>
          </a:solidFill>
          <a:ln/>
        </p:spPr>
      </p:sp>
      <p:pic>
        <p:nvPicPr>
          <p:cNvPr id="6" name="Image 0" descr="/tmp/claude-0/-home-user-Quant-Trade/38df2136-4dac-5b45-a6c7-4baf7be7dbaa/scratchpad/deck/icons/alert_white.png">    </p:cNvPr>
          <p:cNvPicPr>
            <a:picLocks noChangeAspect="1"/>
          </p:cNvPicPr>
          <p:nvPr/>
        </p:nvPicPr>
        <p:blipFill>
          <a:blip r:embed="rId1"/>
          <a:stretch>
            <a:fillRect/>
          </a:stretch>
        </p:blipFill>
        <p:spPr>
          <a:xfrm>
            <a:off x="790956" y="2043684"/>
            <a:ext cx="338328" cy="338328"/>
          </a:xfrm>
          <a:prstGeom prst="rect">
            <a:avLst/>
          </a:prstGeom>
        </p:spPr>
      </p:pic>
      <p:sp>
        <p:nvSpPr>
          <p:cNvPr id="7" name="Text 4"/>
          <p:cNvSpPr/>
          <p:nvPr/>
        </p:nvSpPr>
        <p:spPr>
          <a:xfrm>
            <a:off x="1325880" y="1984248"/>
            <a:ext cx="4449928" cy="457200"/>
          </a:xfrm>
          <a:prstGeom prst="rect">
            <a:avLst/>
          </a:prstGeom>
          <a:noFill/>
          <a:ln/>
        </p:spPr>
        <p:txBody>
          <a:bodyPr wrap="square" lIns="0" tIns="0" rIns="0" bIns="0" rtlCol="0" anchor="ctr"/>
          <a:lstStyle/>
          <a:p>
            <a:pPr indent="0" marL="0">
              <a:buNone/>
            </a:pPr>
            <a:r>
              <a:rPr lang="en-US" sz="1500" b="1" dirty="0">
                <a:solidFill>
                  <a:srgbClr val="001E60"/>
                </a:solidFill>
                <a:latin typeface="Calibri" pitchFamily="34" charset="0"/>
                <a:ea typeface="Calibri" pitchFamily="34" charset="-122"/>
                <a:cs typeface="Calibri" pitchFamily="34" charset="-120"/>
              </a:rPr>
              <a:t>Limites</a:t>
            </a:r>
            <a:endParaRPr lang="en-US" sz="1500" dirty="0"/>
          </a:p>
        </p:txBody>
      </p:sp>
      <p:sp>
        <p:nvSpPr>
          <p:cNvPr id="8" name="Text 5"/>
          <p:cNvSpPr/>
          <p:nvPr/>
        </p:nvSpPr>
        <p:spPr>
          <a:xfrm>
            <a:off x="777240" y="2651760"/>
            <a:ext cx="4907128" cy="2743200"/>
          </a:xfrm>
          <a:prstGeom prst="rect">
            <a:avLst/>
          </a:prstGeom>
          <a:noFill/>
          <a:ln/>
        </p:spPr>
        <p:txBody>
          <a:bodyPr wrap="square" lIns="0" tIns="0" rIns="0" bIns="0" rtlCol="0" anchor="t"/>
          <a:lstStyle/>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Asymétrie des régimes : le Régime 1 représente 70 % de l'échantillon</a:t>
            </a:r>
            <a:endParaRPr lang="en-US" sz="1200" dirty="0"/>
          </a:p>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Seulement 16 événements retenus — puissance statistique limitée par régime</a:t>
            </a:r>
            <a:endParaRPr lang="en-US" sz="1200" dirty="0"/>
          </a:p>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Valeurs SHAP : associations statistiques, non causalité au sens structurel</a:t>
            </a:r>
            <a:endParaRPr lang="en-US" sz="1200" dirty="0"/>
          </a:p>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Canal du crédit bancaire non testé, faute de données de bilan à fréquence quotidienne</a:t>
            </a:r>
            <a:endParaRPr lang="en-US" sz="1200" dirty="0"/>
          </a:p>
        </p:txBody>
      </p:sp>
      <p:sp>
        <p:nvSpPr>
          <p:cNvPr id="9" name="Shape 6"/>
          <p:cNvSpPr/>
          <p:nvPr/>
        </p:nvSpPr>
        <p:spPr>
          <a:xfrm>
            <a:off x="6233008" y="1783080"/>
            <a:ext cx="5455768" cy="4160520"/>
          </a:xfrm>
          <a:prstGeom prst="roundRect">
            <a:avLst>
              <a:gd name="adj" fmla="val 1978"/>
            </a:avLst>
          </a:prstGeom>
          <a:solidFill>
            <a:srgbClr val="F4F6FB"/>
          </a:solidFill>
          <a:ln/>
          <a:effectLst>
            <a:outerShdw sx="100000" sy="100000" kx="0" ky="0" algn="bl" rotWithShape="0" blurRad="76200" dist="25400" dir="5400000">
              <a:srgbClr val="9AA5B8">
                <a:alpha val="22000"/>
              </a:srgbClr>
            </a:outerShdw>
          </a:effectLst>
        </p:spPr>
      </p:sp>
      <p:sp>
        <p:nvSpPr>
          <p:cNvPr id="10" name="Shape 7"/>
          <p:cNvSpPr/>
          <p:nvPr/>
        </p:nvSpPr>
        <p:spPr>
          <a:xfrm>
            <a:off x="6461608" y="1984248"/>
            <a:ext cx="457200" cy="457200"/>
          </a:xfrm>
          <a:prstGeom prst="ellipse">
            <a:avLst/>
          </a:prstGeom>
          <a:solidFill>
            <a:srgbClr val="009FDF"/>
          </a:solidFill>
          <a:ln/>
        </p:spPr>
      </p:sp>
      <p:pic>
        <p:nvPicPr>
          <p:cNvPr id="11" name="Image 1" descr="/tmp/claude-0/-home-user-Quant-Trade/38df2136-4dac-5b45-a6c7-4baf7be7dbaa/scratchpad/deck/icons/compass_white.png">    </p:cNvPr>
          <p:cNvPicPr>
            <a:picLocks noChangeAspect="1"/>
          </p:cNvPicPr>
          <p:nvPr/>
        </p:nvPicPr>
        <p:blipFill>
          <a:blip r:embed="rId2"/>
          <a:stretch>
            <a:fillRect/>
          </a:stretch>
        </p:blipFill>
        <p:spPr>
          <a:xfrm>
            <a:off x="6521044" y="2043684"/>
            <a:ext cx="338328" cy="338328"/>
          </a:xfrm>
          <a:prstGeom prst="rect">
            <a:avLst/>
          </a:prstGeom>
        </p:spPr>
      </p:pic>
      <p:sp>
        <p:nvSpPr>
          <p:cNvPr id="12" name="Text 8"/>
          <p:cNvSpPr/>
          <p:nvPr/>
        </p:nvSpPr>
        <p:spPr>
          <a:xfrm>
            <a:off x="7055968" y="1984248"/>
            <a:ext cx="4449928" cy="457200"/>
          </a:xfrm>
          <a:prstGeom prst="rect">
            <a:avLst/>
          </a:prstGeom>
          <a:noFill/>
          <a:ln/>
        </p:spPr>
        <p:txBody>
          <a:bodyPr wrap="square" lIns="0" tIns="0" rIns="0" bIns="0" rtlCol="0" anchor="ctr"/>
          <a:lstStyle/>
          <a:p>
            <a:pPr indent="0" marL="0">
              <a:buNone/>
            </a:pPr>
            <a:r>
              <a:rPr lang="en-US" sz="1500" b="1" dirty="0">
                <a:solidFill>
                  <a:srgbClr val="001E60"/>
                </a:solidFill>
                <a:latin typeface="Calibri" pitchFamily="34" charset="0"/>
                <a:ea typeface="Calibri" pitchFamily="34" charset="-122"/>
                <a:cs typeface="Calibri" pitchFamily="34" charset="-120"/>
              </a:rPr>
              <a:t>Perspectives de recherche</a:t>
            </a:r>
            <a:endParaRPr lang="en-US" sz="1500" dirty="0"/>
          </a:p>
        </p:txBody>
      </p:sp>
      <p:sp>
        <p:nvSpPr>
          <p:cNvPr id="13" name="Text 9"/>
          <p:cNvSpPr/>
          <p:nvPr/>
        </p:nvSpPr>
        <p:spPr>
          <a:xfrm>
            <a:off x="6507328" y="2651760"/>
            <a:ext cx="4907128" cy="2743200"/>
          </a:xfrm>
          <a:prstGeom prst="rect">
            <a:avLst/>
          </a:prstGeom>
          <a:noFill/>
          <a:ln/>
        </p:spPr>
        <p:txBody>
          <a:bodyPr wrap="square" lIns="0" tIns="0" rIns="0" bIns="0" rtlCol="0" anchor="t"/>
          <a:lstStyle/>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Modèles à changement de régime endogène (MS-VAR, TV-VAR) plutôt que régimes exogènes</a:t>
            </a:r>
            <a:endParaRPr lang="en-US" sz="1200" dirty="0"/>
          </a:p>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Mesure de la surprise monétaire à haute fréquence (ESTR), décomposition à la Gürkaynak-Sack-Swanson</a:t>
            </a:r>
            <a:endParaRPr lang="en-US" sz="1200" dirty="0"/>
          </a:p>
          <a:p>
            <a:pPr marL="177800" indent="-177800">
              <a:lnSpc>
                <a:spcPct val="112000"/>
              </a:lnSpc>
              <a:spcAft>
                <a:spcPts val="1100"/>
              </a:spcAft>
              <a:buSzPct val="100000"/>
              <a:buChar char="–"/>
            </a:pPr>
            <a:r>
              <a:rPr lang="en-US" sz="1200" dirty="0">
                <a:solidFill>
                  <a:srgbClr val="1C2430"/>
                </a:solidFill>
                <a:latin typeface="Calibri" pitchFamily="34" charset="0"/>
                <a:ea typeface="Calibri" pitchFamily="34" charset="-122"/>
                <a:cs typeface="Calibri" pitchFamily="34" charset="-120"/>
              </a:rPr>
              <a:t>Extension à la dimension internationale : différentiel de politique monétaire BCE–Fed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dirty="0">
                <a:solidFill>
                  <a:srgbClr val="6B7686"/>
                </a:solidFill>
                <a:latin typeface="Calibri" pitchFamily="34" charset="0"/>
                <a:ea typeface="Calibri" pitchFamily="34" charset="-122"/>
                <a:cs typeface="Calibri" pitchFamily="34" charset="-120"/>
              </a:rPr>
              <a:t>IV. Contributions, limites et perspectives</a:t>
            </a:r>
            <a:endParaRPr lang="en-US" sz="900" dirty="0"/>
          </a:p>
        </p:txBody>
      </p:sp>
      <p:sp>
        <p:nvSpPr>
          <p:cNvPr id="15" name="Text 11"/>
          <p:cNvSpPr/>
          <p:nvPr/>
        </p:nvSpPr>
        <p:spPr>
          <a:xfrm>
            <a:off x="10591495" y="6473952"/>
            <a:ext cx="109728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22 / 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9265615" y="-1645920"/>
            <a:ext cx="4572000" cy="4572000"/>
          </a:xfrm>
          <a:prstGeom prst="ellipse">
            <a:avLst/>
          </a:prstGeom>
          <a:solidFill>
            <a:srgbClr val="0A2B70"/>
          </a:solidFill>
          <a:ln/>
        </p:spPr>
      </p:sp>
      <p:sp>
        <p:nvSpPr>
          <p:cNvPr id="3" name="Text 1"/>
          <p:cNvSpPr/>
          <p:nvPr/>
        </p:nvSpPr>
        <p:spPr>
          <a:xfrm>
            <a:off x="502920" y="384048"/>
            <a:ext cx="9144000" cy="292608"/>
          </a:xfrm>
          <a:prstGeom prst="rect">
            <a:avLst/>
          </a:prstGeom>
          <a:noFill/>
          <a:ln/>
        </p:spPr>
        <p:txBody>
          <a:bodyPr wrap="square" lIns="0" tIns="0" rIns="0" bIns="0" rtlCol="0" anchor="ctr"/>
          <a:lstStyle/>
          <a:p>
            <a:pPr indent="0" marL="0">
              <a:buNone/>
            </a:pPr>
            <a:r>
              <a:rPr lang="en-US" sz="1300" b="1" spc="100" kern="0" dirty="0">
                <a:solidFill>
                  <a:srgbClr val="009FDF"/>
                </a:solidFill>
                <a:latin typeface="Calibri" pitchFamily="34" charset="0"/>
                <a:ea typeface="Calibri" pitchFamily="34" charset="-122"/>
                <a:cs typeface="Calibri" pitchFamily="34" charset="-120"/>
              </a:rPr>
              <a:t>CONCLUSION GÉNÉRALE</a:t>
            </a:r>
            <a:endParaRPr lang="en-US" sz="1300" dirty="0"/>
          </a:p>
        </p:txBody>
      </p:sp>
      <p:sp>
        <p:nvSpPr>
          <p:cNvPr id="4" name="Text 2"/>
          <p:cNvSpPr/>
          <p:nvPr/>
        </p:nvSpPr>
        <p:spPr>
          <a:xfrm>
            <a:off x="502920" y="1051560"/>
            <a:ext cx="11185855" cy="1005840"/>
          </a:xfrm>
          <a:prstGeom prst="rect">
            <a:avLst/>
          </a:prstGeom>
          <a:noFill/>
          <a:ln/>
        </p:spPr>
        <p:txBody>
          <a:bodyPr wrap="square" lIns="0" tIns="0" rIns="0" bIns="0" rtlCol="0" anchor="ctr"/>
          <a:lstStyle/>
          <a:p>
            <a:pPr indent="0" marL="0">
              <a:lnSpc>
                <a:spcPct val="108000"/>
              </a:lnSpc>
              <a:buNone/>
            </a:pPr>
            <a:r>
              <a:rPr lang="en-US" sz="2600" b="1" dirty="0">
                <a:solidFill>
                  <a:srgbClr val="FFFFFF"/>
                </a:solidFill>
                <a:latin typeface="Calibri" pitchFamily="34" charset="0"/>
                <a:ea typeface="Calibri" pitchFamily="34" charset="-122"/>
                <a:cs typeface="Calibri" pitchFamily="34" charset="-120"/>
              </a:rPr>
              <a:t>Une transmission monétaire différenciée, asymétrique et régime-sensible</a:t>
            </a:r>
            <a:endParaRPr lang="en-US" sz="2600" dirty="0"/>
          </a:p>
        </p:txBody>
      </p:sp>
      <p:sp>
        <p:nvSpPr>
          <p:cNvPr id="5" name="Text 3"/>
          <p:cNvSpPr/>
          <p:nvPr/>
        </p:nvSpPr>
        <p:spPr>
          <a:xfrm>
            <a:off x="502920" y="2286000"/>
            <a:ext cx="11185855" cy="2743200"/>
          </a:xfrm>
          <a:prstGeom prst="rect">
            <a:avLst/>
          </a:prstGeom>
          <a:noFill/>
          <a:ln/>
        </p:spPr>
        <p:txBody>
          <a:bodyPr wrap="square" lIns="0" tIns="0" rIns="0" bIns="0" rtlCol="0" anchor="t"/>
          <a:lstStyle/>
          <a:p>
            <a:pPr marL="177800" indent="-177800">
              <a:lnSpc>
                <a:spcPct val="112000"/>
              </a:lnSpc>
              <a:spcAft>
                <a:spcPts val="1600"/>
              </a:spcAft>
              <a:buSzPct val="100000"/>
              <a:buChar char="–"/>
            </a:pPr>
            <a:r>
              <a:rPr lang="en-US" sz="1500" dirty="0">
                <a:solidFill>
                  <a:srgbClr val="E3EAFB"/>
                </a:solidFill>
                <a:latin typeface="Calibri" pitchFamily="34" charset="0"/>
                <a:ea typeface="Calibri" pitchFamily="34" charset="-122"/>
                <a:cs typeface="Calibri" pitchFamily="34" charset="-120"/>
              </a:rPr>
              <a:t>Les cinq hypothèses H1 à H5 sont confirmées, avec des degrés de nuance qui constituent la richesse scientifique du travail</a:t>
            </a:r>
            <a:endParaRPr lang="en-US" sz="1500" dirty="0"/>
          </a:p>
          <a:p>
            <a:pPr marL="177800" indent="-177800">
              <a:lnSpc>
                <a:spcPct val="112000"/>
              </a:lnSpc>
              <a:spcAft>
                <a:spcPts val="1600"/>
              </a:spcAft>
              <a:buSzPct val="100000"/>
              <a:buChar char="–"/>
            </a:pPr>
            <a:r>
              <a:rPr lang="en-US" sz="1500" dirty="0">
                <a:solidFill>
                  <a:srgbClr val="E3EAFB"/>
                </a:solidFill>
                <a:latin typeface="Calibri" pitchFamily="34" charset="0"/>
                <a:ea typeface="Calibri" pitchFamily="34" charset="-122"/>
                <a:cs typeface="Calibri" pitchFamily="34" charset="-120"/>
              </a:rPr>
              <a:t>La fragmentation souveraine et la mémoire des taux structurent l'obligataire ; la volatilité globale et la prise de risque structurent les actions</a:t>
            </a:r>
            <a:endParaRPr lang="en-US" sz="1500" dirty="0"/>
          </a:p>
          <a:p>
            <a:pPr marL="177800" indent="-177800">
              <a:lnSpc>
                <a:spcPct val="112000"/>
              </a:lnSpc>
              <a:spcAft>
                <a:spcPts val="1600"/>
              </a:spcAft>
              <a:buSzPct val="100000"/>
              <a:buChar char="–"/>
            </a:pPr>
            <a:r>
              <a:rPr lang="en-US" sz="1500" dirty="0">
                <a:solidFill>
                  <a:srgbClr val="E3EAFB"/>
                </a:solidFill>
                <a:latin typeface="Calibri" pitchFamily="34" charset="0"/>
                <a:ea typeface="Calibri" pitchFamily="34" charset="-122"/>
                <a:cs typeface="Calibri" pitchFamily="34" charset="-120"/>
              </a:rPr>
              <a:t>La structure des canaux de transmission est stable dans le temps, mais leur intensité d'activation varie fortement selon le régime monétaire</a:t>
            </a:r>
            <a:endParaRPr lang="en-US" sz="1500" dirty="0"/>
          </a:p>
          <a:p>
            <a:pPr marL="177800" indent="-177800">
              <a:lnSpc>
                <a:spcPct val="112000"/>
              </a:lnSpc>
              <a:spcAft>
                <a:spcPts val="1600"/>
              </a:spcAft>
              <a:buSzPct val="100000"/>
              <a:buChar char="–"/>
            </a:pPr>
            <a:r>
              <a:rPr lang="en-US" sz="1500" dirty="0">
                <a:solidFill>
                  <a:srgbClr val="E3EAFB"/>
                </a:solidFill>
                <a:latin typeface="Calibri" pitchFamily="34" charset="0"/>
                <a:ea typeface="Calibri" pitchFamily="34" charset="-122"/>
                <a:cs typeface="Calibri" pitchFamily="34" charset="-120"/>
              </a:rPr>
              <a:t>Une contribution méthodologique reproductible : triangulation event study × gradient boosting × SHAP, applicable à d'autres banques centrales et d'autres périodes</a:t>
            </a:r>
            <a:endParaRPr lang="en-US" sz="1500" dirty="0"/>
          </a:p>
        </p:txBody>
      </p:sp>
      <p:sp>
        <p:nvSpPr>
          <p:cNvPr id="6" name="Text 4"/>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23 / 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0A2B70"/>
          </a:solidFill>
          <a:ln/>
        </p:spPr>
      </p:sp>
      <p:sp>
        <p:nvSpPr>
          <p:cNvPr id="3" name="Shape 1"/>
          <p:cNvSpPr/>
          <p:nvPr/>
        </p:nvSpPr>
        <p:spPr>
          <a:xfrm>
            <a:off x="9082735" y="3749040"/>
            <a:ext cx="5029200" cy="5029200"/>
          </a:xfrm>
          <a:prstGeom prst="ellipse">
            <a:avLst/>
          </a:prstGeom>
          <a:solidFill>
            <a:srgbClr val="0A2B70"/>
          </a:solidFill>
          <a:ln/>
        </p:spPr>
      </p:sp>
      <p:sp>
        <p:nvSpPr>
          <p:cNvPr id="4" name="Shape 2"/>
          <p:cNvSpPr/>
          <p:nvPr/>
        </p:nvSpPr>
        <p:spPr>
          <a:xfrm>
            <a:off x="5638648" y="1554480"/>
            <a:ext cx="914400" cy="914400"/>
          </a:xfrm>
          <a:prstGeom prst="ellipse">
            <a:avLst/>
          </a:prstGeom>
          <a:solidFill>
            <a:srgbClr val="FFFFFF"/>
          </a:solidFill>
          <a:ln/>
        </p:spPr>
      </p:sp>
      <p:pic>
        <p:nvPicPr>
          <p:cNvPr id="5" name="Image 0" descr="/tmp/claude-0/-home-user-Quant-Trade/38df2136-4dac-5b45-a6c7-4baf7be7dbaa/scratchpad/deck/icons/question_blue.png">    </p:cNvPr>
          <p:cNvPicPr>
            <a:picLocks noChangeAspect="1"/>
          </p:cNvPicPr>
          <p:nvPr/>
        </p:nvPicPr>
        <p:blipFill>
          <a:blip r:embed="rId1"/>
          <a:stretch>
            <a:fillRect/>
          </a:stretch>
        </p:blipFill>
        <p:spPr>
          <a:xfrm>
            <a:off x="5757520" y="1673352"/>
            <a:ext cx="676656" cy="676656"/>
          </a:xfrm>
          <a:prstGeom prst="rect">
            <a:avLst/>
          </a:prstGeom>
        </p:spPr>
      </p:pic>
      <p:sp>
        <p:nvSpPr>
          <p:cNvPr id="6" name="Text 3"/>
          <p:cNvSpPr/>
          <p:nvPr/>
        </p:nvSpPr>
        <p:spPr>
          <a:xfrm>
            <a:off x="0" y="2788920"/>
            <a:ext cx="12191695"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Merci de votre attention</a:t>
            </a:r>
            <a:endParaRPr lang="en-US" sz="3400" dirty="0"/>
          </a:p>
        </p:txBody>
      </p:sp>
      <p:sp>
        <p:nvSpPr>
          <p:cNvPr id="7" name="Text 4"/>
          <p:cNvSpPr/>
          <p:nvPr/>
        </p:nvSpPr>
        <p:spPr>
          <a:xfrm>
            <a:off x="0" y="3520440"/>
            <a:ext cx="12191695" cy="502920"/>
          </a:xfrm>
          <a:prstGeom prst="rect">
            <a:avLst/>
          </a:prstGeom>
          <a:noFill/>
          <a:ln/>
        </p:spPr>
        <p:txBody>
          <a:bodyPr wrap="square" lIns="0" tIns="0" rIns="0" bIns="0" rtlCol="0" anchor="ctr"/>
          <a:lstStyle/>
          <a:p>
            <a:pPr algn="ctr" indent="0" marL="0">
              <a:buNone/>
            </a:pPr>
            <a:r>
              <a:rPr lang="en-US" sz="1600" i="1" dirty="0">
                <a:solidFill>
                  <a:srgbClr val="C7D6F5"/>
                </a:solidFill>
                <a:latin typeface="Calibri" pitchFamily="34" charset="0"/>
                <a:ea typeface="Calibri" pitchFamily="34" charset="-122"/>
                <a:cs typeface="Calibri" pitchFamily="34" charset="-120"/>
              </a:rPr>
              <a:t>Questions et discussion</a:t>
            </a:r>
            <a:endParaRPr lang="en-US" sz="16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FA3D6"/>
                </a:solidFill>
                <a:latin typeface="Calibri" pitchFamily="34" charset="0"/>
                <a:ea typeface="Calibri" pitchFamily="34" charset="-122"/>
                <a:cs typeface="Calibri" pitchFamily="34" charset="-120"/>
              </a:rPr>
              <a:t>Fahim BENTATA  —  Mémoire de fin d'études, DESS Quantitative Trading, ESLSCA Business School Paris</a:t>
            </a:r>
            <a:endParaRPr lang="en-US" sz="1100" dirty="0"/>
          </a:p>
        </p:txBody>
      </p:sp>
      <p:sp>
        <p:nvSpPr>
          <p:cNvPr id="9" name="Text 6"/>
          <p:cNvSpPr/>
          <p:nvPr/>
        </p:nvSpPr>
        <p:spPr>
          <a:xfrm>
            <a:off x="10591495" y="6400800"/>
            <a:ext cx="1097280" cy="274320"/>
          </a:xfrm>
          <a:prstGeom prst="rect">
            <a:avLst/>
          </a:prstGeom>
          <a:noFill/>
          <a:ln/>
        </p:spPr>
        <p:txBody>
          <a:bodyPr wrap="square" lIns="0" tIns="0" rIns="0" bIns="0" rtlCol="0" anchor="ctr"/>
          <a:lstStyle/>
          <a:p>
            <a:pPr algn="r" indent="0" marL="0">
              <a:buNone/>
            </a:pPr>
            <a:r>
              <a:rPr lang="en-US" sz="900" dirty="0">
                <a:solidFill>
                  <a:srgbClr val="7E93C4"/>
                </a:solidFill>
                <a:latin typeface="Calibri" pitchFamily="34" charset="0"/>
                <a:ea typeface="Calibri" pitchFamily="34" charset="-122"/>
                <a:cs typeface="Calibri" pitchFamily="34" charset="-120"/>
              </a:rPr>
              <a:t>24 / 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2026-07-24T09:59:54Z</dcterms:created>
  <dcterms:modified xsi:type="dcterms:W3CDTF">2026-07-24T09:59:54Z</dcterms:modified>
</cp:coreProperties>
</file>